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</p:sldMasterIdLst>
  <p:notesMasterIdLst>
    <p:notesMasterId r:id="rId39"/>
  </p:notesMasterIdLst>
  <p:sldIdLst>
    <p:sldId id="279" r:id="rId6"/>
    <p:sldId id="257" r:id="rId7"/>
    <p:sldId id="297" r:id="rId8"/>
    <p:sldId id="258" r:id="rId9"/>
    <p:sldId id="295" r:id="rId10"/>
    <p:sldId id="259" r:id="rId11"/>
    <p:sldId id="260" r:id="rId12"/>
    <p:sldId id="261" r:id="rId13"/>
    <p:sldId id="262" r:id="rId14"/>
    <p:sldId id="263" r:id="rId15"/>
    <p:sldId id="287" r:id="rId16"/>
    <p:sldId id="286" r:id="rId17"/>
    <p:sldId id="264" r:id="rId18"/>
    <p:sldId id="274" r:id="rId19"/>
    <p:sldId id="266" r:id="rId20"/>
    <p:sldId id="277" r:id="rId21"/>
    <p:sldId id="289" r:id="rId22"/>
    <p:sldId id="291" r:id="rId23"/>
    <p:sldId id="288" r:id="rId24"/>
    <p:sldId id="292" r:id="rId25"/>
    <p:sldId id="290" r:id="rId26"/>
    <p:sldId id="284" r:id="rId27"/>
    <p:sldId id="283" r:id="rId28"/>
    <p:sldId id="267" r:id="rId29"/>
    <p:sldId id="293" r:id="rId30"/>
    <p:sldId id="280" r:id="rId31"/>
    <p:sldId id="281" r:id="rId32"/>
    <p:sldId id="268" r:id="rId33"/>
    <p:sldId id="269" r:id="rId34"/>
    <p:sldId id="271" r:id="rId35"/>
    <p:sldId id="272" r:id="rId36"/>
    <p:sldId id="275" r:id="rId37"/>
    <p:sldId id="276" r:id="rId38"/>
  </p:sldIdLst>
  <p:sldSz cx="12192000" cy="6858000"/>
  <p:notesSz cx="7559675" cy="106918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69331-1F15-4A30-BB98-68902AF8A37E}" type="datetimeFigureOut">
              <a:rPr lang="it-IT" smtClean="0"/>
              <a:t>14/07/2021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8E2FA-689C-4C4B-9247-AB6780E776E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6670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88E2FA-689C-4C4B-9247-AB6780E776ED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7842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1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6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1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4400" b="0" strike="noStrike" spc="-1"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6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6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1"/>
          <p:cNvGrpSpPr/>
          <p:nvPr/>
        </p:nvGrpSpPr>
        <p:grpSpPr>
          <a:xfrm>
            <a:off x="0" y="-8640"/>
            <a:ext cx="12190680" cy="6866640"/>
            <a:chOff x="0" y="-8640"/>
            <a:chExt cx="12190680" cy="6866640"/>
          </a:xfrm>
        </p:grpSpPr>
        <p:sp>
          <p:nvSpPr>
            <p:cNvPr id="27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" name="CustomShape 4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5FCBEF">
                <a:alpha val="3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" name="CustomShape 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2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" name="CustomShape 6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2E83C3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" name="CustomShape 10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" name="CustomShape 11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rgbClr val="5FCBEF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11" name="Immagine 6"/>
          <p:cNvPicPr/>
          <p:nvPr/>
        </p:nvPicPr>
        <p:blipFill>
          <a:blip r:embed="rId14"/>
          <a:stretch/>
        </p:blipFill>
        <p:spPr>
          <a:xfrm>
            <a:off x="8382240" y="4691880"/>
            <a:ext cx="5119200" cy="3405960"/>
          </a:xfrm>
          <a:prstGeom prst="rect">
            <a:avLst/>
          </a:prstGeom>
          <a:ln>
            <a:noFill/>
          </a:ln>
        </p:spPr>
      </p:pic>
      <p:grpSp>
        <p:nvGrpSpPr>
          <p:cNvPr id="12" name="Group 12"/>
          <p:cNvGrpSpPr/>
          <p:nvPr/>
        </p:nvGrpSpPr>
        <p:grpSpPr>
          <a:xfrm>
            <a:off x="0" y="-8640"/>
            <a:ext cx="12190680" cy="6866640"/>
            <a:chOff x="0" y="-8640"/>
            <a:chExt cx="12190680" cy="6866640"/>
          </a:xfrm>
        </p:grpSpPr>
        <p:sp>
          <p:nvSpPr>
            <p:cNvPr id="13" name="CustomShape 13"/>
            <p:cNvSpPr/>
            <p:nvPr/>
          </p:nvSpPr>
          <p:spPr>
            <a:xfrm>
              <a:off x="0" y="-7920"/>
              <a:ext cx="862200" cy="5696640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rgbClr val="5FCBEF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" name="Line 14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" name="Line 15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" name="CustomShape 16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5FCBEF">
                <a:alpha val="3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" name="CustomShape 17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2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" name="CustomShape 18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" name="CustomShape 19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" name="CustomShape 20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2E83C3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" name="CustomShape 21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" name="CustomShape 22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23" name="Immagine 6"/>
          <p:cNvPicPr/>
          <p:nvPr/>
        </p:nvPicPr>
        <p:blipFill>
          <a:blip r:embed="rId14"/>
          <a:stretch/>
        </p:blipFill>
        <p:spPr>
          <a:xfrm>
            <a:off x="9154800" y="5067720"/>
            <a:ext cx="3965040" cy="2638080"/>
          </a:xfrm>
          <a:prstGeom prst="rect">
            <a:avLst/>
          </a:prstGeom>
          <a:ln>
            <a:noFill/>
          </a:ln>
        </p:spPr>
      </p:pic>
      <p:sp>
        <p:nvSpPr>
          <p:cNvPr id="24" name="PlaceHolder 2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Fai clic per modificare il formato del testo del titolo</a:t>
            </a:r>
          </a:p>
        </p:txBody>
      </p:sp>
      <p:sp>
        <p:nvSpPr>
          <p:cNvPr id="25" name="PlaceHolder 2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strike="noStrike" spc="-1"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strike="noStrike" spc="-1"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strike="noStrike" spc="-1"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1"/>
          <p:cNvGrpSpPr/>
          <p:nvPr/>
        </p:nvGrpSpPr>
        <p:grpSpPr>
          <a:xfrm>
            <a:off x="0" y="-8640"/>
            <a:ext cx="12190680" cy="6866640"/>
            <a:chOff x="0" y="-8640"/>
            <a:chExt cx="12190680" cy="6866640"/>
          </a:xfrm>
        </p:grpSpPr>
        <p:sp>
          <p:nvSpPr>
            <p:cNvPr id="63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" name="CustomShape 4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5FCBEF">
                <a:alpha val="3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" name="CustomShape 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2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" name="CustomShape 6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8" name="CustomShape 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" name="CustomShape 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2E83C3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" name="CustomShape 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" name="CustomShape 10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" name="CustomShape 11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rgbClr val="5FCBEF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73" name="Immagine 6"/>
          <p:cNvPicPr/>
          <p:nvPr/>
        </p:nvPicPr>
        <p:blipFill>
          <a:blip r:embed="rId14"/>
          <a:stretch/>
        </p:blipFill>
        <p:spPr>
          <a:xfrm>
            <a:off x="8382240" y="4691880"/>
            <a:ext cx="5119200" cy="3405960"/>
          </a:xfrm>
          <a:prstGeom prst="rect">
            <a:avLst/>
          </a:prstGeom>
          <a:ln>
            <a:noFill/>
          </a:ln>
        </p:spPr>
      </p:pic>
      <p:sp>
        <p:nvSpPr>
          <p:cNvPr id="74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Fai clic per modificare il formato del testo del titolo</a:t>
            </a:r>
          </a:p>
        </p:txBody>
      </p:sp>
      <p:sp>
        <p:nvSpPr>
          <p:cNvPr id="75" name="PlaceHolder 1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strike="noStrike" spc="-1"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strike="noStrike" spc="-1"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strike="noStrike" spc="-1"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"/>
          <p:cNvGrpSpPr/>
          <p:nvPr/>
        </p:nvGrpSpPr>
        <p:grpSpPr>
          <a:xfrm>
            <a:off x="0" y="-8640"/>
            <a:ext cx="12190680" cy="6866640"/>
            <a:chOff x="0" y="-8640"/>
            <a:chExt cx="12190680" cy="6866640"/>
          </a:xfrm>
        </p:grpSpPr>
        <p:sp>
          <p:nvSpPr>
            <p:cNvPr id="113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" name="CustomShape 4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5FCBEF">
                <a:alpha val="3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" name="CustomShape 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2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" name="CustomShape 6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8" name="CustomShape 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9" name="CustomShape 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2E83C3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" name="CustomShape 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" name="CustomShape 10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" name="CustomShape 11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rgbClr val="5FCBEF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123" name="Immagine 6"/>
          <p:cNvPicPr/>
          <p:nvPr/>
        </p:nvPicPr>
        <p:blipFill>
          <a:blip r:embed="rId14"/>
          <a:stretch/>
        </p:blipFill>
        <p:spPr>
          <a:xfrm>
            <a:off x="8382240" y="4691880"/>
            <a:ext cx="5119200" cy="3405960"/>
          </a:xfrm>
          <a:prstGeom prst="rect">
            <a:avLst/>
          </a:prstGeom>
          <a:ln>
            <a:noFill/>
          </a:ln>
        </p:spPr>
      </p:pic>
      <p:sp>
        <p:nvSpPr>
          <p:cNvPr id="124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Fai clic per modificare il formato del testo del titolo</a:t>
            </a:r>
          </a:p>
        </p:txBody>
      </p:sp>
      <p:sp>
        <p:nvSpPr>
          <p:cNvPr id="125" name="PlaceHolder 1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strike="noStrike" spc="-1"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strike="noStrike" spc="-1"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strike="noStrike" spc="-1"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oup 1"/>
          <p:cNvGrpSpPr/>
          <p:nvPr/>
        </p:nvGrpSpPr>
        <p:grpSpPr>
          <a:xfrm>
            <a:off x="0" y="-8640"/>
            <a:ext cx="12190680" cy="6866640"/>
            <a:chOff x="0" y="-8640"/>
            <a:chExt cx="12190680" cy="6866640"/>
          </a:xfrm>
        </p:grpSpPr>
        <p:sp>
          <p:nvSpPr>
            <p:cNvPr id="163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4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5" name="CustomShape 4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5FCBEF">
                <a:alpha val="3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6" name="CustomShape 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2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7" name="CustomShape 6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8" name="CustomShape 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9" name="CustomShape 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2E83C3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0" name="CustomShape 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1" name="CustomShape 10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2" name="CustomShape 11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rgbClr val="5FCBEF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173" name="Immagine 6"/>
          <p:cNvPicPr/>
          <p:nvPr/>
        </p:nvPicPr>
        <p:blipFill>
          <a:blip r:embed="rId14"/>
          <a:stretch/>
        </p:blipFill>
        <p:spPr>
          <a:xfrm>
            <a:off x="8382240" y="4691880"/>
            <a:ext cx="5119200" cy="3405960"/>
          </a:xfrm>
          <a:prstGeom prst="rect">
            <a:avLst/>
          </a:prstGeom>
          <a:ln>
            <a:noFill/>
          </a:ln>
        </p:spPr>
      </p:pic>
      <p:sp>
        <p:nvSpPr>
          <p:cNvPr id="174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Fai clic per modificare il formato del testo del titolo</a:t>
            </a:r>
          </a:p>
        </p:txBody>
      </p:sp>
      <p:sp>
        <p:nvSpPr>
          <p:cNvPr id="175" name="PlaceHolder 1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strike="noStrike" spc="-1"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strike="noStrike" spc="-1"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strike="noStrike" spc="-1"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roup 1"/>
          <p:cNvGrpSpPr/>
          <p:nvPr/>
        </p:nvGrpSpPr>
        <p:grpSpPr>
          <a:xfrm>
            <a:off x="0" y="-8640"/>
            <a:ext cx="12190680" cy="6866640"/>
            <a:chOff x="0" y="-8640"/>
            <a:chExt cx="12190680" cy="6866640"/>
          </a:xfrm>
        </p:grpSpPr>
        <p:sp>
          <p:nvSpPr>
            <p:cNvPr id="213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4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w="9360" cap="rnd">
              <a:solidFill>
                <a:srgbClr val="5FCB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5" name="CustomShape 4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5FCBEF">
                <a:alpha val="3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6" name="CustomShape 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2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7" name="CustomShape 6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8" name="CustomShape 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9" name="CustomShape 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2E83C3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0" name="CustomShape 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1" name="CustomShape 10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rgbClr val="17B0E4">
                <a:alpha val="66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2" name="CustomShape 11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rgbClr val="5FCBEF">
                <a:alpha val="70000"/>
              </a:srgbClr>
            </a:solidFill>
            <a:ln w="12600">
              <a:noFill/>
            </a:ln>
            <a:effectLst>
              <a:outerShdw dist="2556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223" name="Immagine 6"/>
          <p:cNvPicPr/>
          <p:nvPr/>
        </p:nvPicPr>
        <p:blipFill>
          <a:blip r:embed="rId14"/>
          <a:stretch/>
        </p:blipFill>
        <p:spPr>
          <a:xfrm>
            <a:off x="8382240" y="4691880"/>
            <a:ext cx="5119200" cy="3405960"/>
          </a:xfrm>
          <a:prstGeom prst="rect">
            <a:avLst/>
          </a:prstGeom>
          <a:ln>
            <a:noFill/>
          </a:ln>
        </p:spPr>
      </p:pic>
      <p:sp>
        <p:nvSpPr>
          <p:cNvPr id="224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Fai clic per modificare il formato del testo del titolo</a:t>
            </a:r>
          </a:p>
        </p:txBody>
      </p:sp>
      <p:sp>
        <p:nvSpPr>
          <p:cNvPr id="225" name="PlaceHolder 1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strike="noStrike" spc="-1"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strike="noStrike" spc="-1"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strike="noStrike" spc="-1"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cid:46620016-1188-44F9-81BD-1DE0943F291B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010" y="1316576"/>
            <a:ext cx="5533507" cy="4634312"/>
          </a:xfrm>
          <a:prstGeom prst="rect">
            <a:avLst/>
          </a:prstGeom>
        </p:spPr>
      </p:pic>
      <p:sp>
        <p:nvSpPr>
          <p:cNvPr id="6" name="CustomShape 1"/>
          <p:cNvSpPr/>
          <p:nvPr/>
        </p:nvSpPr>
        <p:spPr>
          <a:xfrm>
            <a:off x="2276978" y="42530"/>
            <a:ext cx="6729573" cy="19634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lang="it-IT" sz="54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SIRCA OILS ACADEMY</a:t>
            </a:r>
          </a:p>
          <a:p>
            <a:pPr algn="r">
              <a:lnSpc>
                <a:spcPct val="100000"/>
              </a:lnSpc>
            </a:pPr>
            <a:endParaRPr lang="it-IT" sz="5400" b="0" strike="noStrike" spc="-1" dirty="0">
              <a:solidFill>
                <a:srgbClr val="5FCBEF"/>
              </a:solidFill>
              <a:latin typeface="Trebuchet MS"/>
              <a:ea typeface="DejaVu Sans"/>
            </a:endParaRPr>
          </a:p>
        </p:txBody>
      </p:sp>
      <p:sp>
        <p:nvSpPr>
          <p:cNvPr id="7" name="CustomShape 1"/>
          <p:cNvSpPr/>
          <p:nvPr/>
        </p:nvSpPr>
        <p:spPr>
          <a:xfrm>
            <a:off x="629578" y="4938116"/>
            <a:ext cx="6941575" cy="17780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r>
              <a:rPr lang="it-IT" sz="2000" spc="-1" dirty="0">
                <a:solidFill>
                  <a:srgbClr val="5FCBEF"/>
                </a:solidFill>
                <a:latin typeface="Trebuchet MS"/>
              </a:rPr>
              <a:t>12.07.2021</a:t>
            </a:r>
            <a:endParaRPr lang="it-IT" sz="2000" spc="-1" dirty="0"/>
          </a:p>
          <a:p>
            <a:pPr>
              <a:lnSpc>
                <a:spcPct val="100000"/>
              </a:lnSpc>
            </a:pPr>
            <a:endParaRPr lang="it-IT" sz="2000" spc="-1" dirty="0">
              <a:solidFill>
                <a:srgbClr val="5FCBEF"/>
              </a:solidFill>
              <a:latin typeface="Trebuchet MS"/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5FCBEF"/>
                </a:solidFill>
                <a:latin typeface="Trebuchet MS"/>
              </a:rPr>
              <a:t>Спикер</a:t>
            </a:r>
            <a:r>
              <a:rPr lang="it-IT" sz="2000" spc="-1" dirty="0">
                <a:solidFill>
                  <a:srgbClr val="5FCBEF"/>
                </a:solidFill>
                <a:latin typeface="Trebuchet MS"/>
              </a:rPr>
              <a:t>: FERRO GIOVANNI</a:t>
            </a:r>
          </a:p>
        </p:txBody>
      </p:sp>
    </p:spTree>
    <p:extLst>
      <p:ext uri="{BB962C8B-B14F-4D97-AF65-F5344CB8AC3E}">
        <p14:creationId xmlns:p14="http://schemas.microsoft.com/office/powerpoint/2010/main" val="218346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677160" y="424440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spc="-1" dirty="0">
                <a:solidFill>
                  <a:srgbClr val="5FCBEF"/>
                </a:solidFill>
                <a:latin typeface="Trebuchet MS"/>
              </a:rPr>
              <a:t>Назначение масел</a:t>
            </a:r>
            <a:endParaRPr lang="it-IT" sz="3600" b="0" strike="noStrike" spc="-1" dirty="0"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677160" y="1194806"/>
            <a:ext cx="6155661" cy="23564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Обслуживание поверхности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Подчеркивание красоты древесины и сохранение натурального внешнего вида 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Восстановление поверхности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Защитные свойства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(</a:t>
            </a: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УФ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</a:t>
            </a: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излучение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, </a:t>
            </a: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Вода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...)</a:t>
            </a:r>
            <a:endParaRPr lang="it-IT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it-IT" sz="2000" b="0" strike="noStrike" spc="-1" dirty="0">
              <a:latin typeface="Arial"/>
            </a:endParaRPr>
          </a:p>
        </p:txBody>
      </p:sp>
      <p:pic>
        <p:nvPicPr>
          <p:cNvPr id="267" name="Immagine 4"/>
          <p:cNvPicPr/>
          <p:nvPr/>
        </p:nvPicPr>
        <p:blipFill>
          <a:blip r:embed="rId2"/>
          <a:stretch/>
        </p:blipFill>
        <p:spPr>
          <a:xfrm>
            <a:off x="1063096" y="3551275"/>
            <a:ext cx="5093155" cy="3045782"/>
          </a:xfrm>
          <a:prstGeom prst="rect">
            <a:avLst/>
          </a:prstGeom>
          <a:ln>
            <a:noFill/>
          </a:ln>
        </p:spPr>
      </p:pic>
      <p:pic>
        <p:nvPicPr>
          <p:cNvPr id="3078" name="Picture 6" descr="Prodotti impregnanti per legno - Holzemme - Viganò Legnam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821" y="543590"/>
            <a:ext cx="4448297" cy="4448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677160" y="214902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spc="-1" dirty="0">
                <a:solidFill>
                  <a:srgbClr val="5FCBEF"/>
                </a:solidFill>
                <a:latin typeface="Trebuchet MS"/>
              </a:rPr>
              <a:t>Преимущества масел</a:t>
            </a:r>
            <a:endParaRPr lang="it-IT" sz="3600" b="0" strike="noStrike" spc="-1" dirty="0"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677160" y="882278"/>
            <a:ext cx="5232882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Легкость в использовании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Эффект неокрашенной поверхности</a:t>
            </a:r>
            <a:endParaRPr lang="it-IT" sz="20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Адгезия к проблематичным видам древесины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Покрасочный цикл выполняется одним продуктом</a:t>
            </a:r>
            <a:endParaRPr lang="it-IT" sz="2000" spc="-1" dirty="0">
              <a:solidFill>
                <a:srgbClr val="404040"/>
              </a:solidFill>
              <a:latin typeface="Trebuchet M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Образование тонкого ЛКП</a:t>
            </a:r>
            <a:endParaRPr lang="it-IT" sz="2000" spc="-1" dirty="0">
              <a:solidFill>
                <a:srgbClr val="404040"/>
              </a:solidFill>
              <a:latin typeface="Trebuchet M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</a:rPr>
              <a:t>Однокомпонентные продукты</a:t>
            </a:r>
            <a:endParaRPr lang="it-IT" sz="2000" b="0" strike="noStrike" spc="-1" dirty="0">
              <a:solidFill>
                <a:srgbClr val="404040"/>
              </a:solidFill>
              <a:latin typeface="Trebuchet M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Не полярные молекулы</a:t>
            </a:r>
            <a:endParaRPr lang="it-IT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it-IT" sz="2000" b="0" strike="noStrike" spc="-1" dirty="0">
              <a:latin typeface="Arial"/>
            </a:endParaRPr>
          </a:p>
        </p:txBody>
      </p:sp>
      <p:sp>
        <p:nvSpPr>
          <p:cNvPr id="7" name="CustomShape 1"/>
          <p:cNvSpPr/>
          <p:nvPr/>
        </p:nvSpPr>
        <p:spPr>
          <a:xfrm>
            <a:off x="5697024" y="3176749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spc="-1" dirty="0">
                <a:solidFill>
                  <a:srgbClr val="5FCBEF"/>
                </a:solidFill>
                <a:latin typeface="Trebuchet MS"/>
              </a:rPr>
              <a:t>Недостатки масел</a:t>
            </a:r>
            <a:endParaRPr lang="it-IT" sz="3600" spc="-1" dirty="0">
              <a:solidFill>
                <a:srgbClr val="5FCBEF"/>
              </a:solidFill>
              <a:latin typeface="Trebuchet MS"/>
            </a:endParaRPr>
          </a:p>
          <a:p>
            <a:pPr>
              <a:lnSpc>
                <a:spcPct val="100000"/>
              </a:lnSpc>
            </a:pPr>
            <a:endParaRPr lang="it-IT" sz="3600" b="0" strike="noStrike" spc="-1" dirty="0">
              <a:solidFill>
                <a:srgbClr val="5FCBEF"/>
              </a:solidFill>
              <a:latin typeface="Trebuchet MS"/>
            </a:endParaRPr>
          </a:p>
          <a:p>
            <a:pPr>
              <a:lnSpc>
                <a:spcPct val="100000"/>
              </a:lnSpc>
            </a:pPr>
            <a:endParaRPr lang="it-IT" sz="3600" b="0" strike="noStrike" spc="-1" dirty="0">
              <a:latin typeface="Arial"/>
            </a:endParaRPr>
          </a:p>
        </p:txBody>
      </p:sp>
      <p:sp>
        <p:nvSpPr>
          <p:cNvPr id="8" name="CustomShape 2"/>
          <p:cNvSpPr/>
          <p:nvPr/>
        </p:nvSpPr>
        <p:spPr>
          <a:xfrm>
            <a:off x="5697024" y="3989378"/>
            <a:ext cx="4408510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Необходимость обслуживания покрытия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Некоторые масла содержат кобальт</a:t>
            </a:r>
            <a:endParaRPr lang="it-IT" sz="20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Хранение</a:t>
            </a:r>
            <a:endParaRPr lang="it-IT" sz="2000" spc="-1" dirty="0">
              <a:solidFill>
                <a:srgbClr val="404040"/>
              </a:solidFill>
              <a:latin typeface="Trebuchet MS"/>
            </a:endParaRPr>
          </a:p>
          <a:p>
            <a:pPr marL="14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</a:pPr>
            <a:endParaRPr lang="it-IT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it-IT" sz="2000" b="0" strike="noStrike" spc="-1" dirty="0">
              <a:latin typeface="Arial"/>
            </a:endParaRPr>
          </a:p>
        </p:txBody>
      </p:sp>
      <p:pic>
        <p:nvPicPr>
          <p:cNvPr id="9" name="Picture 4" descr="Anti Slip Varnish for Wood | Vegafloor | Owatrol Dir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2" y="4496149"/>
            <a:ext cx="3296092" cy="219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Watco Danish Oil Problem: A Strange One | Popular Woodworking Magazin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042" y="424440"/>
            <a:ext cx="3362478" cy="252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355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655895" y="442596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spc="-1" dirty="0">
                <a:solidFill>
                  <a:srgbClr val="5FCBEF"/>
                </a:solidFill>
                <a:latin typeface="Trebuchet MS"/>
              </a:rPr>
              <a:t>Ассортимент масел </a:t>
            </a:r>
            <a:r>
              <a:rPr lang="it-IT" sz="3600" spc="-1" dirty="0">
                <a:solidFill>
                  <a:srgbClr val="5FCBEF"/>
                </a:solidFill>
                <a:latin typeface="Trebuchet MS"/>
              </a:rPr>
              <a:t>SIRCA</a:t>
            </a:r>
            <a:endParaRPr lang="it-IT" sz="3600" b="0" strike="noStrike" spc="-1" dirty="0">
              <a:latin typeface="Arial"/>
            </a:endParaRPr>
          </a:p>
        </p:txBody>
      </p:sp>
      <p:sp>
        <p:nvSpPr>
          <p:cNvPr id="269" name="CustomShape 2"/>
          <p:cNvSpPr/>
          <p:nvPr/>
        </p:nvSpPr>
        <p:spPr>
          <a:xfrm>
            <a:off x="-32840" y="1563519"/>
            <a:ext cx="4289760" cy="44563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</a:rPr>
              <a:t>Сольвентные</a:t>
            </a:r>
            <a:endParaRPr lang="it-IT" sz="2400" b="0" strike="noStrike" spc="-1" dirty="0">
              <a:latin typeface="Arial"/>
            </a:endParaRPr>
          </a:p>
          <a:p>
            <a:pPr marL="864000" lvl="1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IR1750</a:t>
            </a:r>
            <a:endParaRPr lang="it-IT" sz="2400" b="0" strike="noStrike" spc="-1" dirty="0">
              <a:latin typeface="Arial"/>
            </a:endParaRPr>
          </a:p>
          <a:p>
            <a:pPr marL="864000" lvl="1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IR1850</a:t>
            </a:r>
            <a:endParaRPr lang="it-IT" sz="2400" b="0" strike="noStrike" spc="-1" dirty="0">
              <a:latin typeface="Arial"/>
            </a:endParaRPr>
          </a:p>
          <a:p>
            <a:pPr marL="864000" lvl="1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IR1753</a:t>
            </a:r>
          </a:p>
          <a:p>
            <a:pPr marL="864000" lvl="1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spc="-1" dirty="0">
                <a:solidFill>
                  <a:srgbClr val="404040"/>
                </a:solidFill>
                <a:latin typeface="Trebuchet MS"/>
                <a:ea typeface="DejaVu Sans"/>
              </a:rPr>
              <a:t>IR1753G3</a:t>
            </a:r>
            <a:endParaRPr lang="it-IT" sz="24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864000" lvl="1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spc="-1" dirty="0">
                <a:solidFill>
                  <a:srgbClr val="404040"/>
                </a:solidFill>
                <a:latin typeface="Trebuchet MS"/>
              </a:rPr>
              <a:t>IR1753s02 </a:t>
            </a:r>
          </a:p>
          <a:p>
            <a:pPr marL="864000" lvl="1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IR1755</a:t>
            </a:r>
            <a:endParaRPr lang="it-IT" sz="2400" b="0" strike="noStrike" spc="-1" dirty="0">
              <a:latin typeface="Arial"/>
            </a:endParaRPr>
          </a:p>
          <a:p>
            <a:pPr marL="864000" lvl="1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IR1754</a:t>
            </a:r>
          </a:p>
          <a:p>
            <a:pPr marL="864000" lvl="1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spc="-1" dirty="0">
                <a:solidFill>
                  <a:srgbClr val="FF0000"/>
                </a:solidFill>
                <a:latin typeface="Trebuchet MS"/>
              </a:rPr>
              <a:t>IR1760</a:t>
            </a:r>
            <a:endParaRPr lang="it-IT" sz="2400" b="0" strike="noStrike" spc="-1" dirty="0">
              <a:solidFill>
                <a:srgbClr val="FF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it-IT" sz="2400" b="0" strike="noStrike" spc="-1" dirty="0">
              <a:latin typeface="Arial"/>
            </a:endParaRPr>
          </a:p>
        </p:txBody>
      </p:sp>
      <p:sp>
        <p:nvSpPr>
          <p:cNvPr id="270" name="CustomShape 3"/>
          <p:cNvSpPr/>
          <p:nvPr/>
        </p:nvSpPr>
        <p:spPr>
          <a:xfrm>
            <a:off x="8136998" y="1563519"/>
            <a:ext cx="4289760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Н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а водной основе</a:t>
            </a:r>
            <a:endParaRPr lang="it-IT" sz="2400" b="0" strike="noStrike" spc="-1" dirty="0">
              <a:latin typeface="Arial"/>
            </a:endParaRPr>
          </a:p>
          <a:p>
            <a:pPr marL="864000" lvl="1" indent="-32292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IWR-OIL</a:t>
            </a:r>
            <a:endParaRPr lang="it-IT" sz="2400" b="0" strike="noStrike" spc="-1" dirty="0">
              <a:latin typeface="Arial"/>
            </a:endParaRPr>
          </a:p>
          <a:p>
            <a:pPr marL="864000" lvl="1" indent="-322920">
              <a:lnSpc>
                <a:spcPct val="100000"/>
              </a:lnSpc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IOP-OIL</a:t>
            </a:r>
            <a:endParaRPr lang="it-IT" sz="2400" b="0" strike="noStrike" spc="-1" dirty="0">
              <a:latin typeface="Arial"/>
            </a:endParaRPr>
          </a:p>
          <a:p>
            <a:pPr marL="864000" lvl="1" indent="-322920">
              <a:lnSpc>
                <a:spcPct val="100000"/>
              </a:lnSpc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OW-OIL</a:t>
            </a:r>
          </a:p>
          <a:p>
            <a:pPr marL="864000" lvl="1" indent="-322920">
              <a:lnSpc>
                <a:spcPct val="100000"/>
              </a:lnSpc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spc="-1" dirty="0">
                <a:solidFill>
                  <a:srgbClr val="404040"/>
                </a:solidFill>
                <a:latin typeface="Trebuchet MS"/>
              </a:rPr>
              <a:t>IWC1800S01</a:t>
            </a:r>
            <a:endParaRPr lang="it-IT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it-IT" sz="2400" b="0" strike="noStrike" spc="-1" dirty="0">
              <a:latin typeface="Arial"/>
            </a:endParaRPr>
          </a:p>
        </p:txBody>
      </p:sp>
      <p:sp>
        <p:nvSpPr>
          <p:cNvPr id="271" name="CustomShape 4"/>
          <p:cNvSpPr/>
          <p:nvPr/>
        </p:nvSpPr>
        <p:spPr>
          <a:xfrm>
            <a:off x="5046403" y="1571615"/>
            <a:ext cx="4289760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S-COVER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линейка</a:t>
            </a:r>
            <a:endParaRPr lang="it-IT" sz="2400" b="0" strike="noStrike" spc="-1" dirty="0">
              <a:latin typeface="Arial"/>
            </a:endParaRPr>
          </a:p>
          <a:p>
            <a:pPr marL="864000" lvl="1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SC-OIL</a:t>
            </a:r>
            <a:endParaRPr lang="it-IT" sz="2400" b="0" strike="noStrike" spc="-1" dirty="0">
              <a:latin typeface="Arial"/>
            </a:endParaRPr>
          </a:p>
        </p:txBody>
      </p:sp>
      <p:graphicFrame>
        <p:nvGraphicFramePr>
          <p:cNvPr id="272" name="Table 5"/>
          <p:cNvGraphicFramePr/>
          <p:nvPr>
            <p:extLst>
              <p:ext uri="{D42A27DB-BD31-4B8C-83A1-F6EECF244321}">
                <p14:modId xmlns:p14="http://schemas.microsoft.com/office/powerpoint/2010/main" val="3201077996"/>
              </p:ext>
            </p:extLst>
          </p:nvPr>
        </p:nvGraphicFramePr>
        <p:xfrm>
          <a:off x="4220635" y="4328022"/>
          <a:ext cx="4735440" cy="2011320"/>
        </p:xfrm>
        <a:graphic>
          <a:graphicData uri="http://schemas.openxmlformats.org/drawingml/2006/table">
            <a:tbl>
              <a:tblPr/>
              <a:tblGrid>
                <a:gridCol w="164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1" strike="noStrike" spc="-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Впитываемость</a:t>
                      </a: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 масла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1</a:t>
                      </a: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й слой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2</a:t>
                      </a: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й</a:t>
                      </a:r>
                      <a:r>
                        <a:rPr lang="it-IT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-3</a:t>
                      </a: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й</a:t>
                      </a:r>
                      <a:r>
                        <a:rPr lang="it-IT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слои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Твердая древесина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4-6 m</a:t>
                      </a:r>
                      <a:r>
                        <a:rPr lang="it-IT" sz="1800" b="0" strike="noStrike" spc="-1" baseline="30000" dirty="0">
                          <a:latin typeface="Trebuchet MS" panose="020B0603020202020204" pitchFamily="34" charset="0"/>
                        </a:rPr>
                        <a:t>2</a:t>
                      </a:r>
                      <a:r>
                        <a:rPr lang="it-IT" sz="1800" b="0" strike="noStrike" spc="-1" baseline="0" dirty="0">
                          <a:latin typeface="Trebuchet MS" panose="020B0603020202020204" pitchFamily="34" charset="0"/>
                        </a:rPr>
                        <a:t>/</a:t>
                      </a:r>
                      <a:r>
                        <a:rPr lang="ru-RU" sz="1800" b="0" strike="noStrike" spc="-1" baseline="0" dirty="0">
                          <a:latin typeface="Trebuchet MS" panose="020B0603020202020204" pitchFamily="34" charset="0"/>
                        </a:rPr>
                        <a:t>л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6-8 m</a:t>
                      </a:r>
                      <a:r>
                        <a:rPr lang="it-IT" sz="1800" b="0" strike="noStrike" spc="-1" baseline="30000" dirty="0">
                          <a:latin typeface="Trebuchet MS" panose="020B0603020202020204" pitchFamily="34" charset="0"/>
                        </a:rPr>
                        <a:t>2</a:t>
                      </a:r>
                      <a:r>
                        <a:rPr lang="it-IT" sz="1800" b="0" strike="noStrike" spc="-1" baseline="0" dirty="0">
                          <a:latin typeface="Trebuchet MS" panose="020B0603020202020204" pitchFamily="34" charset="0"/>
                        </a:rPr>
                        <a:t>/</a:t>
                      </a:r>
                      <a:r>
                        <a:rPr lang="ru-RU" sz="1800" b="0" strike="noStrike" spc="-1" baseline="0" dirty="0">
                          <a:latin typeface="Trebuchet MS" panose="020B0603020202020204" pitchFamily="34" charset="0"/>
                        </a:rPr>
                        <a:t>л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Мягкая древесина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7-10 m</a:t>
                      </a:r>
                      <a:r>
                        <a:rPr lang="it-IT" sz="1800" b="0" strike="noStrike" spc="-1" baseline="30000" dirty="0">
                          <a:latin typeface="Trebuchet MS" panose="020B0603020202020204" pitchFamily="34" charset="0"/>
                        </a:rPr>
                        <a:t>2</a:t>
                      </a:r>
                      <a:r>
                        <a:rPr lang="it-IT" sz="1800" b="0" strike="noStrike" spc="-1" baseline="0" dirty="0">
                          <a:latin typeface="Trebuchet MS" panose="020B0603020202020204" pitchFamily="34" charset="0"/>
                        </a:rPr>
                        <a:t>/</a:t>
                      </a:r>
                      <a:r>
                        <a:rPr lang="ru-RU" sz="1800" b="0" strike="noStrike" spc="-1" baseline="0" dirty="0">
                          <a:latin typeface="Trebuchet MS" panose="020B0603020202020204" pitchFamily="34" charset="0"/>
                        </a:rPr>
                        <a:t>л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10-14 m</a:t>
                      </a:r>
                      <a:r>
                        <a:rPr lang="it-IT" sz="1800" b="0" strike="noStrike" spc="-1" baseline="30000" dirty="0">
                          <a:latin typeface="Trebuchet MS" panose="020B0603020202020204" pitchFamily="34" charset="0"/>
                        </a:rPr>
                        <a:t>2</a:t>
                      </a:r>
                      <a:r>
                        <a:rPr lang="it-IT" sz="1800" b="0" strike="noStrike" spc="-1" baseline="0" dirty="0">
                          <a:latin typeface="Trebuchet MS" panose="020B0603020202020204" pitchFamily="34" charset="0"/>
                        </a:rPr>
                        <a:t>/</a:t>
                      </a:r>
                      <a:r>
                        <a:rPr lang="ru-RU" sz="1800" b="0" strike="noStrike" spc="-1" baseline="0" dirty="0">
                          <a:latin typeface="Trebuchet MS" panose="020B0603020202020204" pitchFamily="34" charset="0"/>
                        </a:rPr>
                        <a:t>л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ustomShape 2"/>
          <p:cNvSpPr/>
          <p:nvPr/>
        </p:nvSpPr>
        <p:spPr>
          <a:xfrm>
            <a:off x="2560092" y="1563519"/>
            <a:ext cx="2615223" cy="44563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</a:rPr>
              <a:t>«Безопасные» масла</a:t>
            </a:r>
            <a:endParaRPr lang="it-IT" sz="2400" b="0" strike="noStrike" spc="-1" dirty="0">
              <a:latin typeface="Arial"/>
            </a:endParaRPr>
          </a:p>
          <a:p>
            <a:pPr marL="864000" lvl="1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b="0" strike="noStrike" spc="-1" dirty="0">
                <a:solidFill>
                  <a:srgbClr val="FF0000"/>
                </a:solidFill>
                <a:latin typeface="Trebuchet MS"/>
                <a:ea typeface="DejaVu Sans"/>
              </a:rPr>
              <a:t>IR1770</a:t>
            </a:r>
            <a:endParaRPr lang="it-IT" sz="2400" b="0" strike="noStrike" spc="-1" dirty="0">
              <a:solidFill>
                <a:srgbClr val="FF0000"/>
              </a:solidFill>
              <a:latin typeface="Arial"/>
            </a:endParaRPr>
          </a:p>
          <a:p>
            <a:pPr marL="864000" lvl="1" indent="-3229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400" b="0" strike="noStrike" spc="-1" dirty="0">
                <a:solidFill>
                  <a:srgbClr val="FF0000"/>
                </a:solidFill>
                <a:latin typeface="Trebuchet MS"/>
                <a:ea typeface="DejaVu Sans"/>
              </a:rPr>
              <a:t>IR1870</a:t>
            </a:r>
            <a:endParaRPr lang="it-IT" sz="2400" b="0" strike="noStrike" spc="-1" dirty="0">
              <a:solidFill>
                <a:srgbClr val="FF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it-IT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77160" y="199591"/>
            <a:ext cx="7454117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6000" spc="-1" dirty="0">
                <a:solidFill>
                  <a:srgbClr val="5FCBEF"/>
                </a:solidFill>
                <a:latin typeface="Trebuchet MS"/>
                <a:ea typeface="DejaVu Sans"/>
              </a:rPr>
              <a:t>Сольвентные масла</a:t>
            </a:r>
            <a:endParaRPr lang="it-IT" sz="6000" b="0" strike="noStrike" spc="-1" dirty="0">
              <a:latin typeface="Arial"/>
            </a:endParaRPr>
          </a:p>
        </p:txBody>
      </p:sp>
      <p:pic>
        <p:nvPicPr>
          <p:cNvPr id="5" name="Picture 2" descr="https://mondodesign.it/wp-content/uploads/2016/03/Gazebo-Design-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60" y="1518991"/>
            <a:ext cx="8817714" cy="508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25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ustomShape 1"/>
          <p:cNvSpPr/>
          <p:nvPr/>
        </p:nvSpPr>
        <p:spPr>
          <a:xfrm>
            <a:off x="677160" y="524420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IR1750 – </a:t>
            </a: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Масло для </a:t>
            </a:r>
            <a:r>
              <a:rPr lang="ru-RU" sz="3600" b="0" strike="noStrike" spc="-1" dirty="0" err="1">
                <a:solidFill>
                  <a:srgbClr val="5FCBEF"/>
                </a:solidFill>
                <a:latin typeface="Trebuchet MS"/>
                <a:ea typeface="DejaVu Sans"/>
              </a:rPr>
              <a:t>декинга</a:t>
            </a:r>
            <a:endParaRPr lang="it-IT" sz="3600" b="0" strike="noStrike" spc="-1" dirty="0">
              <a:latin typeface="Arial"/>
            </a:endParaRPr>
          </a:p>
        </p:txBody>
      </p:sp>
      <p:sp>
        <p:nvSpPr>
          <p:cNvPr id="274" name="CustomShape 2"/>
          <p:cNvSpPr/>
          <p:nvPr/>
        </p:nvSpPr>
        <p:spPr>
          <a:xfrm>
            <a:off x="677160" y="1424447"/>
            <a:ext cx="6170207" cy="52209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dirty="0"/>
              <a:t>Смесь натуральных масел и полиуретанового связующего</a:t>
            </a:r>
            <a:endParaRPr lang="it-IT" sz="20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Степень блеска 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– 5 gloss 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Высокая скорость сушки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Возможность нанесения нескольких слоев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Светостойкость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– </a:t>
            </a: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продукт содержит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</a:t>
            </a: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УФ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</a:t>
            </a: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фильтры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Продукт готов к использованию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Возможность использования как для ВНУТРЕННИХ, так и для НАРУЖНЫХ работ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Нанесение кистью, валиком или растиранием </a:t>
            </a: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Колеровка красителями серии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CIM (</a:t>
            </a: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макс.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3%)</a:t>
            </a:r>
          </a:p>
        </p:txBody>
      </p:sp>
      <p:pic>
        <p:nvPicPr>
          <p:cNvPr id="3074" name="Picture 2" descr="Osmo Decking Oil | allfinishes.co.u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7" r="6472"/>
          <a:stretch/>
        </p:blipFill>
        <p:spPr bwMode="auto">
          <a:xfrm>
            <a:off x="6985231" y="616688"/>
            <a:ext cx="4912601" cy="503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1"/>
          <p:cNvSpPr/>
          <p:nvPr/>
        </p:nvSpPr>
        <p:spPr>
          <a:xfrm>
            <a:off x="381240" y="313589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it-IT" sz="32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IR1750 – </a:t>
            </a:r>
            <a:r>
              <a:rPr lang="ru-RU" sz="32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Масло для </a:t>
            </a:r>
            <a:r>
              <a:rPr lang="ru-RU" sz="3200" b="0" strike="noStrike" spc="-1" dirty="0" err="1">
                <a:solidFill>
                  <a:srgbClr val="5FCBEF"/>
                </a:solidFill>
                <a:latin typeface="Trebuchet MS"/>
                <a:ea typeface="DejaVu Sans"/>
              </a:rPr>
              <a:t>декинга</a:t>
            </a:r>
            <a:r>
              <a:rPr lang="ru-RU" sz="32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 </a:t>
            </a:r>
            <a:r>
              <a:rPr lang="it-IT" sz="32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– 3 </a:t>
            </a:r>
            <a:r>
              <a:rPr lang="ru-RU" sz="32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слоя. Древесина - тик</a:t>
            </a:r>
            <a:r>
              <a:rPr lang="it-IT" sz="32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 </a:t>
            </a:r>
            <a:endParaRPr lang="it-IT" sz="3200" b="0" strike="noStrike" spc="-1" dirty="0">
              <a:latin typeface="Arial"/>
            </a:endParaRPr>
          </a:p>
        </p:txBody>
      </p:sp>
      <p:pic>
        <p:nvPicPr>
          <p:cNvPr id="276" name="Picture 5" descr="DSCN8876"/>
          <p:cNvPicPr/>
          <p:nvPr/>
        </p:nvPicPr>
        <p:blipFill>
          <a:blip r:embed="rId2"/>
          <a:stretch/>
        </p:blipFill>
        <p:spPr>
          <a:xfrm>
            <a:off x="381240" y="1448280"/>
            <a:ext cx="4499640" cy="3374640"/>
          </a:xfrm>
          <a:prstGeom prst="rect">
            <a:avLst/>
          </a:prstGeom>
          <a:ln>
            <a:noFill/>
          </a:ln>
        </p:spPr>
      </p:pic>
      <p:pic>
        <p:nvPicPr>
          <p:cNvPr id="277" name="Picture 6" descr="DSCN8996"/>
          <p:cNvPicPr/>
          <p:nvPr/>
        </p:nvPicPr>
        <p:blipFill>
          <a:blip r:embed="rId3"/>
          <a:stretch/>
        </p:blipFill>
        <p:spPr>
          <a:xfrm>
            <a:off x="5365566" y="1448280"/>
            <a:ext cx="4499640" cy="3374640"/>
          </a:xfrm>
          <a:prstGeom prst="rect">
            <a:avLst/>
          </a:prstGeom>
          <a:ln>
            <a:noFill/>
          </a:ln>
        </p:spPr>
      </p:pic>
      <p:sp>
        <p:nvSpPr>
          <p:cNvPr id="278" name="CustomShape 2"/>
          <p:cNvSpPr/>
          <p:nvPr/>
        </p:nvSpPr>
        <p:spPr>
          <a:xfrm>
            <a:off x="368640" y="4909680"/>
            <a:ext cx="1764720" cy="345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До испытания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279" name="CustomShape 3"/>
          <p:cNvSpPr/>
          <p:nvPr/>
        </p:nvSpPr>
        <p:spPr>
          <a:xfrm>
            <a:off x="5274671" y="4939135"/>
            <a:ext cx="2398748" cy="345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После испытания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280" name="CustomShape 4"/>
          <p:cNvSpPr/>
          <p:nvPr/>
        </p:nvSpPr>
        <p:spPr>
          <a:xfrm>
            <a:off x="432000" y="5517720"/>
            <a:ext cx="10541160" cy="116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Один год испытания в уличных условиях климата </a:t>
            </a:r>
            <a:r>
              <a:rPr lang="it-IT" sz="2000" spc="-1" dirty="0">
                <a:solidFill>
                  <a:srgbClr val="404040"/>
                </a:solidFill>
                <a:latin typeface="Trebuchet MS"/>
                <a:ea typeface="DejaVu Sans"/>
              </a:rPr>
              <a:t>SAN DONO DI MASSANZAGO</a:t>
            </a: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 в соответствии с</a:t>
            </a:r>
            <a:r>
              <a:rPr lang="it-IT" sz="2000" spc="-1" dirty="0">
                <a:solidFill>
                  <a:srgbClr val="404040"/>
                </a:solidFill>
                <a:latin typeface="Trebuchet MS"/>
                <a:ea typeface="DejaVu Sans"/>
              </a:rPr>
              <a:t> EN927/3</a:t>
            </a: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 </a:t>
            </a:r>
          </a:p>
          <a:p>
            <a:r>
              <a:rPr lang="it-IT" sz="2000" spc="-1" dirty="0">
                <a:solidFill>
                  <a:srgbClr val="404040"/>
                </a:solidFill>
                <a:latin typeface="Trebuchet MS"/>
                <a:ea typeface="DejaVu Sans"/>
              </a:rPr>
              <a:t>“</a:t>
            </a: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Естественные климатические испытания для наружных покрасочных систем</a:t>
            </a:r>
            <a:r>
              <a:rPr lang="it-IT" sz="2000" spc="-1" dirty="0">
                <a:solidFill>
                  <a:srgbClr val="404040"/>
                </a:solidFill>
                <a:latin typeface="Trebuchet MS"/>
                <a:ea typeface="DejaVu Sans"/>
              </a:rPr>
              <a:t>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IR1850 – 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DejaVu Sans"/>
              </a:rPr>
              <a:t>Масло </a:t>
            </a: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Extreme</a:t>
            </a:r>
            <a:endParaRPr lang="it-IT" sz="3600" b="0" strike="noStrike" spc="-1" dirty="0">
              <a:latin typeface="Arial"/>
            </a:endParaRPr>
          </a:p>
        </p:txBody>
      </p:sp>
      <p:sp>
        <p:nvSpPr>
          <p:cNvPr id="282" name="CustomShape 2"/>
          <p:cNvSpPr/>
          <p:nvPr/>
        </p:nvSpPr>
        <p:spPr>
          <a:xfrm>
            <a:off x="595327" y="1505969"/>
            <a:ext cx="5837370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dirty="0"/>
              <a:t>Смесь натуральных масел и полиуретанового связующего</a:t>
            </a:r>
            <a:endParaRPr lang="it-IT" sz="2000" spc="-1" dirty="0">
              <a:solidFill>
                <a:srgbClr val="404040"/>
              </a:solidFill>
              <a:latin typeface="Trebuchet M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Блеск - глянец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“EXTREME” 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Светостойкость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 – 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продукт содержит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 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УФ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 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фильтры</a:t>
            </a:r>
            <a:endParaRPr lang="it-IT" sz="2000" spc="-1" dirty="0"/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Продукт готов к использованию</a:t>
            </a:r>
            <a:endParaRPr lang="it-IT" sz="2000" spc="-1" dirty="0"/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Возможность нанесения нескольких слоев</a:t>
            </a:r>
            <a:endParaRPr lang="it-IT" sz="2000" spc="-1" dirty="0"/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Возможность использования как для ВНУТРЕННИХ, так и для НАРУЖНЫХ работ</a:t>
            </a:r>
            <a:endParaRPr lang="it-IT" sz="2000" spc="-1" dirty="0"/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Нанесение кистью, валиком или втиранием </a:t>
            </a: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Продукт имеет легких желтоватый оттенок и колеруется красителями 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CIM (</a:t>
            </a: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макс.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3%)</a:t>
            </a:r>
            <a:endParaRPr lang="it-IT" sz="2000" b="0" strike="noStrike" spc="-1" dirty="0">
              <a:latin typeface="Arial"/>
            </a:endParaRPr>
          </a:p>
        </p:txBody>
      </p:sp>
      <p:pic>
        <p:nvPicPr>
          <p:cNvPr id="1026" name="Picture 2" descr="Bamboo decking | MOSO® Bamboo X-treme® terrac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83"/>
          <a:stretch/>
        </p:blipFill>
        <p:spPr bwMode="auto">
          <a:xfrm>
            <a:off x="6432697" y="758336"/>
            <a:ext cx="5293395" cy="4845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1"/>
          <p:cNvSpPr/>
          <p:nvPr/>
        </p:nvSpPr>
        <p:spPr>
          <a:xfrm>
            <a:off x="368640" y="4909680"/>
            <a:ext cx="2167170" cy="345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</a:rPr>
              <a:t>До испытания</a:t>
            </a:r>
            <a:endParaRPr lang="it-IT" sz="2000" spc="-1" dirty="0"/>
          </a:p>
        </p:txBody>
      </p:sp>
      <p:sp>
        <p:nvSpPr>
          <p:cNvPr id="284" name="CustomShape 2"/>
          <p:cNvSpPr/>
          <p:nvPr/>
        </p:nvSpPr>
        <p:spPr>
          <a:xfrm>
            <a:off x="5400235" y="4887641"/>
            <a:ext cx="2273184" cy="345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</a:rPr>
              <a:t>После испытания</a:t>
            </a:r>
            <a:endParaRPr lang="it-IT" sz="2000" spc="-1" dirty="0"/>
          </a:p>
        </p:txBody>
      </p:sp>
      <p:sp>
        <p:nvSpPr>
          <p:cNvPr id="285" name="CustomShape 3"/>
          <p:cNvSpPr/>
          <p:nvPr/>
        </p:nvSpPr>
        <p:spPr>
          <a:xfrm>
            <a:off x="363600" y="5422073"/>
            <a:ext cx="10541160" cy="116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Один год испытания в уличных условиях климата 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SAN DONO DI MASSANZAGO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 в соответствии с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 EN927/3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 </a:t>
            </a:r>
          </a:p>
          <a:p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“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Естественные климатические испытания для наружных покрасочных систем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”</a:t>
            </a:r>
            <a:endParaRPr lang="it-IT" sz="2000" spc="-1" dirty="0">
              <a:solidFill>
                <a:srgbClr val="404040"/>
              </a:solidFill>
              <a:latin typeface="Trebuchet MS"/>
              <a:ea typeface="DejaVu Sans"/>
            </a:endParaRPr>
          </a:p>
        </p:txBody>
      </p:sp>
      <p:sp>
        <p:nvSpPr>
          <p:cNvPr id="286" name="CustomShape 4"/>
          <p:cNvSpPr/>
          <p:nvPr/>
        </p:nvSpPr>
        <p:spPr>
          <a:xfrm>
            <a:off x="363600" y="266287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IR1850 – Extreme oil - 3 </a:t>
            </a: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слоя на тике</a:t>
            </a:r>
            <a:endParaRPr lang="it-IT" sz="3600" b="0" strike="noStrike" spc="-1" dirty="0">
              <a:latin typeface="Arial"/>
            </a:endParaRPr>
          </a:p>
        </p:txBody>
      </p:sp>
      <p:pic>
        <p:nvPicPr>
          <p:cNvPr id="287" name="Picture 2"/>
          <p:cNvPicPr/>
          <p:nvPr/>
        </p:nvPicPr>
        <p:blipFill>
          <a:blip r:embed="rId2"/>
          <a:stretch/>
        </p:blipFill>
        <p:spPr>
          <a:xfrm>
            <a:off x="363600" y="1371600"/>
            <a:ext cx="4604040" cy="3451320"/>
          </a:xfrm>
          <a:prstGeom prst="rect">
            <a:avLst/>
          </a:prstGeom>
          <a:ln>
            <a:noFill/>
          </a:ln>
        </p:spPr>
      </p:pic>
      <p:pic>
        <p:nvPicPr>
          <p:cNvPr id="288" name="Picture 4"/>
          <p:cNvPicPr/>
          <p:nvPr/>
        </p:nvPicPr>
        <p:blipFill>
          <a:blip r:embed="rId3"/>
          <a:stretch/>
        </p:blipFill>
        <p:spPr>
          <a:xfrm>
            <a:off x="5400235" y="1371600"/>
            <a:ext cx="4592520" cy="344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CustomShape 1"/>
          <p:cNvSpPr/>
          <p:nvPr/>
        </p:nvSpPr>
        <p:spPr>
          <a:xfrm>
            <a:off x="677160" y="609480"/>
            <a:ext cx="6136043" cy="16191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Масла для напольных покрытий</a:t>
            </a:r>
          </a:p>
          <a:p>
            <a:pPr>
              <a:lnSpc>
                <a:spcPct val="100000"/>
              </a:lnSpc>
            </a:pPr>
            <a:r>
              <a:rPr lang="it-IT" sz="24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IR1753 – </a:t>
            </a:r>
            <a:r>
              <a:rPr lang="ru-RU" sz="24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Прозрачное масло</a:t>
            </a:r>
          </a:p>
          <a:p>
            <a:r>
              <a:rPr lang="it-IT" sz="2400" spc="-1" dirty="0">
                <a:solidFill>
                  <a:srgbClr val="5FCBEF"/>
                </a:solidFill>
                <a:latin typeface="Trebuchet MS"/>
              </a:rPr>
              <a:t>IR1755 – </a:t>
            </a:r>
            <a:r>
              <a:rPr lang="ru-RU" sz="2400" spc="-1" dirty="0">
                <a:solidFill>
                  <a:srgbClr val="5FCBEF"/>
                </a:solidFill>
                <a:latin typeface="Trebuchet MS"/>
              </a:rPr>
              <a:t>Пигментированное (белое) масло</a:t>
            </a:r>
            <a:endParaRPr lang="it-IT" sz="2400" spc="-1" dirty="0"/>
          </a:p>
          <a:p>
            <a:pPr>
              <a:lnSpc>
                <a:spcPct val="100000"/>
              </a:lnSpc>
            </a:pPr>
            <a:endParaRPr lang="it-IT" sz="2400" b="0" strike="noStrike" spc="-1" dirty="0">
              <a:latin typeface="Arial"/>
            </a:endParaRPr>
          </a:p>
        </p:txBody>
      </p:sp>
      <p:sp>
        <p:nvSpPr>
          <p:cNvPr id="290" name="CustomShape 2"/>
          <p:cNvSpPr/>
          <p:nvPr/>
        </p:nvSpPr>
        <p:spPr>
          <a:xfrm>
            <a:off x="677159" y="2228627"/>
            <a:ext cx="6010719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Блеск - </a:t>
            </a:r>
            <a:r>
              <a:rPr lang="ru-RU" sz="2000" spc="-1" dirty="0" err="1">
                <a:solidFill>
                  <a:srgbClr val="404040"/>
                </a:solidFill>
                <a:latin typeface="Trebuchet MS"/>
              </a:rPr>
              <a:t>глубокоматовый</a:t>
            </a:r>
            <a:endParaRPr lang="it-IT" sz="2000" spc="-1" dirty="0">
              <a:solidFill>
                <a:srgbClr val="404040"/>
              </a:solidFill>
              <a:latin typeface="Trebuchet M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Специально для напольных покрытий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Устойчивы к холодным жидкостям</a:t>
            </a:r>
            <a:endParaRPr lang="it-IT" sz="20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Устойчивы к абразивному воздействию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Продукты готовы к использованию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Нанесение кистью, валиком или растиранием </a:t>
            </a: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IR1755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 характеризуется чрезвычайной белизной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 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при нанесении на твердую древесину</a:t>
            </a:r>
            <a:endParaRPr lang="it-IT" sz="2000" b="0" strike="noStrike" spc="-1" dirty="0">
              <a:latin typeface="Arial"/>
            </a:endParaRPr>
          </a:p>
        </p:txBody>
      </p:sp>
      <p:pic>
        <p:nvPicPr>
          <p:cNvPr id="6" name="Picture 2" descr="https://vidaspace.co.nz/wp-content/uploads/2019/02/tronco-wine-1080x67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203" y="609480"/>
            <a:ext cx="5116026" cy="455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77160" y="399168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IR1753 –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DejaVu Sans"/>
              </a:rPr>
              <a:t>Результаты испытаний</a:t>
            </a:r>
            <a:endParaRPr lang="it-IT" sz="3600" b="0" strike="noStrike" spc="-1" dirty="0">
              <a:latin typeface="Arial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-397578" y="15864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1025" name="46620016-1188-44F9-81BD-1DE0943F291B" descr="cid:46620016-1188-44F9-81BD-1DE0943F291B"/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8" t="24961" r="6416" b="6199"/>
          <a:stretch/>
        </p:blipFill>
        <p:spPr bwMode="auto">
          <a:xfrm rot="5400000">
            <a:off x="7435629" y="1551451"/>
            <a:ext cx="5676120" cy="289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stomShape 2"/>
          <p:cNvSpPr/>
          <p:nvPr/>
        </p:nvSpPr>
        <p:spPr>
          <a:xfrm>
            <a:off x="677160" y="1173410"/>
            <a:ext cx="8150168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Адгезия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 UNI EN ISO 2409 = 0</a:t>
            </a: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Устойчивость к абразивному воздействию (</a:t>
            </a:r>
            <a:r>
              <a:rPr lang="en-US" sz="2000" spc="-1" dirty="0">
                <a:solidFill>
                  <a:srgbClr val="404040"/>
                </a:solidFill>
                <a:latin typeface="Trebuchet MS"/>
              </a:rPr>
              <a:t>Taber test)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 = 80 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вращений</a:t>
            </a:r>
            <a:endParaRPr lang="it-IT" sz="2000" spc="-1" dirty="0">
              <a:solidFill>
                <a:srgbClr val="404040"/>
              </a:solidFill>
              <a:latin typeface="Trebuchet MS"/>
            </a:endParaRP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Устойчивость к царапинам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= 0,8 N</a:t>
            </a: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Устойчивость к холодным жидкостям 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UNI 13442 </a:t>
            </a: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endParaRPr lang="it-IT" sz="2000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endParaRPr lang="it-IT" sz="20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068219"/>
              </p:ext>
            </p:extLst>
          </p:nvPr>
        </p:nvGraphicFramePr>
        <p:xfrm>
          <a:off x="1189703" y="3372465"/>
          <a:ext cx="6961239" cy="32069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60183">
                  <a:extLst>
                    <a:ext uri="{9D8B030D-6E8A-4147-A177-3AD203B41FA5}">
                      <a16:colId xmlns:a16="http://schemas.microsoft.com/office/drawing/2014/main" val="1417471225"/>
                    </a:ext>
                  </a:extLst>
                </a:gridCol>
                <a:gridCol w="1945451">
                  <a:extLst>
                    <a:ext uri="{9D8B030D-6E8A-4147-A177-3AD203B41FA5}">
                      <a16:colId xmlns:a16="http://schemas.microsoft.com/office/drawing/2014/main" val="798561990"/>
                    </a:ext>
                  </a:extLst>
                </a:gridCol>
                <a:gridCol w="1455605">
                  <a:extLst>
                    <a:ext uri="{9D8B030D-6E8A-4147-A177-3AD203B41FA5}">
                      <a16:colId xmlns:a16="http://schemas.microsoft.com/office/drawing/2014/main" val="2461158293"/>
                    </a:ext>
                  </a:extLst>
                </a:gridCol>
              </a:tblGrid>
              <a:tr h="64139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8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ru-RU" sz="18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Описание</a:t>
                      </a:r>
                      <a:endParaRPr lang="it-IT" sz="1800" b="1" kern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ru-RU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Время контакта</a:t>
                      </a:r>
                      <a:endParaRPr lang="it-IT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ru-RU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Результат</a:t>
                      </a:r>
                      <a:endParaRPr lang="it-IT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850428"/>
                  </a:ext>
                </a:extLst>
              </a:tr>
              <a:tr h="3206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ru-RU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Вода</a:t>
                      </a:r>
                      <a:endParaRPr lang="it-IT" sz="1800" b="0" strike="noStrike" kern="1200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6 </a:t>
                      </a:r>
                      <a:r>
                        <a:rPr lang="ru-RU" sz="1400" dirty="0">
                          <a:effectLst/>
                          <a:latin typeface="Trebuchet MS" panose="020B0603020202020204" pitchFamily="34" charset="0"/>
                        </a:rPr>
                        <a:t>часов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69621"/>
                  </a:ext>
                </a:extLst>
              </a:tr>
              <a:tr h="3206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ru-RU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Уксусная кислота</a:t>
                      </a:r>
                      <a:r>
                        <a:rPr lang="it-IT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 (5%)</a:t>
                      </a: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2 </a:t>
                      </a:r>
                      <a:r>
                        <a:rPr lang="ru-RU" sz="1400" dirty="0">
                          <a:effectLst/>
                          <a:latin typeface="Trebuchet MS" panose="020B0603020202020204" pitchFamily="34" charset="0"/>
                        </a:rPr>
                        <a:t>минуты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  <a:ea typeface="+mn-ea"/>
                        </a:rPr>
                        <a:t>5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720681"/>
                  </a:ext>
                </a:extLst>
              </a:tr>
              <a:tr h="3206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ru-RU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Моющие средства</a:t>
                      </a:r>
                      <a:endParaRPr lang="it-IT" sz="1800" b="0" strike="noStrike" kern="1200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4 </a:t>
                      </a:r>
                      <a:r>
                        <a:rPr lang="ru-RU" sz="1400" dirty="0">
                          <a:effectLst/>
                          <a:latin typeface="Trebuchet MS" panose="020B0603020202020204" pitchFamily="34" charset="0"/>
                        </a:rPr>
                        <a:t>часа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801169"/>
                  </a:ext>
                </a:extLst>
              </a:tr>
              <a:tr h="3206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ru-RU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Ацетон</a:t>
                      </a:r>
                      <a:endParaRPr lang="it-IT" sz="1800" b="0" strike="noStrike" kern="1200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-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-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642965"/>
                  </a:ext>
                </a:extLst>
              </a:tr>
              <a:tr h="3206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ru-RU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Этанол </a:t>
                      </a:r>
                      <a:r>
                        <a:rPr lang="it-IT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(50%)</a:t>
                      </a: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  <a:r>
                        <a:rPr lang="it-IT" sz="1400" baseline="0" dirty="0"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ru-RU" sz="1400" baseline="0" dirty="0">
                          <a:effectLst/>
                          <a:latin typeface="Trebuchet MS" panose="020B0603020202020204" pitchFamily="34" charset="0"/>
                        </a:rPr>
                        <a:t>минуты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214114"/>
                  </a:ext>
                </a:extLst>
              </a:tr>
              <a:tr h="3206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ru-RU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Парафины</a:t>
                      </a:r>
                      <a:endParaRPr lang="it-IT" sz="1800" b="0" strike="noStrike" kern="1200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  <a:r>
                        <a:rPr lang="ru-RU" sz="1400" dirty="0">
                          <a:effectLst/>
                          <a:latin typeface="Trebuchet MS" panose="020B0603020202020204" pitchFamily="34" charset="0"/>
                        </a:rPr>
                        <a:t>час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4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959871"/>
                  </a:ext>
                </a:extLst>
              </a:tr>
              <a:tr h="3206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ru-RU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Кофе</a:t>
                      </a:r>
                      <a:r>
                        <a:rPr lang="it-IT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2</a:t>
                      </a:r>
                      <a:r>
                        <a:rPr lang="it-IT" sz="1400" baseline="0" dirty="0"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ru-RU" sz="1400" baseline="0" dirty="0">
                          <a:effectLst/>
                          <a:latin typeface="Trebuchet MS" panose="020B0603020202020204" pitchFamily="34" charset="0"/>
                        </a:rPr>
                        <a:t>минуты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28721"/>
                  </a:ext>
                </a:extLst>
              </a:tr>
              <a:tr h="32069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ru-RU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Раствор аммиака </a:t>
                      </a:r>
                      <a:r>
                        <a:rPr lang="it-IT" sz="1800" b="0" strike="noStrike" kern="1200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(10%)</a:t>
                      </a: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2 </a:t>
                      </a:r>
                      <a:r>
                        <a:rPr lang="ru-RU" sz="1400" dirty="0">
                          <a:effectLst/>
                          <a:latin typeface="Trebuchet MS" panose="020B0603020202020204" pitchFamily="34" charset="0"/>
                        </a:rPr>
                        <a:t>минуты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700655" algn="l"/>
                        </a:tabLst>
                      </a:pPr>
                      <a:r>
                        <a:rPr lang="it-IT" sz="1400" dirty="0">
                          <a:effectLst/>
                          <a:latin typeface="Trebuchet MS" panose="020B0603020202020204" pitchFamily="34" charset="0"/>
                        </a:rPr>
                        <a:t>5</a:t>
                      </a:r>
                      <a:endParaRPr lang="it-IT" sz="14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589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327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496742" y="294847"/>
            <a:ext cx="5794457" cy="19385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Специальные версии</a:t>
            </a:r>
            <a:endParaRPr lang="it-IT" sz="2800" b="0" strike="noStrike" spc="-1" dirty="0">
              <a:solidFill>
                <a:srgbClr val="5FCBEF"/>
              </a:solidFill>
              <a:latin typeface="Trebuchet MS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IR1753G3 – </a:t>
            </a:r>
            <a:r>
              <a:rPr lang="ru-RU" sz="2800" b="0" strike="noStrike" spc="-1" dirty="0" err="1">
                <a:solidFill>
                  <a:srgbClr val="5FCBEF"/>
                </a:solidFill>
                <a:latin typeface="Trebuchet MS"/>
                <a:ea typeface="DejaVu Sans"/>
              </a:rPr>
              <a:t>Глубокоматовое</a:t>
            </a:r>
            <a:r>
              <a:rPr lang="ru-RU" sz="28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 масло</a:t>
            </a:r>
            <a:endParaRPr lang="it-IT" sz="2800" b="0" strike="noStrike" spc="-1" dirty="0">
              <a:solidFill>
                <a:srgbClr val="5FCBEF"/>
              </a:solidFill>
              <a:latin typeface="Trebuchet MS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it-IT" sz="2800" spc="-1" dirty="0">
                <a:solidFill>
                  <a:srgbClr val="5FCBEF"/>
                </a:solidFill>
                <a:latin typeface="Trebuchet MS"/>
              </a:rPr>
              <a:t>IR1753S02 – </a:t>
            </a:r>
            <a:r>
              <a:rPr lang="ru-RU" sz="2800" spc="-1" dirty="0">
                <a:solidFill>
                  <a:srgbClr val="5FCBEF"/>
                </a:solidFill>
                <a:latin typeface="Trebuchet MS"/>
              </a:rPr>
              <a:t>Масло для промышленного использования</a:t>
            </a:r>
            <a:endParaRPr lang="it-IT" sz="2800" b="0" strike="noStrike" spc="-1" dirty="0">
              <a:latin typeface="Arial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496742" y="2430582"/>
            <a:ext cx="5794457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Специально для промышленных линий</a:t>
            </a:r>
            <a:endParaRPr lang="it-IT" sz="2000" spc="-1" dirty="0">
              <a:solidFill>
                <a:srgbClr val="404040"/>
              </a:solidFill>
              <a:latin typeface="Trebuchet M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Специально для напольных покрытий</a:t>
            </a:r>
            <a:endParaRPr lang="it-IT" sz="2000" spc="-1" dirty="0">
              <a:solidFill>
                <a:srgbClr val="404040"/>
              </a:solidFill>
              <a:latin typeface="Trebuchet M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Натуральный эффект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Более долгое время сушки</a:t>
            </a:r>
            <a:endParaRPr lang="it-IT" sz="20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Готовы к использованию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Нанесение распылением и вальцами</a:t>
            </a:r>
            <a:endParaRPr lang="it-IT" sz="20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</p:txBody>
      </p:sp>
      <p:pic>
        <p:nvPicPr>
          <p:cNvPr id="1026" name="Picture 2" descr="Parquet production: Press lines that set standards - Robert Bürkle Gmb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199" y="1010093"/>
            <a:ext cx="5601806" cy="4056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945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448560" y="490608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2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IR1754 – </a:t>
            </a:r>
            <a:r>
              <a:rPr lang="ru-RU" sz="3200" spc="-1" dirty="0">
                <a:solidFill>
                  <a:srgbClr val="5FCBEF"/>
                </a:solidFill>
                <a:latin typeface="Trebuchet MS"/>
                <a:ea typeface="DejaVu Sans"/>
              </a:rPr>
              <a:t>Прозрачное масло для столешниц</a:t>
            </a:r>
            <a:endParaRPr lang="it-IT" sz="3200" b="0" strike="noStrike" spc="-1" dirty="0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448560" y="1564985"/>
            <a:ext cx="6016035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Блеск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30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глосс</a:t>
            </a:r>
            <a:endParaRPr lang="it-IT" sz="24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Для столешниц и полок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Только для внутренних работ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– 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не содержит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UV 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фильтра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Высокая устойчивость к абразивному воздействию и к загрязнениям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Готов к использованию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Нанесение кистью, распылением и втиранием</a:t>
            </a:r>
            <a:endParaRPr lang="it-IT" sz="2400" b="0" strike="noStrike" spc="-1" dirty="0">
              <a:latin typeface="Arial"/>
            </a:endParaRPr>
          </a:p>
        </p:txBody>
      </p:sp>
      <p:pic>
        <p:nvPicPr>
          <p:cNvPr id="6148" name="Picture 4" descr="Pin on table decoration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7"/>
          <a:stretch/>
        </p:blipFill>
        <p:spPr bwMode="auto">
          <a:xfrm>
            <a:off x="6563152" y="1394857"/>
            <a:ext cx="5290735" cy="421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CustomShape 1"/>
          <p:cNvSpPr/>
          <p:nvPr/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28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SC-OIL – S</a:t>
            </a:r>
            <a:r>
              <a:rPr lang="ru-RU" sz="28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-</a:t>
            </a:r>
            <a:r>
              <a:rPr lang="it-IT" sz="28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cover </a:t>
            </a:r>
            <a:r>
              <a:rPr lang="ru-RU" sz="28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масло для напольных покрытий</a:t>
            </a:r>
            <a:endParaRPr lang="it-IT" sz="2800" b="0" strike="noStrike" spc="-1" dirty="0">
              <a:latin typeface="Arial"/>
            </a:endParaRPr>
          </a:p>
        </p:txBody>
      </p:sp>
      <p:sp>
        <p:nvSpPr>
          <p:cNvPr id="315" name="CustomShape 2"/>
          <p:cNvSpPr/>
          <p:nvPr/>
        </p:nvSpPr>
        <p:spPr>
          <a:xfrm>
            <a:off x="677160" y="1535760"/>
            <a:ext cx="6656894" cy="471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Основано на формуле </a:t>
            </a:r>
            <a:r>
              <a:rPr lang="it-IT" sz="2400" spc="-1" dirty="0">
                <a:solidFill>
                  <a:srgbClr val="404040"/>
                </a:solidFill>
                <a:latin typeface="Trebuchet MS"/>
                <a:ea typeface="DejaVu Sans"/>
              </a:rPr>
              <a:t>IR1753</a:t>
            </a:r>
            <a:endParaRPr lang="it-IT" sz="24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Блеск - 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7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глосс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Готово к использованию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Нанесение кистью с последующим растиранием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</a:rPr>
              <a:t>Для внутренних работ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“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Восковый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” 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эффект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От 1 до 3 слоев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FF0000"/>
                </a:solidFill>
                <a:latin typeface="Trebuchet MS"/>
                <a:ea typeface="DejaVu Sans"/>
              </a:rPr>
              <a:t>Изготовлено из возобновляемого сырья</a:t>
            </a:r>
            <a:endParaRPr lang="it-IT" sz="2400" b="0" strike="noStrike" spc="-1" dirty="0">
              <a:solidFill>
                <a:srgbClr val="FF0000"/>
              </a:solidFill>
              <a:latin typeface="Arial"/>
            </a:endParaRPr>
          </a:p>
        </p:txBody>
      </p:sp>
      <p:pic>
        <p:nvPicPr>
          <p:cNvPr id="316" name="Immagine 10"/>
          <p:cNvPicPr/>
          <p:nvPr/>
        </p:nvPicPr>
        <p:blipFill>
          <a:blip r:embed="rId2"/>
          <a:stretch/>
        </p:blipFill>
        <p:spPr>
          <a:xfrm>
            <a:off x="7165473" y="1094965"/>
            <a:ext cx="4710294" cy="432015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716488" y="353842"/>
            <a:ext cx="9155209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2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Сравнительная таблица сольвентных масел</a:t>
            </a:r>
            <a:endParaRPr lang="it-IT" sz="3200" b="0" strike="noStrike" spc="-1" dirty="0">
              <a:latin typeface="Arial"/>
            </a:endParaRPr>
          </a:p>
        </p:txBody>
      </p:sp>
      <p:graphicFrame>
        <p:nvGraphicFramePr>
          <p:cNvPr id="298" name="Table 2"/>
          <p:cNvGraphicFramePr/>
          <p:nvPr>
            <p:extLst>
              <p:ext uri="{D42A27DB-BD31-4B8C-83A1-F6EECF244321}">
                <p14:modId xmlns:p14="http://schemas.microsoft.com/office/powerpoint/2010/main" val="1596527763"/>
              </p:ext>
            </p:extLst>
          </p:nvPr>
        </p:nvGraphicFramePr>
        <p:xfrm>
          <a:off x="716488" y="1211354"/>
          <a:ext cx="9643664" cy="4743379"/>
        </p:xfrm>
        <a:graphic>
          <a:graphicData uri="http://schemas.openxmlformats.org/drawingml/2006/table">
            <a:tbl>
              <a:tblPr/>
              <a:tblGrid>
                <a:gridCol w="156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4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3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42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4270">
                  <a:extLst>
                    <a:ext uri="{9D8B030D-6E8A-4147-A177-3AD203B41FA5}">
                      <a16:colId xmlns:a16="http://schemas.microsoft.com/office/drawing/2014/main" val="2576612745"/>
                    </a:ext>
                  </a:extLst>
                </a:gridCol>
              </a:tblGrid>
              <a:tr h="473499"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IR1750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IR1850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IR1753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IR1755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IR1754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SC-OIL</a:t>
                      </a:r>
                    </a:p>
                  </a:txBody>
                  <a:tcPr marL="90000" marR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4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Сухой остаток</a:t>
                      </a:r>
                      <a:r>
                        <a:rPr lang="it-IT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 %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40%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60%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49%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62%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49%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Arial"/>
                        </a:rPr>
                        <a:t>45%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4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Вязкость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15" DIN 4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15" DIN 4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100" DIN 4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>
                          <a:latin typeface="Trebuchet MS" panose="020B0603020202020204" pitchFamily="34" charset="0"/>
                        </a:rPr>
                        <a:t>40" DIN4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100" DIN 4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Arial"/>
                        </a:rPr>
                        <a:t>120" DIN 4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6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Удельный вес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0,90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0,92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0,94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1,22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0,90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Arial"/>
                        </a:rPr>
                        <a:t>0,95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4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Перекрытие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2-4 </a:t>
                      </a:r>
                      <a:r>
                        <a:rPr lang="ru-RU" sz="1800" b="0" strike="noStrike" spc="-1" dirty="0">
                          <a:latin typeface="Trebuchet MS" panose="020B0603020202020204" pitchFamily="34" charset="0"/>
                        </a:rPr>
                        <a:t>ч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4-6 </a:t>
                      </a:r>
                      <a:r>
                        <a:rPr lang="ru-RU" sz="1800" b="0" strike="noStrike" spc="-1" dirty="0">
                          <a:latin typeface="Trebuchet MS" panose="020B0603020202020204" pitchFamily="34" charset="0"/>
                        </a:rPr>
                        <a:t>ч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2-3 </a:t>
                      </a:r>
                      <a:r>
                        <a:rPr lang="ru-RU" sz="1800" b="0" strike="noStrike" spc="-1" dirty="0">
                          <a:latin typeface="Trebuchet MS" panose="020B0603020202020204" pitchFamily="34" charset="0"/>
                        </a:rPr>
                        <a:t>ч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2-3 </a:t>
                      </a:r>
                      <a:r>
                        <a:rPr lang="ru-RU" sz="1800" b="0" strike="noStrike" spc="-1" dirty="0">
                          <a:latin typeface="Trebuchet MS" panose="020B0603020202020204" pitchFamily="34" charset="0"/>
                        </a:rPr>
                        <a:t>ч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2-3 </a:t>
                      </a:r>
                      <a:r>
                        <a:rPr lang="ru-RU" sz="1800" b="0" strike="noStrike" spc="-1" dirty="0">
                          <a:latin typeface="Trebuchet MS" panose="020B0603020202020204" pitchFamily="34" charset="0"/>
                        </a:rPr>
                        <a:t>ч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Arial"/>
                        </a:rPr>
                        <a:t>2-3 </a:t>
                      </a:r>
                      <a:r>
                        <a:rPr lang="ru-RU" sz="1800" b="0" strike="noStrike" spc="-1" dirty="0">
                          <a:latin typeface="Arial"/>
                        </a:rPr>
                        <a:t>ч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6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Полное высыхание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8-10 </a:t>
                      </a:r>
                      <a:r>
                        <a:rPr lang="ru-RU" sz="1800" b="0" strike="noStrike" spc="-1" dirty="0">
                          <a:latin typeface="Trebuchet MS" panose="020B0603020202020204" pitchFamily="34" charset="0"/>
                        </a:rPr>
                        <a:t>ч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10-12 </a:t>
                      </a:r>
                      <a:r>
                        <a:rPr lang="ru-RU" sz="1800" b="0" strike="noStrike" spc="-1" dirty="0">
                          <a:latin typeface="Trebuchet MS" panose="020B0603020202020204" pitchFamily="34" charset="0"/>
                        </a:rPr>
                        <a:t>ч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6-8 </a:t>
                      </a:r>
                      <a:r>
                        <a:rPr lang="ru-RU" sz="1800" b="0" strike="noStrike" spc="-1" dirty="0">
                          <a:latin typeface="Trebuchet MS" panose="020B0603020202020204" pitchFamily="34" charset="0"/>
                        </a:rPr>
                        <a:t>ч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6-8 </a:t>
                      </a:r>
                      <a:r>
                        <a:rPr lang="ru-RU" sz="1800" b="0" strike="noStrike" spc="-1" dirty="0">
                          <a:latin typeface="Trebuchet MS" panose="020B0603020202020204" pitchFamily="34" charset="0"/>
                        </a:rPr>
                        <a:t>ч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6-8 </a:t>
                      </a:r>
                      <a:r>
                        <a:rPr lang="ru-RU" sz="1800" b="0" strike="noStrike" spc="-1" dirty="0">
                          <a:latin typeface="Trebuchet MS" panose="020B0603020202020204" pitchFamily="34" charset="0"/>
                        </a:rPr>
                        <a:t>ч</a:t>
                      </a:r>
                      <a:endParaRPr lang="it-IT" sz="1800" b="0" strike="noStrike" spc="-1" dirty="0"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Arial"/>
                        </a:rPr>
                        <a:t>6-8 </a:t>
                      </a:r>
                      <a:r>
                        <a:rPr lang="ru-RU" sz="1800" b="0" strike="noStrike" spc="-1" dirty="0">
                          <a:latin typeface="Arial"/>
                        </a:rPr>
                        <a:t>ч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86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1" strike="noStrike" spc="-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rebuchet MS" panose="020B0603020202020204" pitchFamily="34" charset="0"/>
                        </a:rPr>
                        <a:t>Кол-во слоев</a:t>
                      </a:r>
                      <a:endParaRPr lang="it-IT" sz="1800" b="0" strike="noStrike" spc="-1" dirty="0">
                        <a:solidFill>
                          <a:schemeClr val="tx2">
                            <a:lumMod val="75000"/>
                          </a:schemeClr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90000" marR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6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>
                          <a:latin typeface="Trebuchet MS" panose="020B0603020202020204" pitchFamily="34" charset="0"/>
                        </a:rPr>
                        <a:t>1-3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1-3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1-2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1-2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 panose="020B0603020202020204" pitchFamily="34" charset="0"/>
                        </a:rPr>
                        <a:t>1-2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Arial"/>
                        </a:rPr>
                        <a:t>1-3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677160" y="609480"/>
            <a:ext cx="10263742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IR1760 </a:t>
            </a:r>
            <a:r>
              <a:rPr lang="it-IT" sz="3600" spc="-1" dirty="0">
                <a:solidFill>
                  <a:srgbClr val="5FCBEF"/>
                </a:solidFill>
                <a:latin typeface="Trebuchet MS"/>
                <a:ea typeface="DejaVu Sans"/>
              </a:rPr>
              <a:t>– 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DejaVu Sans"/>
              </a:rPr>
              <a:t>Масло </a:t>
            </a:r>
            <a:r>
              <a:rPr lang="it-IT" sz="3600" spc="-1" dirty="0">
                <a:solidFill>
                  <a:srgbClr val="5FCBEF"/>
                </a:solidFill>
                <a:latin typeface="Trebuchet MS"/>
                <a:ea typeface="DejaVu Sans"/>
              </a:rPr>
              <a:t>EXTREME DEFENS</a:t>
            </a:r>
            <a:endParaRPr lang="it-IT" sz="3600" b="0" strike="noStrike" spc="-1" dirty="0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534284" y="1538185"/>
            <a:ext cx="6857115" cy="4944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Синтетический лак на масляной основе</a:t>
            </a:r>
            <a:endParaRPr lang="it-IT" sz="20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Не используется для </a:t>
            </a:r>
            <a:r>
              <a:rPr lang="ru-RU" sz="2000" b="0" strike="noStrike" spc="-1" dirty="0" err="1">
                <a:solidFill>
                  <a:srgbClr val="404040"/>
                </a:solidFill>
                <a:latin typeface="Trebuchet MS"/>
                <a:ea typeface="DejaVu Sans"/>
              </a:rPr>
              <a:t>декинга</a:t>
            </a:r>
            <a:endParaRPr lang="it-IT" sz="20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Только для наружных работ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– </a:t>
            </a: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содержит</a:t>
            </a:r>
            <a:r>
              <a:rPr lang="it-IT" sz="2000" spc="-1" dirty="0">
                <a:solidFill>
                  <a:srgbClr val="404040"/>
                </a:solidFill>
                <a:latin typeface="Trebuchet MS"/>
                <a:ea typeface="DejaVu Sans"/>
              </a:rPr>
              <a:t> </a:t>
            </a: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УФ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</a:t>
            </a:r>
            <a:r>
              <a:rPr lang="ru-RU" sz="20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фильтры</a:t>
            </a:r>
            <a:endParaRPr lang="it-IT" sz="2000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Специально для отделки столярных изделий:</a:t>
            </a:r>
            <a:r>
              <a:rPr lang="en-US" sz="2000" spc="-1" dirty="0">
                <a:solidFill>
                  <a:srgbClr val="404040"/>
                </a:solidFill>
                <a:latin typeface="Trebuchet MS"/>
                <a:ea typeface="DejaVu Sans"/>
              </a:rPr>
              <a:t> </a:t>
            </a: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двери</a:t>
            </a:r>
            <a:r>
              <a:rPr lang="en-US" sz="2000" spc="-1" dirty="0">
                <a:solidFill>
                  <a:srgbClr val="404040"/>
                </a:solidFill>
                <a:latin typeface="Trebuchet MS"/>
                <a:ea typeface="DejaVu Sans"/>
              </a:rPr>
              <a:t>, </a:t>
            </a: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окна</a:t>
            </a:r>
            <a:r>
              <a:rPr lang="en-US" sz="2000" spc="-1" dirty="0">
                <a:solidFill>
                  <a:srgbClr val="404040"/>
                </a:solidFill>
                <a:latin typeface="Trebuchet MS"/>
                <a:ea typeface="DejaVu Sans"/>
              </a:rPr>
              <a:t>, </a:t>
            </a: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ставни</a:t>
            </a:r>
            <a:r>
              <a:rPr lang="en-US" sz="2000" spc="-1" dirty="0">
                <a:solidFill>
                  <a:srgbClr val="404040"/>
                </a:solidFill>
                <a:latin typeface="Trebuchet MS"/>
                <a:ea typeface="DejaVu Sans"/>
              </a:rPr>
              <a:t>, </a:t>
            </a: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балки и садовая мебель</a:t>
            </a:r>
            <a:r>
              <a:rPr lang="it-IT" sz="2000" spc="-1" dirty="0">
                <a:solidFill>
                  <a:srgbClr val="404040"/>
                </a:solidFill>
                <a:latin typeface="Trebuchet MS"/>
                <a:ea typeface="DejaVu Sans"/>
              </a:rPr>
              <a:t>.</a:t>
            </a: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Нанесение распылением или кистью</a:t>
            </a:r>
            <a:endParaRPr lang="it-IT" sz="2000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Исключительная долговечность, доказанная длительным QUV испытание и экспозицией в уличных условиях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</a:rPr>
              <a:t>.</a:t>
            </a: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FF0000"/>
                </a:solidFill>
                <a:latin typeface="Trebuchet MS"/>
              </a:rPr>
              <a:t>Не содержит кобальт</a:t>
            </a:r>
            <a:r>
              <a:rPr lang="it-IT" sz="2000" spc="-1" dirty="0">
                <a:solidFill>
                  <a:srgbClr val="FF0000"/>
                </a:solidFill>
                <a:latin typeface="Trebuchet MS"/>
              </a:rPr>
              <a:t>, 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меньшее кол-во классов опасности в 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MSDS </a:t>
            </a:r>
          </a:p>
          <a:p>
            <a:pPr marL="14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</a:pPr>
            <a:endParaRPr lang="it-IT" sz="2000" b="0" strike="noStrike" spc="-1" dirty="0">
              <a:latin typeface="Arial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554905"/>
            <a:ext cx="4576268" cy="396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6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IR1760 </a:t>
            </a:r>
            <a:r>
              <a:rPr lang="it-IT" sz="3600" spc="-1" dirty="0">
                <a:solidFill>
                  <a:srgbClr val="5FCBEF"/>
                </a:solidFill>
                <a:latin typeface="Trebuchet MS"/>
                <a:ea typeface="DejaVu Sans"/>
              </a:rPr>
              <a:t>– 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DejaVu Sans"/>
              </a:rPr>
              <a:t>Масло </a:t>
            </a:r>
            <a:r>
              <a:rPr lang="it-IT" sz="3600" spc="-1" dirty="0">
                <a:solidFill>
                  <a:srgbClr val="5FCBEF"/>
                </a:solidFill>
                <a:latin typeface="Trebuchet MS"/>
                <a:ea typeface="DejaVu Sans"/>
              </a:rPr>
              <a:t>EXTREME DEFENS</a:t>
            </a:r>
            <a:r>
              <a:rPr lang="en-US" sz="3600" spc="-1" dirty="0">
                <a:solidFill>
                  <a:srgbClr val="5FCBEF"/>
                </a:solidFill>
                <a:latin typeface="Trebuchet MS"/>
                <a:ea typeface="DejaVu Sans"/>
              </a:rPr>
              <a:t>E</a:t>
            </a:r>
            <a:endParaRPr lang="it-IT" sz="3600" spc="-1" dirty="0">
              <a:solidFill>
                <a:srgbClr val="5FCBEF"/>
              </a:solidFill>
              <a:latin typeface="Trebuchet MS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ru-RU" sz="3600" b="0" strike="noStrike" spc="-1" dirty="0">
                <a:solidFill>
                  <a:srgbClr val="5FCBEF"/>
                </a:solidFill>
                <a:latin typeface="Trebuchet MS"/>
              </a:rPr>
              <a:t>Меньше классов опасности на этикетке</a:t>
            </a:r>
            <a:endParaRPr lang="it-IT" sz="3600" b="0" strike="noStrike" spc="-1" dirty="0">
              <a:latin typeface="Arial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412" y="2025445"/>
            <a:ext cx="5329967" cy="2035277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412" y="4440518"/>
            <a:ext cx="4712108" cy="2004470"/>
          </a:xfrm>
          <a:prstGeom prst="rect">
            <a:avLst/>
          </a:prstGeom>
        </p:spPr>
      </p:pic>
      <p:sp>
        <p:nvSpPr>
          <p:cNvPr id="7" name="Rettangolo 6"/>
          <p:cNvSpPr/>
          <p:nvPr/>
        </p:nvSpPr>
        <p:spPr>
          <a:xfrm>
            <a:off x="-368967" y="2308676"/>
            <a:ext cx="5101389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4000" lvl="1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IR1750 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для </a:t>
            </a:r>
            <a:r>
              <a:rPr lang="ru-RU" sz="2000" spc="-1" dirty="0" err="1">
                <a:solidFill>
                  <a:srgbClr val="404040"/>
                </a:solidFill>
                <a:latin typeface="Trebuchet MS"/>
              </a:rPr>
              <a:t>декинга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, матовое</a:t>
            </a:r>
            <a:endParaRPr lang="it-IT" sz="2000" spc="-1" dirty="0">
              <a:latin typeface="Tahoma" panose="020B0604030504040204" pitchFamily="34" charset="0"/>
            </a:endParaRPr>
          </a:p>
          <a:p>
            <a:pPr marL="864000" lvl="1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IR1850 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для </a:t>
            </a:r>
            <a:r>
              <a:rPr lang="ru-RU" sz="2000" spc="-1" dirty="0" err="1">
                <a:solidFill>
                  <a:srgbClr val="404040"/>
                </a:solidFill>
                <a:latin typeface="Trebuchet MS"/>
              </a:rPr>
              <a:t>декинга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, глянец</a:t>
            </a:r>
            <a:endParaRPr lang="it-IT" sz="2000" spc="-1" dirty="0">
              <a:solidFill>
                <a:srgbClr val="404040"/>
              </a:solidFill>
              <a:latin typeface="Trebuchet MS"/>
            </a:endParaRPr>
          </a:p>
          <a:p>
            <a:pPr marL="864000" lvl="1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endParaRPr lang="it-IT" sz="2000" spc="-1" dirty="0">
              <a:solidFill>
                <a:srgbClr val="404040"/>
              </a:solidFill>
              <a:latin typeface="Trebuchet MS"/>
            </a:endParaRPr>
          </a:p>
          <a:p>
            <a:pPr marL="540360" lvl="1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</a:pPr>
            <a:endParaRPr lang="ru-RU" sz="2000" spc="-1" dirty="0">
              <a:solidFill>
                <a:srgbClr val="404040"/>
              </a:solidFill>
              <a:latin typeface="Trebuchet MS"/>
            </a:endParaRPr>
          </a:p>
          <a:p>
            <a:pPr marL="540360" lvl="1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</a:pPr>
            <a:endParaRPr lang="ru-RU" sz="2000" spc="-1" dirty="0">
              <a:solidFill>
                <a:srgbClr val="404040"/>
              </a:solidFill>
              <a:latin typeface="Trebuchet MS"/>
            </a:endParaRPr>
          </a:p>
          <a:p>
            <a:pPr marL="864000" lvl="1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it-IT" sz="2000" spc="-1" dirty="0">
                <a:solidFill>
                  <a:srgbClr val="FF0000"/>
                </a:solidFill>
                <a:latin typeface="Trebuchet MS"/>
              </a:rPr>
              <a:t>IR1760 </a:t>
            </a:r>
            <a:r>
              <a:rPr lang="ru-RU" sz="2000" spc="-1" dirty="0">
                <a:solidFill>
                  <a:srgbClr val="FF0000"/>
                </a:solidFill>
                <a:latin typeface="Trebuchet MS"/>
              </a:rPr>
              <a:t>меньше классов опасности</a:t>
            </a:r>
            <a:endParaRPr lang="it-IT" sz="2000" spc="-1" dirty="0">
              <a:solidFill>
                <a:srgbClr val="FF0000"/>
              </a:solidFill>
              <a:latin typeface="Trebuchet MS"/>
            </a:endParaRPr>
          </a:p>
          <a:p>
            <a:pPr marL="864000" lvl="1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endParaRPr lang="it-IT" sz="2000" spc="-1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044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IR1760 </a:t>
            </a:r>
            <a:r>
              <a:rPr lang="it-IT" sz="3600" spc="-1" dirty="0">
                <a:solidFill>
                  <a:srgbClr val="5FCBEF"/>
                </a:solidFill>
                <a:latin typeface="Trebuchet MS"/>
                <a:ea typeface="DejaVu Sans"/>
              </a:rPr>
              <a:t>– 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DejaVu Sans"/>
              </a:rPr>
              <a:t>Масло </a:t>
            </a:r>
            <a:r>
              <a:rPr lang="it-IT" sz="3600" spc="-1" dirty="0">
                <a:solidFill>
                  <a:srgbClr val="5FCBEF"/>
                </a:solidFill>
                <a:latin typeface="Trebuchet MS"/>
                <a:ea typeface="DejaVu Sans"/>
              </a:rPr>
              <a:t>EXTREME DEFENS</a:t>
            </a:r>
          </a:p>
        </p:txBody>
      </p:sp>
      <p:sp>
        <p:nvSpPr>
          <p:cNvPr id="5" name="Rettangolo 4"/>
          <p:cNvSpPr/>
          <p:nvPr/>
        </p:nvSpPr>
        <p:spPr>
          <a:xfrm>
            <a:off x="677159" y="1656760"/>
            <a:ext cx="8413677" cy="4442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40">
              <a:spcBef>
                <a:spcPts val="1001"/>
              </a:spcBef>
              <a:buClr>
                <a:srgbClr val="5FCBEF"/>
              </a:buClr>
              <a:buSzPct val="80000"/>
            </a:pPr>
            <a:r>
              <a:rPr lang="ru-RU" sz="2400" b="1" spc="-1" dirty="0">
                <a:solidFill>
                  <a:srgbClr val="404040"/>
                </a:solidFill>
                <a:latin typeface="Trebuchet MS"/>
                <a:ea typeface="DejaVu Sans"/>
              </a:rPr>
              <a:t>Технические свойства</a:t>
            </a:r>
            <a:endParaRPr lang="it-IT" sz="2400" b="1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Вязкость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: DIN 6 CUP 60”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при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 20°C</a:t>
            </a: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Уд. вес</a:t>
            </a:r>
            <a:r>
              <a:rPr lang="it-IT" sz="2400" spc="-1" dirty="0">
                <a:solidFill>
                  <a:srgbClr val="404040"/>
                </a:solidFill>
                <a:latin typeface="Trebuchet MS"/>
                <a:ea typeface="DejaVu Sans"/>
              </a:rPr>
              <a:t>: 0,930±0,010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г</a:t>
            </a:r>
            <a:r>
              <a:rPr lang="it-IT" sz="2400" spc="-1" dirty="0">
                <a:solidFill>
                  <a:srgbClr val="404040"/>
                </a:solidFill>
                <a:latin typeface="Trebuchet MS"/>
                <a:ea typeface="DejaVu Sans"/>
              </a:rPr>
              <a:t>/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см</a:t>
            </a:r>
            <a:r>
              <a:rPr lang="it-IT" sz="2400" spc="-1" dirty="0">
                <a:solidFill>
                  <a:srgbClr val="404040"/>
                </a:solidFill>
                <a:latin typeface="Trebuchet MS"/>
                <a:ea typeface="DejaVu Sans"/>
              </a:rPr>
              <a:t>3</a:t>
            </a: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Сух. остаток</a:t>
            </a:r>
            <a:r>
              <a:rPr lang="it-IT" sz="2400" spc="-1" dirty="0">
                <a:solidFill>
                  <a:srgbClr val="404040"/>
                </a:solidFill>
                <a:latin typeface="Trebuchet MS"/>
                <a:ea typeface="DejaVu Sans"/>
              </a:rPr>
              <a:t>: 59%</a:t>
            </a: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От пыли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: 4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ч при 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20°C</a:t>
            </a: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На отлип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: 6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ч при 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20°C</a:t>
            </a: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Шлифование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: 24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ч при 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20°C</a:t>
            </a: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Расход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: 60-80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г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/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м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2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на каждый слой</a:t>
            </a:r>
            <a:endParaRPr lang="en-US" sz="2400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Цвет</a:t>
            </a:r>
            <a:r>
              <a:rPr lang="it-IT" sz="2400" spc="-1" dirty="0">
                <a:solidFill>
                  <a:srgbClr val="404040"/>
                </a:solidFill>
                <a:latin typeface="Trebuchet MS"/>
                <a:ea typeface="DejaVu Sans"/>
              </a:rPr>
              <a:t>: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янтарный</a:t>
            </a:r>
            <a:endParaRPr lang="it-IT" sz="2400" spc="-1" dirty="0">
              <a:solidFill>
                <a:srgbClr val="404040"/>
              </a:solidFill>
              <a:latin typeface="Trebuchet MS"/>
              <a:ea typeface="DejaVu Sans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153" y="1161597"/>
            <a:ext cx="4838835" cy="362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60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294526" y="657095"/>
            <a:ext cx="7256980" cy="866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it-IT" dirty="0"/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Общая экспозиция </a:t>
            </a:r>
            <a:r>
              <a:rPr lang="en-US" sz="2400" spc="-1" dirty="0">
                <a:solidFill>
                  <a:srgbClr val="404040"/>
                </a:solidFill>
                <a:latin typeface="Trebuchet MS"/>
                <a:ea typeface="DejaVu Sans"/>
              </a:rPr>
              <a:t>2016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часов</a:t>
            </a:r>
            <a:endParaRPr lang="it-IT" spc="-1" dirty="0"/>
          </a:p>
        </p:txBody>
      </p:sp>
      <p:sp>
        <p:nvSpPr>
          <p:cNvPr id="5" name="Rettangolo 4"/>
          <p:cNvSpPr/>
          <p:nvPr/>
        </p:nvSpPr>
        <p:spPr>
          <a:xfrm>
            <a:off x="294526" y="462689"/>
            <a:ext cx="80069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600" spc="-1" dirty="0">
                <a:solidFill>
                  <a:srgbClr val="5FCBEF"/>
                </a:solidFill>
                <a:latin typeface="Trebuchet MS"/>
              </a:rPr>
              <a:t>IR1760 </a:t>
            </a:r>
            <a:r>
              <a:rPr lang="en-US" sz="3600" spc="-1" dirty="0">
                <a:solidFill>
                  <a:srgbClr val="5FCBEF"/>
                </a:solidFill>
                <a:latin typeface="Trebuchet MS"/>
              </a:rPr>
              <a:t>Q-UV </a:t>
            </a:r>
            <a:r>
              <a:rPr lang="ru-RU" sz="3600" spc="-1" dirty="0">
                <a:solidFill>
                  <a:srgbClr val="5FCBEF"/>
                </a:solidFill>
                <a:latin typeface="Trebuchet MS"/>
              </a:rPr>
              <a:t>тест </a:t>
            </a:r>
            <a:r>
              <a:rPr lang="it-IT" sz="3600" spc="-1" dirty="0">
                <a:solidFill>
                  <a:srgbClr val="5FCBEF"/>
                </a:solidFill>
                <a:latin typeface="Trebuchet MS"/>
              </a:rPr>
              <a:t>EN 927-6/02 </a:t>
            </a: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2"/>
          <a:srcRect t="4198" r="10281" b="3632"/>
          <a:stretch/>
        </p:blipFill>
        <p:spPr>
          <a:xfrm>
            <a:off x="7876855" y="421239"/>
            <a:ext cx="3835684" cy="5251998"/>
          </a:xfrm>
          <a:prstGeom prst="rect">
            <a:avLst/>
          </a:prstGeom>
        </p:spPr>
      </p:pic>
      <p:graphicFrame>
        <p:nvGraphicFramePr>
          <p:cNvPr id="8" name="Tabel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468012"/>
              </p:ext>
            </p:extLst>
          </p:nvPr>
        </p:nvGraphicFramePr>
        <p:xfrm>
          <a:off x="398979" y="1639555"/>
          <a:ext cx="7152527" cy="52555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279">
                  <a:extLst>
                    <a:ext uri="{9D8B030D-6E8A-4147-A177-3AD203B41FA5}">
                      <a16:colId xmlns:a16="http://schemas.microsoft.com/office/drawing/2014/main" val="580304223"/>
                    </a:ext>
                  </a:extLst>
                </a:gridCol>
                <a:gridCol w="1265275">
                  <a:extLst>
                    <a:ext uri="{9D8B030D-6E8A-4147-A177-3AD203B41FA5}">
                      <a16:colId xmlns:a16="http://schemas.microsoft.com/office/drawing/2014/main" val="3105853600"/>
                    </a:ext>
                  </a:extLst>
                </a:gridCol>
                <a:gridCol w="1690577">
                  <a:extLst>
                    <a:ext uri="{9D8B030D-6E8A-4147-A177-3AD203B41FA5}">
                      <a16:colId xmlns:a16="http://schemas.microsoft.com/office/drawing/2014/main" val="1261751810"/>
                    </a:ext>
                  </a:extLst>
                </a:gridCol>
                <a:gridCol w="1767396">
                  <a:extLst>
                    <a:ext uri="{9D8B030D-6E8A-4147-A177-3AD203B41FA5}">
                      <a16:colId xmlns:a16="http://schemas.microsoft.com/office/drawing/2014/main" val="4069747700"/>
                    </a:ext>
                  </a:extLst>
                </a:gridCol>
              </a:tblGrid>
              <a:tr h="1211941">
                <a:tc>
                  <a:txBody>
                    <a:bodyPr/>
                    <a:lstStyle/>
                    <a:p>
                      <a:pPr marR="3619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Выполненный тест</a:t>
                      </a:r>
                      <a:endParaRPr lang="it-IT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Оценка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IR</a:t>
                      </a:r>
                      <a:r>
                        <a:rPr lang="it-IT" sz="1800" b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1760</a:t>
                      </a:r>
                      <a:endParaRPr lang="it-IT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Оценка конкурента</a:t>
                      </a:r>
                      <a:endParaRPr lang="it-IT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Определение</a:t>
                      </a:r>
                      <a:r>
                        <a:rPr lang="ru-RU" sz="1800" b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 оценки</a:t>
                      </a:r>
                      <a:endParaRPr lang="it-IT" sz="18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/>
                </a:tc>
                <a:extLst>
                  <a:ext uri="{0D108BD9-81ED-4DB2-BD59-A6C34878D82A}">
                    <a16:rowId xmlns:a16="http://schemas.microsoft.com/office/drawing/2014/main" val="3159362610"/>
                  </a:ext>
                </a:extLst>
              </a:tr>
              <a:tr h="1006984">
                <a:tc>
                  <a:txBody>
                    <a:bodyPr/>
                    <a:lstStyle/>
                    <a:p>
                      <a:pPr marL="0" marR="38735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b="0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ISO 4628/1: </a:t>
                      </a:r>
                      <a:r>
                        <a:rPr lang="ru-RU" sz="1600" b="0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внешний вид</a:t>
                      </a:r>
                      <a:endParaRPr lang="it-IT" sz="1600" b="0" kern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  <a:p>
                      <a:pPr marR="825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  <a:endParaRPr lang="it-IT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/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dirty="0">
                          <a:effectLst/>
                          <a:latin typeface="Trebuchet MS" panose="020B0603020202020204" pitchFamily="34" charset="0"/>
                        </a:rPr>
                        <a:t>1 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dirty="0">
                          <a:effectLst/>
                          <a:latin typeface="Trebuchet MS" panose="020B0603020202020204" pitchFamily="34" charset="0"/>
                        </a:rPr>
                        <a:t>2 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0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rebuchet MS" panose="020B0603020202020204" pitchFamily="34" charset="0"/>
                        </a:rPr>
                        <a:t>Неизменная поверхность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720415"/>
                  </a:ext>
                </a:extLst>
              </a:tr>
              <a:tr h="684561">
                <a:tc>
                  <a:txBody>
                    <a:bodyPr/>
                    <a:lstStyle/>
                    <a:p>
                      <a:pPr marR="38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ISO 4628/2: </a:t>
                      </a:r>
                      <a:r>
                        <a:rPr lang="ru-RU" sz="1600" b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пузырение</a:t>
                      </a:r>
                      <a:endParaRPr lang="it-IT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  <a:p>
                      <a:pPr marR="825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  <a:endParaRPr lang="it-IT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/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>
                          <a:effectLst/>
                          <a:latin typeface="Trebuchet MS" panose="020B0603020202020204" pitchFamily="34" charset="0"/>
                        </a:rPr>
                        <a:t>0 </a:t>
                      </a:r>
                      <a:endParaRPr lang="it-IT" sz="160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dirty="0">
                          <a:effectLst/>
                          <a:latin typeface="Trebuchet MS" panose="020B0603020202020204" pitchFamily="34" charset="0"/>
                        </a:rPr>
                        <a:t>0 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rebuchet MS" panose="020B0603020202020204" pitchFamily="34" charset="0"/>
                        </a:rPr>
                        <a:t>Нет </a:t>
                      </a:r>
                      <a:r>
                        <a:rPr lang="ru-RU" sz="1600" dirty="0" err="1">
                          <a:effectLst/>
                          <a:latin typeface="Trebuchet MS" panose="020B0603020202020204" pitchFamily="34" charset="0"/>
                        </a:rPr>
                        <a:t>пузырения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425449"/>
                  </a:ext>
                </a:extLst>
              </a:tr>
              <a:tr h="362142">
                <a:tc>
                  <a:txBody>
                    <a:bodyPr/>
                    <a:lstStyle/>
                    <a:p>
                      <a:pPr marR="3683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ISO 4628/4: </a:t>
                      </a:r>
                      <a:r>
                        <a:rPr lang="ru-RU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растрескивание</a:t>
                      </a:r>
                      <a:endParaRPr lang="it-IT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/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>
                          <a:effectLst/>
                          <a:latin typeface="Trebuchet MS" panose="020B0603020202020204" pitchFamily="34" charset="0"/>
                        </a:rPr>
                        <a:t>0 </a:t>
                      </a:r>
                      <a:endParaRPr lang="it-IT" sz="160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dirty="0">
                          <a:effectLst/>
                          <a:latin typeface="Trebuchet MS" panose="020B0603020202020204" pitchFamily="34" charset="0"/>
                        </a:rPr>
                        <a:t>0 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rebuchet MS" panose="020B0603020202020204" pitchFamily="34" charset="0"/>
                        </a:rPr>
                        <a:t>Нет растрескивания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522240"/>
                  </a:ext>
                </a:extLst>
              </a:tr>
              <a:tr h="362142">
                <a:tc>
                  <a:txBody>
                    <a:bodyPr/>
                    <a:lstStyle/>
                    <a:p>
                      <a:pPr marR="3683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ISO 4626/5: </a:t>
                      </a:r>
                      <a:r>
                        <a:rPr lang="ru-RU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расслоение</a:t>
                      </a:r>
                      <a:endParaRPr lang="it-IT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/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>
                          <a:effectLst/>
                          <a:latin typeface="Trebuchet MS" panose="020B0603020202020204" pitchFamily="34" charset="0"/>
                        </a:rPr>
                        <a:t>0 </a:t>
                      </a:r>
                      <a:endParaRPr lang="it-IT" sz="160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dirty="0">
                          <a:effectLst/>
                          <a:latin typeface="Trebuchet MS" panose="020B0603020202020204" pitchFamily="34" charset="0"/>
                        </a:rPr>
                        <a:t>0 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rebuchet MS" panose="020B0603020202020204" pitchFamily="34" charset="0"/>
                        </a:rPr>
                        <a:t>Нет расслоения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921304"/>
                  </a:ext>
                </a:extLst>
              </a:tr>
              <a:tr h="362142">
                <a:tc>
                  <a:txBody>
                    <a:bodyPr/>
                    <a:lstStyle/>
                    <a:p>
                      <a:pPr marR="38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ISO 4628/6: </a:t>
                      </a:r>
                      <a:r>
                        <a:rPr lang="ru-RU" sz="1600" b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меление</a:t>
                      </a:r>
                      <a:endParaRPr lang="it-IT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/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>
                          <a:effectLst/>
                          <a:latin typeface="Trebuchet MS" panose="020B0603020202020204" pitchFamily="34" charset="0"/>
                        </a:rPr>
                        <a:t>2 </a:t>
                      </a:r>
                      <a:endParaRPr lang="it-IT" sz="160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dirty="0">
                          <a:effectLst/>
                          <a:latin typeface="Trebuchet MS" panose="020B0603020202020204" pitchFamily="34" charset="0"/>
                        </a:rPr>
                        <a:t>3 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rebuchet MS" panose="020B0603020202020204" pitchFamily="34" charset="0"/>
                        </a:rPr>
                        <a:t>Нет </a:t>
                      </a:r>
                      <a:r>
                        <a:rPr lang="ru-RU" sz="1600" dirty="0" err="1">
                          <a:effectLst/>
                          <a:latin typeface="Trebuchet MS" panose="020B0603020202020204" pitchFamily="34" charset="0"/>
                        </a:rPr>
                        <a:t>меления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884247"/>
                  </a:ext>
                </a:extLst>
              </a:tr>
              <a:tr h="684561">
                <a:tc>
                  <a:txBody>
                    <a:bodyPr/>
                    <a:lstStyle/>
                    <a:p>
                      <a:pPr marR="3683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ISO 2409/EN 927-3: </a:t>
                      </a:r>
                      <a:r>
                        <a:rPr lang="ru-RU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адгезия</a:t>
                      </a:r>
                      <a:endParaRPr lang="it-IT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 anchor="ctr"/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dirty="0">
                          <a:effectLst/>
                          <a:latin typeface="Trebuchet MS" panose="020B0603020202020204" pitchFamily="34" charset="0"/>
                        </a:rPr>
                        <a:t>0 </a:t>
                      </a:r>
                      <a:endParaRPr lang="it-IT" sz="16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2385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 </a:t>
                      </a: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1115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Нет </a:t>
                      </a: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отслаиванивая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 или отделения покрытия</a:t>
                      </a:r>
                      <a:endParaRPr lang="it-IT" sz="1600" kern="1200" dirty="0">
                        <a:solidFill>
                          <a:schemeClr val="dk1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33655" marT="3111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25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618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294526" y="521683"/>
            <a:ext cx="80069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600" spc="-1" dirty="0">
                <a:solidFill>
                  <a:srgbClr val="5FCBEF"/>
                </a:solidFill>
                <a:latin typeface="Trebuchet MS"/>
              </a:rPr>
              <a:t>IR1760 – </a:t>
            </a:r>
            <a:r>
              <a:rPr lang="ru-RU" sz="3600" spc="-1" dirty="0">
                <a:solidFill>
                  <a:srgbClr val="5FCBEF"/>
                </a:solidFill>
                <a:latin typeface="Trebuchet MS"/>
              </a:rPr>
              <a:t>Тестовое нанесение</a:t>
            </a:r>
            <a:endParaRPr lang="it-IT" sz="3600" spc="-1" dirty="0">
              <a:solidFill>
                <a:srgbClr val="5FCBEF"/>
              </a:solidFill>
              <a:latin typeface="Trebuchet MS"/>
            </a:endParaRP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128" y="521683"/>
            <a:ext cx="3698158" cy="4930877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3" y="1381433"/>
            <a:ext cx="6410632" cy="48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56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18166" y="360527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IR1770 </a:t>
            </a:r>
            <a:r>
              <a:rPr lang="it-IT" sz="3600" spc="-1" dirty="0">
                <a:solidFill>
                  <a:srgbClr val="5FCBEF"/>
                </a:solidFill>
                <a:latin typeface="Trebuchet MS"/>
                <a:ea typeface="DejaVu Sans"/>
              </a:rPr>
              <a:t>– 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DejaVu Sans"/>
              </a:rPr>
              <a:t>Безопасная версия </a:t>
            </a:r>
            <a:r>
              <a:rPr lang="it-IT" sz="3600" spc="-1" dirty="0">
                <a:solidFill>
                  <a:srgbClr val="5FCBEF"/>
                </a:solidFill>
                <a:latin typeface="Trebuchet MS"/>
                <a:ea typeface="DejaVu Sans"/>
              </a:rPr>
              <a:t>IR1750</a:t>
            </a:r>
          </a:p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</a:rPr>
              <a:t>IR1870 – </a:t>
            </a:r>
            <a:r>
              <a:rPr lang="ru-RU" sz="3600" spc="-1" dirty="0">
                <a:solidFill>
                  <a:srgbClr val="5FCBEF"/>
                </a:solidFill>
                <a:latin typeface="Trebuchet MS"/>
              </a:rPr>
              <a:t>Безопасная версия</a:t>
            </a:r>
            <a:r>
              <a:rPr lang="it-IT" sz="3600" b="0" strike="noStrike" spc="-1" dirty="0">
                <a:solidFill>
                  <a:srgbClr val="5FCBEF"/>
                </a:solidFill>
                <a:latin typeface="Trebuchet MS"/>
              </a:rPr>
              <a:t> IR1850</a:t>
            </a:r>
            <a:endParaRPr lang="it-IT" sz="3600" b="0" strike="noStrike" spc="-1" dirty="0">
              <a:latin typeface="Arial"/>
            </a:endParaRPr>
          </a:p>
        </p:txBody>
      </p:sp>
      <p:sp>
        <p:nvSpPr>
          <p:cNvPr id="5" name="Rettangolo 4"/>
          <p:cNvSpPr/>
          <p:nvPr/>
        </p:nvSpPr>
        <p:spPr>
          <a:xfrm>
            <a:off x="618166" y="2040218"/>
            <a:ext cx="8889628" cy="1826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Сделано для корейского рынка на базе </a:t>
            </a:r>
            <a:r>
              <a:rPr lang="it-IT" sz="2400" spc="-1" dirty="0">
                <a:solidFill>
                  <a:srgbClr val="404040"/>
                </a:solidFill>
                <a:latin typeface="Trebuchet MS"/>
                <a:ea typeface="DejaVu Sans"/>
              </a:rPr>
              <a:t>IR1750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и </a:t>
            </a:r>
            <a:r>
              <a:rPr lang="it-IT" sz="2400" spc="-1" dirty="0">
                <a:solidFill>
                  <a:srgbClr val="404040"/>
                </a:solidFill>
                <a:latin typeface="Trebuchet MS"/>
                <a:ea typeface="DejaVu Sans"/>
              </a:rPr>
              <a:t>IR1850 BASE</a:t>
            </a: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Не содержит опасного сырья</a:t>
            </a:r>
            <a:endParaRPr lang="it-IT" sz="2400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Полностью чистые </a:t>
            </a:r>
            <a:r>
              <a:rPr lang="it-IT" sz="2400" spc="-1" dirty="0">
                <a:solidFill>
                  <a:srgbClr val="404040"/>
                </a:solidFill>
                <a:latin typeface="Trebuchet MS"/>
                <a:ea typeface="DejaVu Sans"/>
              </a:rPr>
              <a:t>SDS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и этикетки</a:t>
            </a:r>
            <a:endParaRPr lang="it-IT" sz="2400" spc="-1" dirty="0">
              <a:solidFill>
                <a:srgbClr val="404040"/>
              </a:solidFill>
              <a:latin typeface="Trebuchet MS"/>
              <a:ea typeface="DejaVu Sans"/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14" y="3857318"/>
            <a:ext cx="4190447" cy="2209660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571" y="3857793"/>
            <a:ext cx="4148957" cy="220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58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10831" y="298531"/>
            <a:ext cx="4988872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spc="-1" dirty="0">
                <a:solidFill>
                  <a:srgbClr val="5FCBEF"/>
                </a:solidFill>
                <a:latin typeface="Trebuchet MS"/>
                <a:ea typeface="DejaVu Sans"/>
              </a:rPr>
              <a:t>Красители для масла</a:t>
            </a:r>
            <a:endParaRPr lang="it-IT" sz="3600" b="0" strike="noStrike" spc="-1" dirty="0">
              <a:solidFill>
                <a:srgbClr val="5FCBEF"/>
              </a:solidFill>
              <a:latin typeface="Trebuchet MS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ru-RU" sz="3600" spc="-1" dirty="0">
                <a:solidFill>
                  <a:srgbClr val="5FCBEF"/>
                </a:solidFill>
                <a:latin typeface="Trebuchet MS"/>
              </a:rPr>
              <a:t>Серии </a:t>
            </a:r>
            <a:r>
              <a:rPr lang="it-IT" sz="3600" spc="-1" dirty="0">
                <a:solidFill>
                  <a:srgbClr val="5FCBEF"/>
                </a:solidFill>
                <a:latin typeface="Trebuchet MS"/>
              </a:rPr>
              <a:t>CIM</a:t>
            </a:r>
            <a:endParaRPr lang="it-IT" sz="3600" b="0" strike="noStrike" spc="-1" dirty="0">
              <a:latin typeface="Arial"/>
            </a:endParaRPr>
          </a:p>
        </p:txBody>
      </p:sp>
      <p:graphicFrame>
        <p:nvGraphicFramePr>
          <p:cNvPr id="6" name="Table 3"/>
          <p:cNvGraphicFramePr/>
          <p:nvPr>
            <p:extLst>
              <p:ext uri="{D42A27DB-BD31-4B8C-83A1-F6EECF244321}">
                <p14:modId xmlns:p14="http://schemas.microsoft.com/office/powerpoint/2010/main" val="2198816543"/>
              </p:ext>
            </p:extLst>
          </p:nvPr>
        </p:nvGraphicFramePr>
        <p:xfrm>
          <a:off x="999027" y="2819344"/>
          <a:ext cx="3012480" cy="3535200"/>
        </p:xfrm>
        <a:graphic>
          <a:graphicData uri="http://schemas.openxmlformats.org/drawingml/2006/table">
            <a:tbl>
              <a:tblPr/>
              <a:tblGrid>
                <a:gridCol w="15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1" strike="noStrike" spc="-1" dirty="0">
                          <a:latin typeface="Arial"/>
                        </a:rPr>
                        <a:t>Код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1" strike="noStrike" spc="-1" dirty="0">
                          <a:latin typeface="Arial"/>
                        </a:rPr>
                        <a:t>Цвет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/>
                        </a:rPr>
                        <a:t>CIM0102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strike="noStrike" spc="-1" dirty="0">
                          <a:latin typeface="Trebuchet MS"/>
                        </a:rPr>
                        <a:t>орех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/>
                        </a:rPr>
                        <a:t>CIM0230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strike="noStrike" spc="-1" dirty="0">
                          <a:latin typeface="Trebuchet MS"/>
                        </a:rPr>
                        <a:t>белый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/>
                        </a:rPr>
                        <a:t>CIM0238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strike="noStrike" spc="-1" dirty="0">
                          <a:latin typeface="Trebuchet MS"/>
                        </a:rPr>
                        <a:t>синий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/>
                        </a:rPr>
                        <a:t>CIM0239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strike="noStrike" spc="-1" dirty="0">
                          <a:latin typeface="Trebuchet MS"/>
                        </a:rPr>
                        <a:t>зеленый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/>
                        </a:rPr>
                        <a:t>CIM0243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strike="noStrike" spc="-1" dirty="0">
                          <a:latin typeface="Trebuchet MS"/>
                        </a:rPr>
                        <a:t>красный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 dirty="0">
                          <a:latin typeface="Trebuchet MS"/>
                        </a:rPr>
                        <a:t>CIM0246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strike="noStrike" spc="-1" dirty="0">
                          <a:latin typeface="Trebuchet MS"/>
                        </a:rPr>
                        <a:t>черный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t-IT" sz="1800" b="0" strike="noStrike" spc="-1">
                          <a:latin typeface="Trebuchet MS"/>
                        </a:rPr>
                        <a:t>CIM0255</a:t>
                      </a:r>
                      <a:endParaRPr lang="it-IT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strike="noStrike" spc="-1" dirty="0">
                          <a:latin typeface="Trebuchet MS"/>
                        </a:rPr>
                        <a:t>желтый</a:t>
                      </a:r>
                      <a:endParaRPr lang="it-IT" sz="1800" b="0" strike="noStrike" spc="-1" dirty="0">
                        <a:latin typeface="Arial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878" y="404426"/>
            <a:ext cx="7195473" cy="5396605"/>
          </a:xfrm>
          <a:prstGeom prst="rect">
            <a:avLst/>
          </a:prstGeom>
        </p:spPr>
      </p:pic>
      <p:sp>
        <p:nvSpPr>
          <p:cNvPr id="5" name="Rettangolo 4"/>
          <p:cNvSpPr/>
          <p:nvPr/>
        </p:nvSpPr>
        <p:spPr>
          <a:xfrm>
            <a:off x="191729" y="1499944"/>
            <a:ext cx="42032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3080" indent="-34164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Серия сольвентных красителей для колеровки масел </a:t>
            </a:r>
            <a:r>
              <a:rPr lang="it-IT" sz="2400" spc="-1" dirty="0">
                <a:solidFill>
                  <a:srgbClr val="404040"/>
                </a:solidFill>
                <a:latin typeface="Trebuchet MS"/>
                <a:ea typeface="DejaVu Sans"/>
              </a:rPr>
              <a:t>IR</a:t>
            </a:r>
          </a:p>
        </p:txBody>
      </p:sp>
    </p:spTree>
    <p:extLst>
      <p:ext uri="{BB962C8B-B14F-4D97-AF65-F5344CB8AC3E}">
        <p14:creationId xmlns:p14="http://schemas.microsoft.com/office/powerpoint/2010/main" val="2118472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9287" y="92594"/>
            <a:ext cx="5608274" cy="11448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600" spc="-1" dirty="0">
                <a:solidFill>
                  <a:srgbClr val="5FCBEF"/>
                </a:solidFill>
                <a:latin typeface="Trebuchet MS"/>
                <a:ea typeface="DejaVu Sans"/>
                <a:cs typeface="+mn-cs"/>
              </a:rPr>
              <a:t>Таблица цветов масла</a:t>
            </a:r>
            <a:endParaRPr lang="en-GB" sz="3600" spc="-1" dirty="0">
              <a:solidFill>
                <a:srgbClr val="5FCBEF"/>
              </a:solidFill>
              <a:latin typeface="Trebuchet MS"/>
              <a:ea typeface="DejaVu Sans"/>
              <a:cs typeface="+mn-cs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036776"/>
              </p:ext>
            </p:extLst>
          </p:nvPr>
        </p:nvGraphicFramePr>
        <p:xfrm>
          <a:off x="658766" y="3176009"/>
          <a:ext cx="9009989" cy="3681991"/>
        </p:xfrm>
        <a:graphic>
          <a:graphicData uri="http://schemas.openxmlformats.org/drawingml/2006/table">
            <a:tbl>
              <a:tblPr/>
              <a:tblGrid>
                <a:gridCol w="540769">
                  <a:extLst>
                    <a:ext uri="{9D8B030D-6E8A-4147-A177-3AD203B41FA5}">
                      <a16:colId xmlns:a16="http://schemas.microsoft.com/office/drawing/2014/main" val="950720871"/>
                    </a:ext>
                  </a:extLst>
                </a:gridCol>
                <a:gridCol w="855780">
                  <a:extLst>
                    <a:ext uri="{9D8B030D-6E8A-4147-A177-3AD203B41FA5}">
                      <a16:colId xmlns:a16="http://schemas.microsoft.com/office/drawing/2014/main" val="1292553521"/>
                    </a:ext>
                  </a:extLst>
                </a:gridCol>
                <a:gridCol w="540599">
                  <a:extLst>
                    <a:ext uri="{9D8B030D-6E8A-4147-A177-3AD203B41FA5}">
                      <a16:colId xmlns:a16="http://schemas.microsoft.com/office/drawing/2014/main" val="971357160"/>
                    </a:ext>
                  </a:extLst>
                </a:gridCol>
                <a:gridCol w="540599">
                  <a:extLst>
                    <a:ext uri="{9D8B030D-6E8A-4147-A177-3AD203B41FA5}">
                      <a16:colId xmlns:a16="http://schemas.microsoft.com/office/drawing/2014/main" val="3634298733"/>
                    </a:ext>
                  </a:extLst>
                </a:gridCol>
                <a:gridCol w="822162">
                  <a:extLst>
                    <a:ext uri="{9D8B030D-6E8A-4147-A177-3AD203B41FA5}">
                      <a16:colId xmlns:a16="http://schemas.microsoft.com/office/drawing/2014/main" val="4181054703"/>
                    </a:ext>
                  </a:extLst>
                </a:gridCol>
                <a:gridCol w="540599">
                  <a:extLst>
                    <a:ext uri="{9D8B030D-6E8A-4147-A177-3AD203B41FA5}">
                      <a16:colId xmlns:a16="http://schemas.microsoft.com/office/drawing/2014/main" val="2076660510"/>
                    </a:ext>
                  </a:extLst>
                </a:gridCol>
                <a:gridCol w="540599">
                  <a:extLst>
                    <a:ext uri="{9D8B030D-6E8A-4147-A177-3AD203B41FA5}">
                      <a16:colId xmlns:a16="http://schemas.microsoft.com/office/drawing/2014/main" val="2248734173"/>
                    </a:ext>
                  </a:extLst>
                </a:gridCol>
                <a:gridCol w="822162">
                  <a:extLst>
                    <a:ext uri="{9D8B030D-6E8A-4147-A177-3AD203B41FA5}">
                      <a16:colId xmlns:a16="http://schemas.microsoft.com/office/drawing/2014/main" val="3680140274"/>
                    </a:ext>
                  </a:extLst>
                </a:gridCol>
                <a:gridCol w="540599">
                  <a:extLst>
                    <a:ext uri="{9D8B030D-6E8A-4147-A177-3AD203B41FA5}">
                      <a16:colId xmlns:a16="http://schemas.microsoft.com/office/drawing/2014/main" val="1330281345"/>
                    </a:ext>
                  </a:extLst>
                </a:gridCol>
                <a:gridCol w="540599">
                  <a:extLst>
                    <a:ext uri="{9D8B030D-6E8A-4147-A177-3AD203B41FA5}">
                      <a16:colId xmlns:a16="http://schemas.microsoft.com/office/drawing/2014/main" val="1407644397"/>
                    </a:ext>
                  </a:extLst>
                </a:gridCol>
                <a:gridCol w="822162">
                  <a:extLst>
                    <a:ext uri="{9D8B030D-6E8A-4147-A177-3AD203B41FA5}">
                      <a16:colId xmlns:a16="http://schemas.microsoft.com/office/drawing/2014/main" val="461969352"/>
                    </a:ext>
                  </a:extLst>
                </a:gridCol>
                <a:gridCol w="540599">
                  <a:extLst>
                    <a:ext uri="{9D8B030D-6E8A-4147-A177-3AD203B41FA5}">
                      <a16:colId xmlns:a16="http://schemas.microsoft.com/office/drawing/2014/main" val="1518286604"/>
                    </a:ext>
                  </a:extLst>
                </a:gridCol>
                <a:gridCol w="540599">
                  <a:extLst>
                    <a:ext uri="{9D8B030D-6E8A-4147-A177-3AD203B41FA5}">
                      <a16:colId xmlns:a16="http://schemas.microsoft.com/office/drawing/2014/main" val="2485031678"/>
                    </a:ext>
                  </a:extLst>
                </a:gridCol>
                <a:gridCol w="822162">
                  <a:extLst>
                    <a:ext uri="{9D8B030D-6E8A-4147-A177-3AD203B41FA5}">
                      <a16:colId xmlns:a16="http://schemas.microsoft.com/office/drawing/2014/main" val="3143734496"/>
                    </a:ext>
                  </a:extLst>
                </a:gridCol>
              </a:tblGrid>
              <a:tr h="161425"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Natural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197536"/>
                  </a:ext>
                </a:extLst>
              </a:tr>
              <a:tr h="161425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INEUTRAL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591532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671780"/>
                  </a:ext>
                </a:extLst>
              </a:tr>
              <a:tr h="161425"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781094"/>
                  </a:ext>
                </a:extLst>
              </a:tr>
              <a:tr h="92822"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Ocean Salt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Castle Stone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 Life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Wishing Well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Jungle Pride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916647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660444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CIM243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4,84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CIM243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CIM243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CIM243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18,02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CIM243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34,48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787494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CIM255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19,36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CIM255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CIM255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47,62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CIM255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35,80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CIM255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68,97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123915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CIM246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7,74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CIM246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18,52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CIM246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17,62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CIM246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12,35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CIM246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34,48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847962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CIM230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CIM230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55,56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CIM230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52,86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CIM230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35,80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CIM230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269181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968,05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925,93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881,90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898,02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862,07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046664"/>
                  </a:ext>
                </a:extLst>
              </a:tr>
              <a:tr h="161425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219729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027755"/>
                  </a:ext>
                </a:extLst>
              </a:tr>
              <a:tr h="161425"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895671"/>
                  </a:ext>
                </a:extLst>
              </a:tr>
              <a:tr h="161425"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Stone Wash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Corner stone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 Stone 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 Cookie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54569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269661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CIM243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4,32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CIM243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24,39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CIM243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18,18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CIM243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18,69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127726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CIM255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17,50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CIM255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CIM255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36,36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CIM255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37,38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144801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CIM246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7,05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CIM246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18,05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CIM246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CIM246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9,35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59780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CIM230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90,93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CIM230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54,15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CIM230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36,36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CIM230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476419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880,20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903,41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909,09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NEUTRAL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934,58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051116"/>
                  </a:ext>
                </a:extLst>
              </a:tr>
              <a:tr h="161425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1000,00</a:t>
                      </a:r>
                    </a:p>
                  </a:txBody>
                  <a:tcPr marL="7101" marR="7101" marT="710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527857"/>
                  </a:ext>
                </a:extLst>
              </a:tr>
              <a:tr h="154967"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974347"/>
                  </a:ext>
                </a:extLst>
              </a:tr>
            </a:tbl>
          </a:graphicData>
        </a:graphic>
      </p:graphicFrame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87" y="1237394"/>
            <a:ext cx="8979467" cy="164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23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CustomShape 1"/>
          <p:cNvSpPr/>
          <p:nvPr/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СОБЛЮДАТЬ ОСТОРОЖНОСТЬ</a:t>
            </a: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!!!</a:t>
            </a:r>
            <a:endParaRPr lang="it-IT" sz="3600" b="0" strike="noStrike" spc="-1" dirty="0">
              <a:latin typeface="Arial"/>
            </a:endParaRPr>
          </a:p>
        </p:txBody>
      </p:sp>
      <p:sp>
        <p:nvSpPr>
          <p:cNvPr id="300" name="CustomShape 2"/>
          <p:cNvSpPr/>
          <p:nvPr/>
        </p:nvSpPr>
        <p:spPr>
          <a:xfrm>
            <a:off x="677160" y="1269180"/>
            <a:ext cx="8595360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Все </a:t>
            </a:r>
            <a:r>
              <a:rPr lang="ru-RU" sz="2400" b="0" u="sng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сольвентные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масла склонны к</a:t>
            </a:r>
            <a:endParaRPr lang="it-IT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it-IT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ru-RU" sz="3600" b="0" strike="noStrike" spc="-1" dirty="0">
                <a:solidFill>
                  <a:srgbClr val="FF3838"/>
                </a:solidFill>
                <a:latin typeface="Trebuchet MS"/>
                <a:ea typeface="DejaVu Sans"/>
              </a:rPr>
              <a:t>САМОПРОИЗВОЛЬНОМУ ВОЗГОРАНИЮ</a:t>
            </a:r>
            <a:r>
              <a:rPr lang="it-IT" sz="3600" b="0" strike="noStrike" spc="-1" dirty="0">
                <a:solidFill>
                  <a:srgbClr val="FF3838"/>
                </a:solidFill>
                <a:latin typeface="Trebuchet MS"/>
                <a:ea typeface="DejaVu Sans"/>
              </a:rPr>
              <a:t>!!!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ru-RU" sz="2400" dirty="0"/>
              <a:t>ОЧЕНЬ ВАЖНО</a:t>
            </a:r>
            <a:r>
              <a:rPr lang="en-US" sz="2400" dirty="0"/>
              <a:t>: </a:t>
            </a:r>
            <a:r>
              <a:rPr lang="ru-RU" sz="2400" dirty="0"/>
              <a:t>опилки, хлопчатобумажные ткани</a:t>
            </a:r>
            <a:r>
              <a:rPr lang="en-US" sz="2400" dirty="0"/>
              <a:t>,</a:t>
            </a:r>
            <a:r>
              <a:rPr lang="ru-RU" sz="2400" dirty="0"/>
              <a:t> бумага и аналогичные продукты, пропитанные продуктами на масляной основе и оставленные в таких условиях, могут вызвать самовозгорание</a:t>
            </a:r>
            <a:r>
              <a:rPr lang="en-US" sz="2400" dirty="0"/>
              <a:t>. </a:t>
            </a:r>
            <a:r>
              <a:rPr lang="ru-RU" sz="2400" dirty="0"/>
              <a:t>Обратите внимание: перед выполнением любой операции необходимо хорошо проветрить рабочее место, чтобы продукт мог быстро высохнуть. Перед утилизацией смочите водой вышеупомянутые материалы.</a:t>
            </a:r>
            <a:endParaRPr lang="it-IT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697625" y="160626"/>
            <a:ext cx="9390272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6000" b="0" strike="noStrike" spc="-1" dirty="0">
                <a:solidFill>
                  <a:srgbClr val="5FCBEF"/>
                </a:solidFill>
                <a:latin typeface="Trebuchet MS"/>
                <a:ea typeface="DejaVu Sans"/>
              </a:rPr>
              <a:t>Масла на водной основе</a:t>
            </a:r>
            <a:endParaRPr lang="it-IT" sz="6000" b="0" strike="noStrike" spc="-1" dirty="0">
              <a:latin typeface="Arial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7" y="1480026"/>
            <a:ext cx="8669660" cy="516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52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CustomShape 1"/>
          <p:cNvSpPr/>
          <p:nvPr/>
        </p:nvSpPr>
        <p:spPr>
          <a:xfrm>
            <a:off x="242241" y="368590"/>
            <a:ext cx="9309321" cy="132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IWC1800S01 –</a:t>
            </a: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 Масло на водной основе с воском для наружного применения</a:t>
            </a:r>
            <a:endParaRPr lang="it-IT" sz="3600" b="0" strike="noStrike" spc="-1" dirty="0">
              <a:latin typeface="Tahoma" panose="020B0604030504040204" pitchFamily="34" charset="0"/>
            </a:endParaRPr>
          </a:p>
        </p:txBody>
      </p:sp>
      <p:sp>
        <p:nvSpPr>
          <p:cNvPr id="6" name="CustomShape 2"/>
          <p:cNvSpPr/>
          <p:nvPr/>
        </p:nvSpPr>
        <p:spPr>
          <a:xfrm>
            <a:off x="598862" y="1488554"/>
            <a:ext cx="7303737" cy="388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</a:rPr>
              <a:t>Масло на водной основе</a:t>
            </a:r>
            <a:endParaRPr lang="it-IT" sz="2000" b="0" strike="noStrike" spc="-1" dirty="0">
              <a:solidFill>
                <a:srgbClr val="404040"/>
              </a:solidFill>
              <a:latin typeface="Trebuchet MS"/>
            </a:endParaRPr>
          </a:p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Высокая долговечность при эксплуатации в уличных условиях</a:t>
            </a:r>
            <a:endParaRPr lang="it-IT" sz="2000" b="0" strike="noStrike" spc="-1" dirty="0">
              <a:solidFill>
                <a:srgbClr val="404040"/>
              </a:solidFill>
              <a:latin typeface="Trebuchet MS"/>
            </a:endParaRPr>
          </a:p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</a:rPr>
              <a:t>Подходит для как внутренних так и 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наружных напольных покрытий </a:t>
            </a:r>
            <a:endParaRPr lang="it-IT" sz="2000" b="0" strike="noStrike" spc="-1" dirty="0">
              <a:latin typeface="Tahoma" panose="020B0604030504040204" pitchFamily="34" charset="0"/>
            </a:endParaRPr>
          </a:p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Готово к использованию</a:t>
            </a:r>
            <a:endParaRPr lang="it-IT" sz="2000" b="0" strike="noStrike" spc="-1" dirty="0">
              <a:latin typeface="Tahoma" panose="020B0604030504040204" pitchFamily="34" charset="0"/>
            </a:endParaRPr>
          </a:p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Нанесение кистью, валиком, распылением</a:t>
            </a:r>
            <a:endParaRPr lang="it-IT" sz="2000" b="0" strike="noStrike" spc="-1" dirty="0">
              <a:latin typeface="Tahoma" panose="020B0604030504040204" pitchFamily="34" charset="0"/>
            </a:endParaRPr>
          </a:p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b="0" strike="noStrike" spc="-1" dirty="0">
                <a:solidFill>
                  <a:srgbClr val="404040"/>
                </a:solidFill>
                <a:latin typeface="Trebuchet MS"/>
              </a:rPr>
              <a:t>1-3 слоя</a:t>
            </a:r>
            <a:endParaRPr lang="it-IT" sz="2000" b="0" strike="noStrike" spc="-1" dirty="0">
              <a:latin typeface="Tahoma" panose="020B0604030504040204" pitchFamily="34" charset="0"/>
            </a:endParaRPr>
          </a:p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it-IT" sz="2000" b="0" strike="noStrike" spc="-1" dirty="0">
                <a:solidFill>
                  <a:srgbClr val="404040"/>
                </a:solidFill>
                <a:latin typeface="Trebuchet MS"/>
              </a:rPr>
              <a:t>1K </a:t>
            </a:r>
            <a:r>
              <a:rPr lang="ru-RU" sz="2000" b="0" strike="noStrike" spc="-1" dirty="0">
                <a:solidFill>
                  <a:srgbClr val="404040"/>
                </a:solidFill>
                <a:latin typeface="Trebuchet MS"/>
              </a:rPr>
              <a:t>или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</a:rPr>
              <a:t> 2K </a:t>
            </a:r>
            <a:r>
              <a:rPr lang="ru-RU" sz="2000" b="0" strike="noStrike" spc="-1" dirty="0">
                <a:solidFill>
                  <a:srgbClr val="404040"/>
                </a:solidFill>
                <a:latin typeface="Trebuchet MS"/>
              </a:rPr>
              <a:t>с </a:t>
            </a:r>
            <a:r>
              <a:rPr lang="it-IT" sz="2000" b="0" strike="noStrike" spc="-1" dirty="0">
                <a:solidFill>
                  <a:srgbClr val="404040"/>
                </a:solidFill>
                <a:latin typeface="Trebuchet MS"/>
              </a:rPr>
              <a:t>CW33</a:t>
            </a:r>
          </a:p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Контролируемая эрозия</a:t>
            </a:r>
            <a:endParaRPr lang="it-IT" sz="2000" spc="-1" dirty="0">
              <a:solidFill>
                <a:srgbClr val="404040"/>
              </a:solidFill>
              <a:latin typeface="Trebuchet MS"/>
            </a:endParaRPr>
          </a:p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Для обновления шлифовка не требуется</a:t>
            </a:r>
            <a:endParaRPr lang="it-IT" sz="2000" b="0" strike="noStrike" spc="-1" dirty="0">
              <a:solidFill>
                <a:srgbClr val="404040"/>
              </a:solidFill>
              <a:latin typeface="Trebuchet MS"/>
            </a:endParaRPr>
          </a:p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Колеруется красителями 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PTW </a:t>
            </a:r>
            <a:r>
              <a:rPr lang="ru-RU" sz="2000" spc="-1" dirty="0">
                <a:solidFill>
                  <a:srgbClr val="404040"/>
                </a:solidFill>
                <a:latin typeface="Trebuchet MS"/>
              </a:rPr>
              <a:t>или пастами </a:t>
            </a:r>
            <a:r>
              <a:rPr lang="it-IT" sz="2000" spc="-1" dirty="0">
                <a:solidFill>
                  <a:srgbClr val="404040"/>
                </a:solidFill>
                <a:latin typeface="Trebuchet MS"/>
              </a:rPr>
              <a:t>PNW</a:t>
            </a:r>
            <a:endParaRPr lang="it-IT" sz="2000" b="0" strike="noStrike" spc="-1" dirty="0">
              <a:latin typeface="Tahoma" panose="020B0604030504040204" pitchFamily="34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599" y="1363387"/>
            <a:ext cx="4011168" cy="434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96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598862" y="313801"/>
            <a:ext cx="9309321" cy="1320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IWC1800S01 – </a:t>
            </a: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отчет об испытаниях</a:t>
            </a:r>
            <a:endParaRPr lang="it-IT" sz="3600" b="0" strike="noStrike" spc="-1" dirty="0">
              <a:latin typeface="Tahoma" panose="020B0604030504040204" pitchFamily="34" charset="0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598862" y="1287386"/>
            <a:ext cx="8596080" cy="388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Trebuchet MS" panose="020B0603020202020204" pitchFamily="34" charset="0"/>
              </a:rPr>
              <a:t>3 </a:t>
            </a:r>
            <a:r>
              <a:rPr lang="ru-RU" dirty="0">
                <a:latin typeface="Trebuchet MS" panose="020B0603020202020204" pitchFamily="34" charset="0"/>
              </a:rPr>
              <a:t>слоя </a:t>
            </a:r>
            <a:r>
              <a:rPr lang="en-US" dirty="0">
                <a:latin typeface="Trebuchet MS" panose="020B0603020202020204" pitchFamily="34" charset="0"/>
              </a:rPr>
              <a:t>IWC1800S01</a:t>
            </a:r>
            <a:r>
              <a:rPr lang="ru-RU" dirty="0">
                <a:latin typeface="Trebuchet MS" panose="020B0603020202020204" pitchFamily="34" charset="0"/>
              </a:rPr>
              <a:t>, колерованных </a:t>
            </a:r>
            <a:r>
              <a:rPr lang="en-US" dirty="0">
                <a:latin typeface="Trebuchet MS" panose="020B0603020202020204" pitchFamily="34" charset="0"/>
              </a:rPr>
              <a:t>PTW </a:t>
            </a:r>
            <a:r>
              <a:rPr lang="ru-RU" dirty="0">
                <a:latin typeface="Trebuchet MS" panose="020B0603020202020204" pitchFamily="34" charset="0"/>
              </a:rPr>
              <a:t>на </a:t>
            </a:r>
            <a:r>
              <a:rPr lang="ru-RU" dirty="0" err="1">
                <a:latin typeface="Trebuchet MS" panose="020B0603020202020204" pitchFamily="34" charset="0"/>
              </a:rPr>
              <a:t>сапеле</a:t>
            </a:r>
            <a:r>
              <a:rPr lang="ru-RU" dirty="0">
                <a:latin typeface="Trebuchet MS" panose="020B0603020202020204" pitchFamily="34" charset="0"/>
              </a:rPr>
              <a:t> махагони</a:t>
            </a:r>
            <a:endParaRPr lang="en-US" dirty="0">
              <a:latin typeface="Trebuchet MS" panose="020B0603020202020204" pitchFamily="34" charset="0"/>
            </a:endParaRPr>
          </a:p>
          <a:p>
            <a:pPr marL="343080" indent="-34236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dirty="0">
                <a:latin typeface="Trebuchet MS" panose="020B0603020202020204" pitchFamily="34" charset="0"/>
              </a:rPr>
              <a:t>Стойкость к </a:t>
            </a:r>
            <a:r>
              <a:rPr lang="ru-RU" dirty="0" err="1">
                <a:latin typeface="Trebuchet MS" panose="020B0603020202020204" pitchFamily="34" charset="0"/>
              </a:rPr>
              <a:t>хол</a:t>
            </a:r>
            <a:r>
              <a:rPr lang="ru-RU" dirty="0">
                <a:latin typeface="Trebuchet MS" panose="020B0603020202020204" pitchFamily="34" charset="0"/>
              </a:rPr>
              <a:t>. жидкостям </a:t>
            </a:r>
            <a:r>
              <a:rPr lang="en-US" dirty="0">
                <a:latin typeface="Trebuchet MS" panose="020B0603020202020204" pitchFamily="34" charset="0"/>
              </a:rPr>
              <a:t>UNI EN 12720 = </a:t>
            </a:r>
            <a:r>
              <a:rPr lang="ru-RU" dirty="0">
                <a:latin typeface="Trebuchet MS" panose="020B0603020202020204" pitchFamily="34" charset="0"/>
              </a:rPr>
              <a:t>класс </a:t>
            </a:r>
            <a:r>
              <a:rPr lang="en-US" dirty="0">
                <a:latin typeface="Trebuchet MS" panose="020B0603020202020204" pitchFamily="34" charset="0"/>
              </a:rPr>
              <a:t>C</a:t>
            </a:r>
            <a:endParaRPr lang="it-IT" dirty="0">
              <a:latin typeface="Trebuchet MS" panose="020B0603020202020204" pitchFamily="34" charset="0"/>
            </a:endParaRPr>
          </a:p>
          <a:p>
            <a:pPr marL="343080" indent="-34236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dirty="0">
                <a:latin typeface="Trebuchet MS" panose="020B0603020202020204" pitchFamily="34" charset="0"/>
              </a:rPr>
              <a:t>Светостойкость </a:t>
            </a:r>
            <a:r>
              <a:rPr lang="en-US" dirty="0">
                <a:latin typeface="Trebuchet MS" panose="020B0603020202020204" pitchFamily="34" charset="0"/>
              </a:rPr>
              <a:t>UNI EN 15187 = 4,5 / 5</a:t>
            </a:r>
          </a:p>
          <a:p>
            <a:pPr marL="343080" indent="-34236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dirty="0">
                <a:latin typeface="Trebuchet MS" panose="020B0603020202020204" pitchFamily="34" charset="0"/>
              </a:rPr>
              <a:t>Устойчивость к царапинам </a:t>
            </a:r>
            <a:r>
              <a:rPr lang="en-US" dirty="0">
                <a:latin typeface="Trebuchet MS" panose="020B0603020202020204" pitchFamily="34" charset="0"/>
              </a:rPr>
              <a:t>UNI 9428 = 0,5 N</a:t>
            </a:r>
          </a:p>
          <a:p>
            <a:pPr marL="343080" indent="-34236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dirty="0" err="1">
                <a:latin typeface="Trebuchet MS" panose="020B0603020202020204" pitchFamily="34" charset="0"/>
              </a:rPr>
              <a:t>Ксенотест</a:t>
            </a:r>
            <a:r>
              <a:rPr lang="ru-RU" dirty="0">
                <a:latin typeface="Trebuchet MS" panose="020B0603020202020204" pitchFamily="34" charset="0"/>
              </a:rPr>
              <a:t> по европейской норме </a:t>
            </a:r>
            <a:r>
              <a:rPr lang="en-US" dirty="0">
                <a:latin typeface="Trebuchet MS" panose="020B0603020202020204" pitchFamily="34" charset="0"/>
              </a:rPr>
              <a:t>EN 927/6  (</a:t>
            </a:r>
            <a:r>
              <a:rPr lang="ru-RU" dirty="0">
                <a:latin typeface="Trebuchet MS" panose="020B0603020202020204" pitchFamily="34" charset="0"/>
              </a:rPr>
              <a:t>Испытание на ускоренное старение</a:t>
            </a:r>
            <a:r>
              <a:rPr lang="en-US" dirty="0">
                <a:latin typeface="Trebuchet MS" panose="020B0603020202020204" pitchFamily="34" charset="0"/>
              </a:rPr>
              <a:t>)</a:t>
            </a:r>
            <a:endParaRPr lang="it-IT" dirty="0">
              <a:latin typeface="Trebuchet MS" panose="020B0603020202020204" pitchFamily="34" charset="0"/>
            </a:endParaRPr>
          </a:p>
          <a:p>
            <a:pPr marL="343080" indent="-342360"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endParaRPr lang="it-IT" dirty="0">
              <a:latin typeface="Trebuchet MS" panose="020B0603020202020204" pitchFamily="34" charset="0"/>
            </a:endParaRPr>
          </a:p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endParaRPr lang="it-IT" dirty="0">
              <a:latin typeface="Trebuchet MS" panose="020B0603020202020204" pitchFamily="34" charset="0"/>
            </a:endParaRPr>
          </a:p>
        </p:txBody>
      </p:sp>
      <p:sp>
        <p:nvSpPr>
          <p:cNvPr id="9" name="CustomShape 1"/>
          <p:cNvSpPr/>
          <p:nvPr/>
        </p:nvSpPr>
        <p:spPr>
          <a:xfrm>
            <a:off x="701813" y="6364016"/>
            <a:ext cx="1849566" cy="2639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До испытаний</a:t>
            </a:r>
            <a:endParaRPr lang="it-IT" sz="2000" spc="-1" dirty="0">
              <a:solidFill>
                <a:srgbClr val="404040"/>
              </a:solidFill>
              <a:latin typeface="Trebuchet MS"/>
              <a:ea typeface="DejaVu Sans"/>
            </a:endParaRPr>
          </a:p>
        </p:txBody>
      </p:sp>
      <p:sp>
        <p:nvSpPr>
          <p:cNvPr id="10" name="CustomShape 2"/>
          <p:cNvSpPr/>
          <p:nvPr/>
        </p:nvSpPr>
        <p:spPr>
          <a:xfrm>
            <a:off x="4974036" y="6373264"/>
            <a:ext cx="2562390" cy="2546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ru-RU" sz="2000" spc="-1" dirty="0">
                <a:solidFill>
                  <a:srgbClr val="404040"/>
                </a:solidFill>
                <a:latin typeface="Trebuchet MS"/>
                <a:ea typeface="DejaVu Sans"/>
              </a:rPr>
              <a:t>После испытаний</a:t>
            </a:r>
            <a:endParaRPr lang="it-IT" sz="2000" spc="-1" dirty="0">
              <a:solidFill>
                <a:srgbClr val="404040"/>
              </a:solidFill>
              <a:latin typeface="Trebuchet MS"/>
              <a:ea typeface="DejaVu Sans"/>
            </a:endParaRPr>
          </a:p>
        </p:txBody>
      </p:sp>
      <p:pic>
        <p:nvPicPr>
          <p:cNvPr id="14" name="Immagin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253" y="3511296"/>
            <a:ext cx="3687307" cy="2718283"/>
          </a:xfrm>
          <a:prstGeom prst="rect">
            <a:avLst/>
          </a:prstGeom>
        </p:spPr>
      </p:pic>
      <p:pic>
        <p:nvPicPr>
          <p:cNvPr id="15" name="Immagine 1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036" y="3511296"/>
            <a:ext cx="3749340" cy="271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69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CustomShape 1"/>
          <p:cNvSpPr/>
          <p:nvPr/>
        </p:nvSpPr>
        <p:spPr>
          <a:xfrm>
            <a:off x="235974" y="273354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IWR-OIL – </a:t>
            </a:r>
            <a:r>
              <a:rPr lang="ru-RU" sz="3600" b="0" strike="noStrike" spc="-1" dirty="0" err="1">
                <a:solidFill>
                  <a:srgbClr val="5FCBEF"/>
                </a:solidFill>
                <a:latin typeface="Trebuchet MS"/>
                <a:ea typeface="Microsoft YaHei"/>
              </a:rPr>
              <a:t>гидроотталкивающее</a:t>
            </a: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 масло</a:t>
            </a:r>
            <a:br>
              <a:rPr dirty="0"/>
            </a:b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IOP-OIL – </a:t>
            </a:r>
            <a:r>
              <a:rPr lang="ru-RU" sz="3600" b="0" strike="noStrike" spc="-1" dirty="0" err="1">
                <a:solidFill>
                  <a:srgbClr val="5FCBEF"/>
                </a:solidFill>
                <a:latin typeface="Trebuchet MS"/>
                <a:ea typeface="Microsoft YaHei"/>
              </a:rPr>
              <a:t>гидро</a:t>
            </a: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/</a:t>
            </a:r>
            <a:r>
              <a:rPr lang="ru-RU" sz="3600" b="0" strike="noStrike" spc="-1" dirty="0" err="1">
                <a:solidFill>
                  <a:srgbClr val="5FCBEF"/>
                </a:solidFill>
                <a:latin typeface="Trebuchet MS"/>
                <a:ea typeface="Microsoft YaHei"/>
              </a:rPr>
              <a:t>маслоотталкивающее</a:t>
            </a: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 масло</a:t>
            </a:r>
            <a:endParaRPr lang="it-IT" sz="3600" b="0" strike="noStrike" spc="-1" dirty="0">
              <a:latin typeface="Arial"/>
            </a:endParaRPr>
          </a:p>
        </p:txBody>
      </p:sp>
      <p:sp>
        <p:nvSpPr>
          <p:cNvPr id="302" name="CustomShape 2"/>
          <p:cNvSpPr/>
          <p:nvPr/>
        </p:nvSpPr>
        <p:spPr>
          <a:xfrm>
            <a:off x="677520" y="1939513"/>
            <a:ext cx="7137410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Матовое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Готово к использованию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Можно использовать для обновления покрытия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Для внутренних и наружных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 отделок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Нанесение окунанием, кистью, распылением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Подходит для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: 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мрамор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, 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необработанная древесина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,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камни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,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терракота, бумага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...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Придает изделиям водоотталкивающее свойство</a:t>
            </a:r>
            <a:endParaRPr lang="it-IT" sz="2400" b="0" strike="noStrike" spc="-1" dirty="0">
              <a:latin typeface="Arial"/>
            </a:endParaRPr>
          </a:p>
        </p:txBody>
      </p:sp>
      <p:pic>
        <p:nvPicPr>
          <p:cNvPr id="2052" name="Picture 4" descr="Idrorepellente Immagini e Fotos Stock - Alamy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23"/>
          <a:stretch/>
        </p:blipFill>
        <p:spPr bwMode="auto">
          <a:xfrm rot="5400000">
            <a:off x="7476205" y="1426152"/>
            <a:ext cx="5382363" cy="340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09E29B2C-18F2-4379-BD40-522415066F8D-L0-001.jpeg"/>
          <p:cNvPicPr/>
          <p:nvPr/>
        </p:nvPicPr>
        <p:blipFill>
          <a:blip r:embed="rId2"/>
          <a:srcRect t="18573" r="577" b="5802"/>
          <a:stretch/>
        </p:blipFill>
        <p:spPr>
          <a:xfrm>
            <a:off x="1112644" y="1486429"/>
            <a:ext cx="4103779" cy="4871884"/>
          </a:xfrm>
          <a:prstGeom prst="rect">
            <a:avLst/>
          </a:prstGeom>
          <a:ln>
            <a:noFill/>
          </a:ln>
        </p:spPr>
      </p:pic>
      <p:pic>
        <p:nvPicPr>
          <p:cNvPr id="3" name="17DD4070-71E6-4BF3-8606-1B3C39B103EC-L0-001.jpeg"/>
          <p:cNvPicPr/>
          <p:nvPr/>
        </p:nvPicPr>
        <p:blipFill>
          <a:blip r:embed="rId3"/>
          <a:stretch/>
        </p:blipFill>
        <p:spPr>
          <a:xfrm>
            <a:off x="5886778" y="1486429"/>
            <a:ext cx="5206037" cy="4248774"/>
          </a:xfrm>
          <a:prstGeom prst="rect">
            <a:avLst/>
          </a:prstGeom>
          <a:ln w="12600">
            <a:noFill/>
          </a:ln>
        </p:spPr>
      </p:pic>
      <p:sp>
        <p:nvSpPr>
          <p:cNvPr id="4" name="CustomShape 1"/>
          <p:cNvSpPr/>
          <p:nvPr/>
        </p:nvSpPr>
        <p:spPr>
          <a:xfrm>
            <a:off x="376493" y="167029"/>
            <a:ext cx="9679859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IWR-OIL – </a:t>
            </a:r>
            <a:r>
              <a:rPr lang="ru-RU" sz="3600" spc="-1" dirty="0" err="1">
                <a:solidFill>
                  <a:srgbClr val="5FCBEF"/>
                </a:solidFill>
                <a:latin typeface="Trebuchet MS"/>
                <a:ea typeface="Microsoft YaHei"/>
              </a:rPr>
              <a:t>гидроотталкивающее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Microsoft YaHei"/>
              </a:rPr>
              <a:t> масло</a:t>
            </a:r>
          </a:p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IOP-OIL – </a:t>
            </a:r>
            <a:r>
              <a:rPr lang="ru-RU" sz="3600" spc="-1" dirty="0" err="1">
                <a:solidFill>
                  <a:srgbClr val="5FCBEF"/>
                </a:solidFill>
                <a:latin typeface="Trebuchet MS"/>
                <a:ea typeface="Microsoft YaHei"/>
              </a:rPr>
              <a:t>гидро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Microsoft YaHei"/>
              </a:rPr>
              <a:t>/</a:t>
            </a:r>
            <a:r>
              <a:rPr lang="ru-RU" sz="3600" spc="-1" dirty="0" err="1">
                <a:solidFill>
                  <a:srgbClr val="5FCBEF"/>
                </a:solidFill>
                <a:latin typeface="Trebuchet MS"/>
                <a:ea typeface="Microsoft YaHei"/>
              </a:rPr>
              <a:t>маслоотталкивающее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Microsoft YaHei"/>
              </a:rPr>
              <a:t> масло</a:t>
            </a:r>
            <a:endParaRPr lang="it-IT" sz="3600" spc="-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C663CB93-2CE7-42F6-AC83-C43161BE0F20-L0-001.jpeg"/>
          <p:cNvPicPr/>
          <p:nvPr/>
        </p:nvPicPr>
        <p:blipFill>
          <a:blip r:embed="rId2">
            <a:alphaModFix amt="63000"/>
          </a:blip>
          <a:stretch/>
        </p:blipFill>
        <p:spPr>
          <a:xfrm>
            <a:off x="712465" y="1418855"/>
            <a:ext cx="5557684" cy="5328546"/>
          </a:xfrm>
          <a:prstGeom prst="rect">
            <a:avLst/>
          </a:prstGeom>
          <a:ln w="12600">
            <a:noFill/>
          </a:ln>
        </p:spPr>
      </p:pic>
      <p:sp>
        <p:nvSpPr>
          <p:cNvPr id="306" name="CustomShape 1"/>
          <p:cNvSpPr/>
          <p:nvPr/>
        </p:nvSpPr>
        <p:spPr>
          <a:xfrm>
            <a:off x="712465" y="4083128"/>
            <a:ext cx="2679321" cy="9484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it-IT" sz="1800" b="1" strike="noStrike" spc="-1" dirty="0">
                <a:solidFill>
                  <a:schemeClr val="tx2"/>
                </a:solidFill>
                <a:latin typeface="Arial"/>
                <a:ea typeface="DejaVu Sans"/>
              </a:rPr>
              <a:t>IWR-OIL</a:t>
            </a:r>
            <a:endParaRPr lang="it-IT" sz="1800" b="1" strike="noStrike" spc="-1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307" name="CustomShape 2"/>
          <p:cNvSpPr/>
          <p:nvPr/>
        </p:nvSpPr>
        <p:spPr>
          <a:xfrm>
            <a:off x="3391786" y="4083127"/>
            <a:ext cx="2878363" cy="9484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it-IT" sz="1800" b="1" strike="noStrike" spc="-1" dirty="0">
                <a:solidFill>
                  <a:schemeClr val="tx2"/>
                </a:solidFill>
                <a:latin typeface="Arial"/>
                <a:ea typeface="DejaVu Sans"/>
              </a:rPr>
              <a:t>IOP-OIL</a:t>
            </a:r>
            <a:endParaRPr lang="it-IT" sz="1800" b="1" strike="noStrike" spc="-1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5" name="CustomShape 1"/>
          <p:cNvSpPr/>
          <p:nvPr/>
        </p:nvSpPr>
        <p:spPr>
          <a:xfrm>
            <a:off x="282868" y="99455"/>
            <a:ext cx="1015899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IWR-OIL – </a:t>
            </a:r>
            <a:r>
              <a:rPr lang="ru-RU" sz="3600" spc="-1" dirty="0" err="1">
                <a:solidFill>
                  <a:srgbClr val="5FCBEF"/>
                </a:solidFill>
                <a:latin typeface="Trebuchet MS"/>
                <a:ea typeface="Microsoft YaHei"/>
              </a:rPr>
              <a:t>гидроотталкивающее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Microsoft YaHei"/>
              </a:rPr>
              <a:t> масло</a:t>
            </a:r>
          </a:p>
          <a:p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IOP-OIL – </a:t>
            </a:r>
            <a:r>
              <a:rPr lang="ru-RU" sz="3600" spc="-1" dirty="0" err="1">
                <a:solidFill>
                  <a:srgbClr val="5FCBEF"/>
                </a:solidFill>
                <a:latin typeface="Trebuchet MS"/>
                <a:ea typeface="Microsoft YaHei"/>
              </a:rPr>
              <a:t>гидро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Microsoft YaHei"/>
              </a:rPr>
              <a:t>/</a:t>
            </a:r>
            <a:r>
              <a:rPr lang="ru-RU" sz="3600" spc="-1" dirty="0" err="1">
                <a:solidFill>
                  <a:srgbClr val="5FCBEF"/>
                </a:solidFill>
                <a:latin typeface="Trebuchet MS"/>
                <a:ea typeface="Microsoft YaHei"/>
              </a:rPr>
              <a:t>маслоотталкивающее</a:t>
            </a:r>
            <a:r>
              <a:rPr lang="ru-RU" sz="3600" spc="-1" dirty="0">
                <a:solidFill>
                  <a:srgbClr val="5FCBEF"/>
                </a:solidFill>
                <a:latin typeface="Trebuchet MS"/>
                <a:ea typeface="Microsoft YaHei"/>
              </a:rPr>
              <a:t> масло</a:t>
            </a:r>
            <a:endParaRPr lang="it-IT" sz="3600" spc="-1" dirty="0"/>
          </a:p>
          <a:p>
            <a:pPr>
              <a:lnSpc>
                <a:spcPct val="100000"/>
              </a:lnSpc>
            </a:pPr>
            <a:endParaRPr lang="it-IT" sz="3600" b="0" strike="noStrike" spc="-1" dirty="0">
              <a:latin typeface="Arial"/>
            </a:endParaRPr>
          </a:p>
        </p:txBody>
      </p:sp>
      <p:pic>
        <p:nvPicPr>
          <p:cNvPr id="6146" name="Picture 2" descr="Idrorepellente - Giovanard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859" y="1502698"/>
            <a:ext cx="5172075" cy="371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485431" y="157061"/>
            <a:ext cx="6682285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OW-OIL – </a:t>
            </a: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Масло на водной основе</a:t>
            </a:r>
            <a:endParaRPr lang="it-IT" sz="3600" b="0" strike="noStrike" spc="-1" dirty="0">
              <a:latin typeface="Arial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485431" y="1236658"/>
            <a:ext cx="8481588" cy="3879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Блеск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: 4 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и 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30 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глосс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Готово к использованию</a:t>
            </a:r>
            <a:endParaRPr lang="it-IT" sz="2400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236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</a:rPr>
              <a:t>Нанесение кистью, валиком, распылением</a:t>
            </a:r>
            <a:endParaRPr lang="it-IT" sz="2400" spc="-1" dirty="0">
              <a:latin typeface="Tahoma" panose="020B0604030504040204" pitchFamily="34" charset="0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Для внутренней отделки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Не </a:t>
            </a: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меняет оттенок древесины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1-3 слоя</a:t>
            </a:r>
            <a:endParaRPr lang="it-IT" sz="2400" b="0" strike="noStrike" spc="-1" dirty="0">
              <a:solidFill>
                <a:srgbClr val="404040"/>
              </a:solidFill>
              <a:latin typeface="Trebuchet MS"/>
              <a:ea typeface="DejaVu Sans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</a:rPr>
              <a:t>Можно перекрывать водными и сольвентными продуктами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spc="-1" dirty="0">
                <a:solidFill>
                  <a:srgbClr val="404040"/>
                </a:solidFill>
                <a:latin typeface="Trebuchet MS"/>
                <a:ea typeface="DejaVu Sans"/>
              </a:rPr>
              <a:t>Содержит пчелиный воск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Хорошая химическая стойкость</a:t>
            </a:r>
            <a:endParaRPr lang="it-IT" sz="24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1K 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или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 2K 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с 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CW1S02 (</a:t>
            </a:r>
            <a:r>
              <a:rPr lang="ru-RU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для повышения </a:t>
            </a:r>
            <a:r>
              <a:rPr lang="ru-RU" sz="2400" b="0" strike="noStrike" spc="-1" dirty="0" err="1">
                <a:solidFill>
                  <a:srgbClr val="404040"/>
                </a:solidFill>
                <a:latin typeface="Trebuchet MS"/>
                <a:ea typeface="DejaVu Sans"/>
              </a:rPr>
              <a:t>химстойкости</a:t>
            </a:r>
            <a:r>
              <a:rPr lang="it-IT" sz="2400" b="0" strike="noStrike" spc="-1" dirty="0">
                <a:solidFill>
                  <a:srgbClr val="404040"/>
                </a:solidFill>
                <a:latin typeface="Trebuchet MS"/>
                <a:ea typeface="DejaVu Sans"/>
              </a:rPr>
              <a:t>)</a:t>
            </a:r>
            <a:endParaRPr lang="it-IT" sz="2400" b="0" strike="noStrike" spc="-1" dirty="0">
              <a:latin typeface="Arial"/>
            </a:endParaRPr>
          </a:p>
        </p:txBody>
      </p:sp>
      <p:pic>
        <p:nvPicPr>
          <p:cNvPr id="5122" name="Picture 2" descr="Come rinvigorire il legno naturalmente: ecco i metodi infallibili che non  conoscevi | Ohga!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654" y="609480"/>
            <a:ext cx="4416425" cy="441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CustomShape 1"/>
          <p:cNvSpPr/>
          <p:nvPr/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Сравнение масел на водной основе</a:t>
            </a:r>
            <a:endParaRPr lang="it-IT" sz="3600" b="0" strike="noStrike" spc="-1" dirty="0">
              <a:latin typeface="Arial"/>
            </a:endParaRPr>
          </a:p>
        </p:txBody>
      </p:sp>
      <p:graphicFrame>
        <p:nvGraphicFramePr>
          <p:cNvPr id="319" name="Table 2"/>
          <p:cNvGraphicFramePr/>
          <p:nvPr>
            <p:extLst>
              <p:ext uri="{D42A27DB-BD31-4B8C-83A1-F6EECF244321}">
                <p14:modId xmlns:p14="http://schemas.microsoft.com/office/powerpoint/2010/main" val="2012432708"/>
              </p:ext>
            </p:extLst>
          </p:nvPr>
        </p:nvGraphicFramePr>
        <p:xfrm>
          <a:off x="677160" y="1533274"/>
          <a:ext cx="9678953" cy="4293369"/>
        </p:xfrm>
        <a:graphic>
          <a:graphicData uri="http://schemas.openxmlformats.org/drawingml/2006/table">
            <a:tbl>
              <a:tblPr/>
              <a:tblGrid>
                <a:gridCol w="2040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0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0502">
                  <a:extLst>
                    <a:ext uri="{9D8B030D-6E8A-4147-A177-3AD203B41FA5}">
                      <a16:colId xmlns:a16="http://schemas.microsoft.com/office/drawing/2014/main" val="777783767"/>
                    </a:ext>
                  </a:extLst>
                </a:gridCol>
              </a:tblGrid>
              <a:tr h="4348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it-IT" sz="1800" b="0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1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IOP-OIL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1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IWR-OIL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1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OW-OIL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>
                      <a:solidFill>
                        <a:srgbClr val="FFFFFF"/>
                      </a:solidFill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1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IWC1800S01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8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1800" b="1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Сух. остаток </a:t>
                      </a:r>
                      <a:r>
                        <a:rPr lang="it-IT" sz="1800" b="1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21%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24%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8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1800" b="1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Вязкость</a:t>
                      </a:r>
                      <a:endParaRPr lang="it-IT" sz="1800" b="1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50" DIN 2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45" DIN2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30" DIN4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18" DIN 4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21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1800" b="1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Уд. вес</a:t>
                      </a:r>
                      <a:endParaRPr lang="it-IT" sz="1800" b="1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0,99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0,98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1,01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1,02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92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1800" b="1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Возможность перекрытия</a:t>
                      </a:r>
                      <a:endParaRPr lang="it-IT" sz="1800" b="1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2-3 </a:t>
                      </a:r>
                      <a:r>
                        <a:rPr lang="ru-RU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ч</a:t>
                      </a:r>
                      <a:endParaRPr lang="it-IT" sz="1800" b="0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2-4 </a:t>
                      </a:r>
                      <a:r>
                        <a:rPr lang="ru-RU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ч</a:t>
                      </a:r>
                      <a:endParaRPr lang="it-IT" sz="1800" b="0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521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1800" b="1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Полное</a:t>
                      </a:r>
                      <a:r>
                        <a:rPr lang="ru-RU" sz="1800" b="1" strike="noStrike" kern="1200" spc="-1" baseline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 высыхание</a:t>
                      </a:r>
                      <a:endParaRPr lang="it-IT" sz="1800" b="1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 </a:t>
                      </a:r>
                      <a:r>
                        <a:rPr lang="ru-RU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ч</a:t>
                      </a:r>
                      <a:endParaRPr lang="it-IT" sz="1800" b="0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 </a:t>
                      </a:r>
                      <a:r>
                        <a:rPr lang="ru-RU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ч</a:t>
                      </a:r>
                      <a:endParaRPr lang="it-IT" sz="1800" b="0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6-8 </a:t>
                      </a:r>
                      <a:r>
                        <a:rPr lang="ru-RU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ч</a:t>
                      </a:r>
                      <a:endParaRPr lang="it-IT" sz="1800" b="0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8-12 </a:t>
                      </a:r>
                      <a:r>
                        <a:rPr lang="ru-RU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ч</a:t>
                      </a:r>
                      <a:endParaRPr lang="it-IT" sz="1800" b="0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643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1800" b="1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Кол-во слоёв</a:t>
                      </a:r>
                      <a:endParaRPr lang="it-IT" sz="1800" b="1" strike="noStrike" kern="1200" spc="-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1-3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it-IT" sz="1800" b="0" strike="noStrike" kern="1200" spc="-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2-3</a:t>
                      </a:r>
                    </a:p>
                  </a:txBody>
                  <a:tcPr marL="90000" marR="90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>
                      <a:solidFill>
                        <a:srgbClr val="FFFFFF"/>
                      </a:solidFill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>
                      <a:solidFill>
                        <a:srgbClr val="FFFFFF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CustomShape 1"/>
          <p:cNvSpPr/>
          <p:nvPr/>
        </p:nvSpPr>
        <p:spPr>
          <a:xfrm>
            <a:off x="1051920" y="3323880"/>
            <a:ext cx="8595360" cy="131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Задавайте вопросы!</a:t>
            </a:r>
            <a:endParaRPr lang="it-IT" sz="3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3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Благодарим за внимание</a:t>
            </a:r>
            <a:r>
              <a:rPr lang="it-IT" sz="3600" b="0" strike="noStrike" spc="-1" dirty="0">
                <a:solidFill>
                  <a:srgbClr val="5FCBEF"/>
                </a:solidFill>
                <a:latin typeface="Trebuchet MS"/>
                <a:ea typeface="Microsoft YaHei"/>
              </a:rPr>
              <a:t>!</a:t>
            </a:r>
            <a:endParaRPr lang="it-IT" sz="3600" b="0" strike="noStrike" spc="-1" dirty="0">
              <a:latin typeface="Arial"/>
            </a:endParaRPr>
          </a:p>
        </p:txBody>
      </p:sp>
      <p:pic>
        <p:nvPicPr>
          <p:cNvPr id="321" name="Immagine 320"/>
          <p:cNvPicPr/>
          <p:nvPr/>
        </p:nvPicPr>
        <p:blipFill>
          <a:blip r:embed="rId2"/>
          <a:stretch/>
        </p:blipFill>
        <p:spPr>
          <a:xfrm>
            <a:off x="4760640" y="1584000"/>
            <a:ext cx="1070640" cy="1070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1764</TotalTime>
  <Words>1455</Words>
  <Application>Microsoft Office PowerPoint</Application>
  <PresentationFormat>Широкоэкранный</PresentationFormat>
  <Paragraphs>501</Paragraphs>
  <Slides>33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33</vt:i4>
      </vt:variant>
    </vt:vector>
  </HeadingPairs>
  <TitlesOfParts>
    <vt:vector size="45" baseType="lpstr">
      <vt:lpstr>Arial</vt:lpstr>
      <vt:lpstr>Calibri</vt:lpstr>
      <vt:lpstr>Symbol</vt:lpstr>
      <vt:lpstr>Tahoma</vt:lpstr>
      <vt:lpstr>Trebuchet MS</vt:lpstr>
      <vt:lpstr>Wingdings</vt:lpstr>
      <vt:lpstr>Wingdings 3</vt:lpstr>
      <vt:lpstr>Office Theme</vt:lpstr>
      <vt:lpstr>Office Theme</vt:lpstr>
      <vt:lpstr>Office Theme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Таблица цветов масла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>Carlo Scavezzon</dc:creator>
  <dc:description/>
  <cp:lastModifiedBy>Аксютова Светлана Иосифовна</cp:lastModifiedBy>
  <cp:revision>111</cp:revision>
  <dcterms:created xsi:type="dcterms:W3CDTF">2018-07-24T08:27:54Z</dcterms:created>
  <dcterms:modified xsi:type="dcterms:W3CDTF">2021-07-14T12:18:19Z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