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notesMasterIdLst>
    <p:notesMasterId r:id="rId45"/>
  </p:notesMasterIdLst>
  <p:handoutMasterIdLst>
    <p:handoutMasterId r:id="rId46"/>
  </p:handoutMasterIdLst>
  <p:sldIdLst>
    <p:sldId id="520" r:id="rId2"/>
    <p:sldId id="522" r:id="rId3"/>
    <p:sldId id="523" r:id="rId4"/>
    <p:sldId id="524" r:id="rId5"/>
    <p:sldId id="526" r:id="rId6"/>
    <p:sldId id="527" r:id="rId7"/>
    <p:sldId id="528" r:id="rId8"/>
    <p:sldId id="531" r:id="rId9"/>
    <p:sldId id="532" r:id="rId10"/>
    <p:sldId id="534" r:id="rId11"/>
    <p:sldId id="535" r:id="rId12"/>
    <p:sldId id="538" r:id="rId13"/>
    <p:sldId id="539" r:id="rId14"/>
    <p:sldId id="434" r:id="rId15"/>
    <p:sldId id="490" r:id="rId16"/>
    <p:sldId id="492" r:id="rId17"/>
    <p:sldId id="486" r:id="rId18"/>
    <p:sldId id="487" r:id="rId19"/>
    <p:sldId id="543" r:id="rId20"/>
    <p:sldId id="488" r:id="rId21"/>
    <p:sldId id="493" r:id="rId22"/>
    <p:sldId id="495" r:id="rId23"/>
    <p:sldId id="496" r:id="rId24"/>
    <p:sldId id="497" r:id="rId25"/>
    <p:sldId id="498" r:id="rId26"/>
    <p:sldId id="501" r:id="rId27"/>
    <p:sldId id="502" r:id="rId28"/>
    <p:sldId id="503" r:id="rId29"/>
    <p:sldId id="504" r:id="rId30"/>
    <p:sldId id="505" r:id="rId31"/>
    <p:sldId id="506" r:id="rId32"/>
    <p:sldId id="507" r:id="rId33"/>
    <p:sldId id="508" r:id="rId34"/>
    <p:sldId id="509" r:id="rId35"/>
    <p:sldId id="510" r:id="rId36"/>
    <p:sldId id="511" r:id="rId37"/>
    <p:sldId id="512" r:id="rId38"/>
    <p:sldId id="514" r:id="rId39"/>
    <p:sldId id="515" r:id="rId40"/>
    <p:sldId id="516" r:id="rId41"/>
    <p:sldId id="517" r:id="rId42"/>
    <p:sldId id="518" r:id="rId43"/>
    <p:sldId id="372" r:id="rId44"/>
  </p:sldIdLst>
  <p:sldSz cx="12192000" cy="6858000"/>
  <p:notesSz cx="6797675" cy="9926638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00FF"/>
    <a:srgbClr val="0066FF"/>
    <a:srgbClr val="0000CC"/>
    <a:srgbClr val="FFFF99"/>
    <a:srgbClr val="320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7" autoAdjust="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D5406-97FC-425B-96FC-DA28F32054D4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3ED747B-0183-404D-8F92-654569996761}">
      <dgm:prSet phldrT="[Testo]"/>
      <dgm:spPr>
        <a:solidFill>
          <a:srgbClr val="00B0F0"/>
        </a:solidFill>
      </dgm:spPr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Продукты на водной основе</a:t>
          </a:r>
          <a:endParaRPr lang="en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endParaRPr lang="it-IT" dirty="0"/>
        </a:p>
      </dgm:t>
    </dgm:pt>
    <dgm:pt modelId="{457967C9-C5F3-499B-90E2-A06576531EAE}" type="parTrans" cxnId="{BF86AAE7-9CA2-4CD6-AF3A-ECA71868B952}">
      <dgm:prSet/>
      <dgm:spPr/>
      <dgm:t>
        <a:bodyPr/>
        <a:lstStyle/>
        <a:p>
          <a:endParaRPr lang="it-IT"/>
        </a:p>
      </dgm:t>
    </dgm:pt>
    <dgm:pt modelId="{1F6FD1F9-D089-4E74-B79E-A04C913ADD09}" type="sibTrans" cxnId="{BF86AAE7-9CA2-4CD6-AF3A-ECA71868B952}">
      <dgm:prSet/>
      <dgm:spPr/>
      <dgm:t>
        <a:bodyPr/>
        <a:lstStyle/>
        <a:p>
          <a:endParaRPr lang="it-IT"/>
        </a:p>
      </dgm:t>
    </dgm:pt>
    <dgm:pt modelId="{379BA694-21A7-4A70-B103-5385802F8802}" type="pres">
      <dgm:prSet presAssocID="{C71D5406-97FC-425B-96FC-DA28F32054D4}" presName="linear" presStyleCnt="0">
        <dgm:presLayoutVars>
          <dgm:animLvl val="lvl"/>
          <dgm:resizeHandles val="exact"/>
        </dgm:presLayoutVars>
      </dgm:prSet>
      <dgm:spPr/>
    </dgm:pt>
    <dgm:pt modelId="{29065502-649D-4185-BC5C-CC348B1E2BBA}" type="pres">
      <dgm:prSet presAssocID="{A3ED747B-0183-404D-8F92-654569996761}" presName="parentText" presStyleLbl="node1" presStyleIdx="0" presStyleCnt="1" custLinFactNeighborX="860" custLinFactNeighborY="-29788">
        <dgm:presLayoutVars>
          <dgm:chMax val="0"/>
          <dgm:bulletEnabled val="1"/>
        </dgm:presLayoutVars>
      </dgm:prSet>
      <dgm:spPr/>
    </dgm:pt>
  </dgm:ptLst>
  <dgm:cxnLst>
    <dgm:cxn modelId="{C6E3EED6-8D73-498B-ACC5-6911B0A99ECC}" type="presOf" srcId="{C71D5406-97FC-425B-96FC-DA28F32054D4}" destId="{379BA694-21A7-4A70-B103-5385802F8802}" srcOrd="0" destOrd="0" presId="urn:microsoft.com/office/officeart/2005/8/layout/vList2"/>
    <dgm:cxn modelId="{BDE5A7E1-E89E-4120-974A-C31FC7341401}" type="presOf" srcId="{A3ED747B-0183-404D-8F92-654569996761}" destId="{29065502-649D-4185-BC5C-CC348B1E2BBA}" srcOrd="0" destOrd="0" presId="urn:microsoft.com/office/officeart/2005/8/layout/vList2"/>
    <dgm:cxn modelId="{BF86AAE7-9CA2-4CD6-AF3A-ECA71868B952}" srcId="{C71D5406-97FC-425B-96FC-DA28F32054D4}" destId="{A3ED747B-0183-404D-8F92-654569996761}" srcOrd="0" destOrd="0" parTransId="{457967C9-C5F3-499B-90E2-A06576531EAE}" sibTransId="{1F6FD1F9-D089-4E74-B79E-A04C913ADD09}"/>
    <dgm:cxn modelId="{FAFBB600-98C0-4E0F-B59A-194F948915C6}" type="presParOf" srcId="{379BA694-21A7-4A70-B103-5385802F8802}" destId="{29065502-649D-4185-BC5C-CC348B1E2BB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65502-649D-4185-BC5C-CC348B1E2BBA}">
      <dsp:nvSpPr>
        <dsp:cNvPr id="0" name=""/>
        <dsp:cNvSpPr/>
      </dsp:nvSpPr>
      <dsp:spPr>
        <a:xfrm>
          <a:off x="0" y="0"/>
          <a:ext cx="8895483" cy="4030650"/>
        </a:xfrm>
        <a:prstGeom prst="roundRect">
          <a:avLst/>
        </a:prstGeom>
        <a:solidFill>
          <a:srgbClr val="00B0F0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Продукты на водной основе</a:t>
          </a:r>
          <a:endParaRPr lang="en" sz="6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500" kern="1200" dirty="0"/>
        </a:p>
      </dsp:txBody>
      <dsp:txXfrm>
        <a:off x="196760" y="196760"/>
        <a:ext cx="8501963" cy="3637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BB902-41EB-4901-A9DF-93912705CCD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3109058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5796273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485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9843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496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7920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0547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8328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6999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2862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678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919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8994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9987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57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0935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8979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3402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9636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527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84760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3139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2876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8601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6308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5583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654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95689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0931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4831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79714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6550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01253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5661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12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6163044"/>
            <a:ext cx="2438400" cy="60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2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197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36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369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155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84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0182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07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834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672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9087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374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3748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481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2471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235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D7C7D-CF1B-48AC-89FC-125A61C8FFEF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it-IT" smtClean="0"/>
              <a:t>‹#›</a:t>
            </a:fld>
            <a:endParaRPr lang="it-IT"/>
          </a:p>
        </p:txBody>
      </p:sp>
      <p:pic>
        <p:nvPicPr>
          <p:cNvPr id="30" name="Immagine 2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6163044"/>
            <a:ext cx="2438400" cy="60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8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4742601" y="699839"/>
            <a:ext cx="455684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ru-RU" altLang="it-IT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ПРЕЗЕНТАЦИЯ АССОРТИМЕНТА ПРОДУКЦИИ</a:t>
            </a:r>
          </a:p>
          <a:p>
            <a:pPr algn="r">
              <a:spcBef>
                <a:spcPct val="0"/>
              </a:spcBef>
            </a:pPr>
            <a:r>
              <a:rPr lang="it-IT" altLang="it-IT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POLISTUC METAL</a:t>
            </a:r>
          </a:p>
          <a:p>
            <a:pPr algn="r">
              <a:spcBef>
                <a:spcPct val="0"/>
              </a:spcBef>
            </a:pPr>
            <a:endParaRPr lang="it-IT" altLang="it-IT" sz="3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>
              <a:spcBef>
                <a:spcPct val="0"/>
              </a:spcBef>
            </a:pPr>
            <a:endParaRPr lang="it-IT" altLang="it-IT" sz="3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>
              <a:spcBef>
                <a:spcPct val="0"/>
              </a:spcBef>
            </a:pPr>
            <a:endParaRPr lang="it-IT" altLang="it-IT" sz="3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82" y="699839"/>
            <a:ext cx="4927450" cy="525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12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8"/>
          <p:cNvSpPr/>
          <p:nvPr/>
        </p:nvSpPr>
        <p:spPr>
          <a:xfrm>
            <a:off x="2855743" y="5688792"/>
            <a:ext cx="3725402" cy="40010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2000" dirty="0">
                <a:solidFill>
                  <a:srgbClr val="0070C0"/>
                </a:solidFill>
              </a:rPr>
              <a:t>С помощью ЛКМ</a:t>
            </a:r>
            <a:endParaRPr lang="it-IT" sz="2000" dirty="0">
              <a:solidFill>
                <a:srgbClr val="0070C0"/>
              </a:solidFill>
            </a:endParaRPr>
          </a:p>
        </p:txBody>
      </p:sp>
      <p:sp>
        <p:nvSpPr>
          <p:cNvPr id="15" name="Rettangolo 72"/>
          <p:cNvSpPr/>
          <p:nvPr/>
        </p:nvSpPr>
        <p:spPr>
          <a:xfrm>
            <a:off x="1902690" y="737039"/>
            <a:ext cx="6205867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Дерево </a:t>
            </a:r>
            <a:r>
              <a:rPr lang="it-IT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Vs  </a:t>
            </a:r>
            <a:r>
              <a:rPr lang="ru-RU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Метал</a:t>
            </a:r>
            <a:endParaRPr lang="it-IT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6" name="Connettore 2 29"/>
          <p:cNvCxnSpPr/>
          <p:nvPr/>
        </p:nvCxnSpPr>
        <p:spPr>
          <a:xfrm>
            <a:off x="4573428" y="5063388"/>
            <a:ext cx="7808" cy="51537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ttangolo 33"/>
          <p:cNvSpPr/>
          <p:nvPr/>
        </p:nvSpPr>
        <p:spPr>
          <a:xfrm>
            <a:off x="5971308" y="1529116"/>
            <a:ext cx="235906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it-IT" b="1" dirty="0">
                <a:solidFill>
                  <a:srgbClr val="0070C0"/>
                </a:solidFill>
              </a:rPr>
              <a:t>METAL</a:t>
            </a:r>
            <a:endParaRPr lang="it-IT" sz="1800" b="1" dirty="0">
              <a:solidFill>
                <a:srgbClr val="0070C0"/>
              </a:solidFill>
            </a:endParaRPr>
          </a:p>
        </p:txBody>
      </p:sp>
      <p:sp>
        <p:nvSpPr>
          <p:cNvPr id="18" name="Rettangolo 34"/>
          <p:cNvSpPr/>
          <p:nvPr/>
        </p:nvSpPr>
        <p:spPr>
          <a:xfrm>
            <a:off x="1089731" y="1529116"/>
            <a:ext cx="180213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Дерево</a:t>
            </a:r>
            <a:endParaRPr lang="it-IT" sz="1800" b="1" dirty="0">
              <a:solidFill>
                <a:srgbClr val="0070C0"/>
              </a:solidFill>
            </a:endParaRPr>
          </a:p>
        </p:txBody>
      </p:sp>
      <p:sp>
        <p:nvSpPr>
          <p:cNvPr id="19" name="Rettangolo 36"/>
          <p:cNvSpPr/>
          <p:nvPr/>
        </p:nvSpPr>
        <p:spPr>
          <a:xfrm>
            <a:off x="6132386" y="1966479"/>
            <a:ext cx="1921174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Инертный материал</a:t>
            </a:r>
            <a:endParaRPr lang="it-IT" sz="1800" dirty="0">
              <a:solidFill>
                <a:srgbClr val="0070C0"/>
              </a:solidFill>
            </a:endParaRPr>
          </a:p>
        </p:txBody>
      </p:sp>
      <p:cxnSp>
        <p:nvCxnSpPr>
          <p:cNvPr id="20" name="Connettore 2 38"/>
          <p:cNvCxnSpPr/>
          <p:nvPr/>
        </p:nvCxnSpPr>
        <p:spPr>
          <a:xfrm>
            <a:off x="1643250" y="3587349"/>
            <a:ext cx="1765308" cy="99215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ettangolo 40"/>
          <p:cNvSpPr/>
          <p:nvPr/>
        </p:nvSpPr>
        <p:spPr>
          <a:xfrm>
            <a:off x="6107849" y="2582397"/>
            <a:ext cx="1970248" cy="120032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В уличных условиях подвергается коррозии</a:t>
            </a:r>
            <a:endParaRPr lang="it-IT" sz="1800" dirty="0">
              <a:solidFill>
                <a:srgbClr val="0070C0"/>
              </a:solidFill>
            </a:endParaRPr>
          </a:p>
        </p:txBody>
      </p:sp>
      <p:cxnSp>
        <p:nvCxnSpPr>
          <p:cNvPr id="22" name="Connettore 2 48"/>
          <p:cNvCxnSpPr>
            <a:stCxn id="21" idx="2"/>
          </p:cNvCxnSpPr>
          <p:nvPr/>
        </p:nvCxnSpPr>
        <p:spPr>
          <a:xfrm flipH="1">
            <a:off x="5875186" y="3782722"/>
            <a:ext cx="1217787" cy="85168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ttangolo 56"/>
          <p:cNvSpPr/>
          <p:nvPr/>
        </p:nvSpPr>
        <p:spPr>
          <a:xfrm>
            <a:off x="747939" y="2205337"/>
            <a:ext cx="2448701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Это «живой» материал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24" name="Rettangolo 30"/>
          <p:cNvSpPr/>
          <p:nvPr/>
        </p:nvSpPr>
        <p:spPr>
          <a:xfrm>
            <a:off x="735806" y="2725857"/>
            <a:ext cx="2448701" cy="923326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Подвержен разрушению в уличных условиях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25" name="Rettangolo 31"/>
          <p:cNvSpPr/>
          <p:nvPr/>
        </p:nvSpPr>
        <p:spPr>
          <a:xfrm>
            <a:off x="3426484" y="4314907"/>
            <a:ext cx="2448701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Оба нуждаются в защите</a:t>
            </a:r>
            <a:endParaRPr lang="it-IT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8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it-IT" dirty="0"/>
              <a:t>«</a:t>
            </a:r>
            <a:r>
              <a:rPr lang="ru-RU" dirty="0"/>
              <a:t>НЕ защищенных » поверхностей</a:t>
            </a:r>
            <a:endParaRPr lang="it-IT" dirty="0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5846" y="2534931"/>
            <a:ext cx="3881438" cy="2911078"/>
          </a:xfrm>
        </p:spPr>
      </p:pic>
      <p:pic>
        <p:nvPicPr>
          <p:cNvPr id="1026" name="Picture 2" descr="Risultati immagini per protezione del leg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4" y="2049750"/>
            <a:ext cx="3873697" cy="256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84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46" y="4854237"/>
            <a:ext cx="2857899" cy="1898256"/>
          </a:xfrm>
          <a:prstGeom prst="rect">
            <a:avLst/>
          </a:prstGeom>
        </p:spPr>
      </p:pic>
      <p:sp>
        <p:nvSpPr>
          <p:cNvPr id="24" name="Rettangolo 72"/>
          <p:cNvSpPr/>
          <p:nvPr/>
        </p:nvSpPr>
        <p:spPr>
          <a:xfrm>
            <a:off x="1902690" y="737039"/>
            <a:ext cx="6205867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Зачем окрашивать изделие</a:t>
            </a:r>
            <a:r>
              <a:rPr lang="it-IT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?</a:t>
            </a:r>
          </a:p>
        </p:txBody>
      </p:sp>
      <p:sp>
        <p:nvSpPr>
          <p:cNvPr id="26" name="Rettangolo 33"/>
          <p:cNvSpPr/>
          <p:nvPr/>
        </p:nvSpPr>
        <p:spPr>
          <a:xfrm>
            <a:off x="5555672" y="1529116"/>
            <a:ext cx="235906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Метал</a:t>
            </a:r>
            <a:endParaRPr lang="it-IT" sz="1800" b="1" dirty="0">
              <a:solidFill>
                <a:srgbClr val="0070C0"/>
              </a:solidFill>
            </a:endParaRPr>
          </a:p>
        </p:txBody>
      </p:sp>
      <p:sp>
        <p:nvSpPr>
          <p:cNvPr id="27" name="Rettangolo 34"/>
          <p:cNvSpPr/>
          <p:nvPr/>
        </p:nvSpPr>
        <p:spPr>
          <a:xfrm>
            <a:off x="1071223" y="1529116"/>
            <a:ext cx="180213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Дерево</a:t>
            </a:r>
            <a:endParaRPr lang="it-IT" sz="1800" b="1" dirty="0">
              <a:solidFill>
                <a:srgbClr val="0070C0"/>
              </a:solidFill>
            </a:endParaRPr>
          </a:p>
        </p:txBody>
      </p:sp>
      <p:sp>
        <p:nvSpPr>
          <p:cNvPr id="29" name="Rettangolo 36"/>
          <p:cNvSpPr/>
          <p:nvPr/>
        </p:nvSpPr>
        <p:spPr>
          <a:xfrm>
            <a:off x="5555672" y="2036684"/>
            <a:ext cx="1921174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Защита от коррозии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30" name="Rettangolo 40"/>
          <p:cNvSpPr/>
          <p:nvPr/>
        </p:nvSpPr>
        <p:spPr>
          <a:xfrm>
            <a:off x="5531135" y="2905537"/>
            <a:ext cx="1970248" cy="923326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Эстетические характеристики не так важны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33" name="Rettangolo 56"/>
          <p:cNvSpPr/>
          <p:nvPr/>
        </p:nvSpPr>
        <p:spPr>
          <a:xfrm>
            <a:off x="747936" y="3044036"/>
            <a:ext cx="2448701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Защита от старения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36" name="Rettangolo 30"/>
          <p:cNvSpPr/>
          <p:nvPr/>
        </p:nvSpPr>
        <p:spPr>
          <a:xfrm>
            <a:off x="747936" y="2041024"/>
            <a:ext cx="2448701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Эстетические характеристики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39" name="Rettangolo 31"/>
          <p:cNvSpPr/>
          <p:nvPr/>
        </p:nvSpPr>
        <p:spPr>
          <a:xfrm>
            <a:off x="747936" y="3543679"/>
            <a:ext cx="2448701" cy="120032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Украсить и повысить эксплуатационные характеристики, в целом.</a:t>
            </a:r>
            <a:endParaRPr lang="it-IT" sz="1800" dirty="0">
              <a:solidFill>
                <a:srgbClr val="0070C0"/>
              </a:solidFill>
            </a:endParaRPr>
          </a:p>
        </p:txBody>
      </p:sp>
      <p:sp>
        <p:nvSpPr>
          <p:cNvPr id="40" name="Rettangolo 13"/>
          <p:cNvSpPr/>
          <p:nvPr/>
        </p:nvSpPr>
        <p:spPr>
          <a:xfrm>
            <a:off x="5555672" y="4256166"/>
            <a:ext cx="2423605" cy="923326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Защитить от </a:t>
            </a:r>
            <a:r>
              <a:rPr lang="ru-RU" dirty="0">
                <a:solidFill>
                  <a:srgbClr val="FF0000"/>
                </a:solidFill>
              </a:rPr>
              <a:t>коррозии </a:t>
            </a:r>
            <a:r>
              <a:rPr lang="ru-RU" dirty="0">
                <a:solidFill>
                  <a:srgbClr val="0070C0"/>
                </a:solidFill>
              </a:rPr>
              <a:t>и увеличить срок эксплуатации</a:t>
            </a:r>
            <a:endParaRPr lang="it-IT" dirty="0">
              <a:solidFill>
                <a:srgbClr val="0070C0"/>
              </a:solidFill>
            </a:endParaRPr>
          </a:p>
        </p:txBody>
      </p:sp>
      <p:cxnSp>
        <p:nvCxnSpPr>
          <p:cNvPr id="42" name="Connettore diritto 9"/>
          <p:cNvCxnSpPr>
            <a:stCxn id="26" idx="1"/>
          </p:cNvCxnSpPr>
          <p:nvPr/>
        </p:nvCxnSpPr>
        <p:spPr>
          <a:xfrm flipH="1">
            <a:off x="5320145" y="1713780"/>
            <a:ext cx="2355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diritto 14"/>
          <p:cNvCxnSpPr/>
          <p:nvPr/>
        </p:nvCxnSpPr>
        <p:spPr>
          <a:xfrm>
            <a:off x="5320145" y="1713780"/>
            <a:ext cx="27710" cy="3004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17"/>
          <p:cNvCxnSpPr>
            <a:endCxn id="40" idx="1"/>
          </p:cNvCxnSpPr>
          <p:nvPr/>
        </p:nvCxnSpPr>
        <p:spPr>
          <a:xfrm flipV="1">
            <a:off x="5347855" y="4717829"/>
            <a:ext cx="207817" cy="7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21"/>
          <p:cNvCxnSpPr>
            <a:stCxn id="27" idx="3"/>
          </p:cNvCxnSpPr>
          <p:nvPr/>
        </p:nvCxnSpPr>
        <p:spPr>
          <a:xfrm>
            <a:off x="2873358" y="1713780"/>
            <a:ext cx="5588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24"/>
          <p:cNvCxnSpPr>
            <a:stCxn id="39" idx="3"/>
          </p:cNvCxnSpPr>
          <p:nvPr/>
        </p:nvCxnSpPr>
        <p:spPr>
          <a:xfrm flipV="1">
            <a:off x="3196637" y="4143841"/>
            <a:ext cx="23552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diritto 27"/>
          <p:cNvCxnSpPr/>
          <p:nvPr/>
        </p:nvCxnSpPr>
        <p:spPr>
          <a:xfrm>
            <a:off x="3432164" y="1713780"/>
            <a:ext cx="0" cy="2329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37"/>
          <p:cNvCxnSpPr>
            <a:stCxn id="36" idx="3"/>
          </p:cNvCxnSpPr>
          <p:nvPr/>
        </p:nvCxnSpPr>
        <p:spPr>
          <a:xfrm>
            <a:off x="3196637" y="2364188"/>
            <a:ext cx="235527" cy="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diritto 42"/>
          <p:cNvCxnSpPr>
            <a:stCxn id="33" idx="3"/>
          </p:cNvCxnSpPr>
          <p:nvPr/>
        </p:nvCxnSpPr>
        <p:spPr>
          <a:xfrm>
            <a:off x="3196637" y="3228700"/>
            <a:ext cx="235527" cy="4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44"/>
          <p:cNvCxnSpPr>
            <a:stCxn id="29" idx="1"/>
          </p:cNvCxnSpPr>
          <p:nvPr/>
        </p:nvCxnSpPr>
        <p:spPr>
          <a:xfrm flipH="1">
            <a:off x="5320146" y="2359848"/>
            <a:ext cx="235526" cy="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8"/>
          <p:cNvCxnSpPr>
            <a:endCxn id="30" idx="1"/>
          </p:cNvCxnSpPr>
          <p:nvPr/>
        </p:nvCxnSpPr>
        <p:spPr>
          <a:xfrm flipV="1">
            <a:off x="5347855" y="3367200"/>
            <a:ext cx="183280" cy="46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003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o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tx1"/>
                </a:solidFill>
              </a:rPr>
              <a:t>Подготовка поверхности</a:t>
            </a:r>
            <a:endParaRPr lang="it-IT" sz="4000" b="1" dirty="0">
              <a:solidFill>
                <a:schemeClr val="tx1"/>
              </a:solidFill>
            </a:endParaRPr>
          </a:p>
        </p:txBody>
      </p:sp>
      <p:sp>
        <p:nvSpPr>
          <p:cNvPr id="28" name="Segnaposto contenuto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212121"/>
                </a:solidFill>
                <a:latin typeface="inherit"/>
              </a:rPr>
              <a:t>Хорошая подготовка поверхности гарантирует отличную адгезию и, следовательно, все остальные требуемые покрасочным циклом эксплуатационные характеристики</a:t>
            </a:r>
            <a:r>
              <a:rPr lang="en-US" dirty="0">
                <a:solidFill>
                  <a:srgbClr val="212121"/>
                </a:solidFill>
                <a:latin typeface="inherit"/>
              </a:rPr>
              <a:t>.</a:t>
            </a:r>
          </a:p>
          <a:p>
            <a:endParaRPr lang="en-US" dirty="0">
              <a:solidFill>
                <a:srgbClr val="212121"/>
              </a:solidFill>
              <a:latin typeface="inherit"/>
            </a:endParaRPr>
          </a:p>
          <a:p>
            <a:endParaRPr lang="en-US" dirty="0">
              <a:solidFill>
                <a:srgbClr val="212121"/>
              </a:solidFill>
              <a:latin typeface="inheri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12121"/>
                </a:solidFill>
                <a:latin typeface="inherit"/>
              </a:rPr>
              <a:t>							</a:t>
            </a:r>
            <a:endParaRPr lang="it-IT" dirty="0">
              <a:solidFill>
                <a:srgbClr val="212121"/>
              </a:solidFill>
              <a:latin typeface="inherit"/>
            </a:endParaRPr>
          </a:p>
        </p:txBody>
      </p:sp>
      <p:sp>
        <p:nvSpPr>
          <p:cNvPr id="29" name="Rettangolo 3"/>
          <p:cNvSpPr/>
          <p:nvPr/>
        </p:nvSpPr>
        <p:spPr>
          <a:xfrm>
            <a:off x="1025582" y="3106029"/>
            <a:ext cx="1330037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Дерево</a:t>
            </a:r>
            <a:endParaRPr lang="it-IT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ttangolo 5"/>
          <p:cNvSpPr/>
          <p:nvPr/>
        </p:nvSpPr>
        <p:spPr>
          <a:xfrm>
            <a:off x="3456718" y="3106029"/>
            <a:ext cx="1330037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Метал</a:t>
            </a:r>
            <a:endParaRPr lang="it-IT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ttangolo 6"/>
          <p:cNvSpPr/>
          <p:nvPr/>
        </p:nvSpPr>
        <p:spPr>
          <a:xfrm>
            <a:off x="1025583" y="4338168"/>
            <a:ext cx="1330037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212121"/>
                </a:solidFill>
                <a:latin typeface="inherit"/>
              </a:rPr>
              <a:t>Шлифовка</a:t>
            </a:r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ttangolo 7"/>
          <p:cNvSpPr/>
          <p:nvPr/>
        </p:nvSpPr>
        <p:spPr>
          <a:xfrm>
            <a:off x="3088888" y="4329096"/>
            <a:ext cx="1888069" cy="1759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212121"/>
                </a:solidFill>
                <a:latin typeface="inherit"/>
              </a:rPr>
              <a:t>Шлифовка</a:t>
            </a:r>
            <a:r>
              <a:rPr lang="en-US" dirty="0">
                <a:solidFill>
                  <a:srgbClr val="212121"/>
                </a:solidFill>
                <a:latin typeface="inherit"/>
              </a:rPr>
              <a:t>, </a:t>
            </a:r>
            <a:r>
              <a:rPr lang="ru-RU" dirty="0">
                <a:solidFill>
                  <a:srgbClr val="212121"/>
                </a:solidFill>
                <a:latin typeface="inherit"/>
              </a:rPr>
              <a:t>пескоструйная обработка, замывка разбавителями</a:t>
            </a:r>
            <a:endParaRPr lang="it-IT" dirty="0">
              <a:solidFill>
                <a:srgbClr val="212121"/>
              </a:solidFill>
              <a:latin typeface="inherit"/>
            </a:endParaRPr>
          </a:p>
        </p:txBody>
      </p:sp>
      <p:cxnSp>
        <p:nvCxnSpPr>
          <p:cNvPr id="34" name="Connettore 2 13"/>
          <p:cNvCxnSpPr>
            <a:stCxn id="30" idx="2"/>
          </p:cNvCxnSpPr>
          <p:nvPr/>
        </p:nvCxnSpPr>
        <p:spPr>
          <a:xfrm flipH="1">
            <a:off x="4121736" y="3577083"/>
            <a:ext cx="1" cy="752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16"/>
          <p:cNvCxnSpPr>
            <a:stCxn id="29" idx="2"/>
            <a:endCxn id="32" idx="0"/>
          </p:cNvCxnSpPr>
          <p:nvPr/>
        </p:nvCxnSpPr>
        <p:spPr>
          <a:xfrm>
            <a:off x="1690601" y="3577083"/>
            <a:ext cx="1" cy="7610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ttangolo 22"/>
          <p:cNvSpPr/>
          <p:nvPr/>
        </p:nvSpPr>
        <p:spPr>
          <a:xfrm>
            <a:off x="5610803" y="4573695"/>
            <a:ext cx="3232113" cy="798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212121"/>
                </a:solidFill>
                <a:latin typeface="inherit"/>
              </a:rPr>
              <a:t>Различная подготовка для разных Типов металла</a:t>
            </a:r>
            <a:endParaRPr lang="it-IT" dirty="0">
              <a:solidFill>
                <a:srgbClr val="212121"/>
              </a:solidFill>
              <a:latin typeface="inherit"/>
            </a:endParaRPr>
          </a:p>
        </p:txBody>
      </p:sp>
      <p:cxnSp>
        <p:nvCxnSpPr>
          <p:cNvPr id="37" name="Connettore 2 30"/>
          <p:cNvCxnSpPr>
            <a:stCxn id="33" idx="3"/>
            <a:endCxn id="36" idx="1"/>
          </p:cNvCxnSpPr>
          <p:nvPr/>
        </p:nvCxnSpPr>
        <p:spPr>
          <a:xfrm flipV="1">
            <a:off x="4976957" y="4972808"/>
            <a:ext cx="633846" cy="2360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616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22" y="1611399"/>
            <a:ext cx="2324100" cy="1971675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116" y="2821160"/>
            <a:ext cx="2438400" cy="1524000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982" y="419279"/>
            <a:ext cx="2590800" cy="1762125"/>
          </a:xfrm>
          <a:prstGeom prst="rect">
            <a:avLst/>
          </a:prstGeom>
        </p:spPr>
      </p:pic>
      <p:sp>
        <p:nvSpPr>
          <p:cNvPr id="15" name="CasellaDiTesto 3"/>
          <p:cNvSpPr txBox="1"/>
          <p:nvPr/>
        </p:nvSpPr>
        <p:spPr>
          <a:xfrm>
            <a:off x="475672" y="295563"/>
            <a:ext cx="4000390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/>
              <a:t>Типы поверхностей - Характеристики</a:t>
            </a:r>
            <a:endParaRPr lang="it-IT" dirty="0"/>
          </a:p>
        </p:txBody>
      </p:sp>
      <p:sp>
        <p:nvSpPr>
          <p:cNvPr id="16" name="CasellaDiTesto 5"/>
          <p:cNvSpPr txBox="1"/>
          <p:nvPr/>
        </p:nvSpPr>
        <p:spPr>
          <a:xfrm>
            <a:off x="653408" y="2121917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Дешевая</a:t>
            </a:r>
            <a:endParaRPr lang="it-IT" dirty="0"/>
          </a:p>
        </p:txBody>
      </p:sp>
      <p:sp>
        <p:nvSpPr>
          <p:cNvPr id="17" name="CasellaDiTesto 6"/>
          <p:cNvSpPr txBox="1"/>
          <p:nvPr/>
        </p:nvSpPr>
        <p:spPr>
          <a:xfrm>
            <a:off x="653408" y="2553671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Легко поддается окраске</a:t>
            </a:r>
            <a:endParaRPr lang="it-IT" dirty="0"/>
          </a:p>
        </p:txBody>
      </p:sp>
      <p:sp>
        <p:nvSpPr>
          <p:cNvPr id="18" name="CasellaDiTesto 9"/>
          <p:cNvSpPr txBox="1"/>
          <p:nvPr/>
        </p:nvSpPr>
        <p:spPr>
          <a:xfrm>
            <a:off x="653408" y="2923003"/>
            <a:ext cx="3007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Легко поддается коррозии</a:t>
            </a:r>
            <a:endParaRPr lang="it-IT" dirty="0"/>
          </a:p>
        </p:txBody>
      </p:sp>
      <p:sp>
        <p:nvSpPr>
          <p:cNvPr id="19" name="CasellaDiTesto 10"/>
          <p:cNvSpPr txBox="1"/>
          <p:nvPr/>
        </p:nvSpPr>
        <p:spPr>
          <a:xfrm>
            <a:off x="651975" y="3232513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Содержит примеси</a:t>
            </a:r>
            <a:endParaRPr lang="it-IT" dirty="0"/>
          </a:p>
        </p:txBody>
      </p:sp>
      <p:sp>
        <p:nvSpPr>
          <p:cNvPr id="20" name="CasellaDiTesto 4"/>
          <p:cNvSpPr txBox="1"/>
          <p:nvPr/>
        </p:nvSpPr>
        <p:spPr>
          <a:xfrm>
            <a:off x="485894" y="1413164"/>
            <a:ext cx="175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Железо</a:t>
            </a:r>
            <a:endParaRPr lang="it-IT" sz="3600" b="1" dirty="0"/>
          </a:p>
        </p:txBody>
      </p:sp>
      <p:sp>
        <p:nvSpPr>
          <p:cNvPr id="21" name="CasellaDiTesto 7"/>
          <p:cNvSpPr txBox="1"/>
          <p:nvPr/>
        </p:nvSpPr>
        <p:spPr>
          <a:xfrm>
            <a:off x="651975" y="3719304"/>
            <a:ext cx="4193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Углеродистая сталь</a:t>
            </a:r>
            <a:endParaRPr lang="it-IT" sz="3600" b="1" dirty="0"/>
          </a:p>
        </p:txBody>
      </p:sp>
      <p:sp>
        <p:nvSpPr>
          <p:cNvPr id="22" name="CasellaDiTesto 11"/>
          <p:cNvSpPr txBox="1"/>
          <p:nvPr/>
        </p:nvSpPr>
        <p:spPr>
          <a:xfrm>
            <a:off x="653409" y="4502193"/>
            <a:ext cx="8756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Сплав железа с низким содержанием углерода</a:t>
            </a:r>
            <a:r>
              <a:rPr lang="it-IT" dirty="0"/>
              <a:t>. </a:t>
            </a:r>
            <a:r>
              <a:rPr lang="ru-RU" dirty="0"/>
              <a:t>Свыше </a:t>
            </a:r>
            <a:r>
              <a:rPr lang="it-IT" dirty="0"/>
              <a:t>2,06%</a:t>
            </a:r>
            <a:r>
              <a:rPr lang="ru-RU" dirty="0"/>
              <a:t> С материал называется Чугуном</a:t>
            </a:r>
            <a:endParaRPr lang="it-IT" dirty="0"/>
          </a:p>
        </p:txBody>
      </p:sp>
      <p:sp>
        <p:nvSpPr>
          <p:cNvPr id="23" name="CasellaDiTesto 12"/>
          <p:cNvSpPr txBox="1"/>
          <p:nvPr/>
        </p:nvSpPr>
        <p:spPr>
          <a:xfrm>
            <a:off x="653408" y="5098060"/>
            <a:ext cx="5642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Структурные характеристики металла зависят от </a:t>
            </a:r>
            <a:r>
              <a:rPr lang="en-US" dirty="0"/>
              <a:t>%</a:t>
            </a:r>
            <a:r>
              <a:rPr lang="ru-RU" dirty="0"/>
              <a:t> С</a:t>
            </a:r>
            <a:r>
              <a:rPr lang="en-US" dirty="0"/>
              <a:t>.</a:t>
            </a:r>
            <a:endParaRPr lang="it-IT" dirty="0"/>
          </a:p>
        </p:txBody>
      </p:sp>
      <p:sp>
        <p:nvSpPr>
          <p:cNvPr id="24" name="CasellaDiTesto 13"/>
          <p:cNvSpPr txBox="1"/>
          <p:nvPr/>
        </p:nvSpPr>
        <p:spPr>
          <a:xfrm>
            <a:off x="653408" y="5516420"/>
            <a:ext cx="803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</a:t>
            </a:r>
            <a:r>
              <a:rPr lang="en-US" dirty="0"/>
              <a:t> </a:t>
            </a:r>
            <a:r>
              <a:rPr lang="ru-RU" dirty="0"/>
              <a:t>Металл называется нержавеющей сталью, если в нем присутствует </a:t>
            </a:r>
            <a:r>
              <a:rPr lang="en-US" dirty="0"/>
              <a:t>% </a:t>
            </a:r>
            <a:r>
              <a:rPr lang="ru-RU" dirty="0"/>
              <a:t>Хрома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029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182" y="3417454"/>
            <a:ext cx="2699327" cy="3188855"/>
          </a:xfrm>
          <a:prstGeom prst="rect">
            <a:avLst/>
          </a:prstGeom>
        </p:spPr>
      </p:pic>
      <p:pic>
        <p:nvPicPr>
          <p:cNvPr id="6" name="Segnaposto contenuto 4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4068979"/>
            <a:ext cx="3383107" cy="2537330"/>
          </a:xfrm>
        </p:spPr>
      </p:pic>
      <p:sp>
        <p:nvSpPr>
          <p:cNvPr id="7" name="Rettangolo 72"/>
          <p:cNvSpPr/>
          <p:nvPr/>
        </p:nvSpPr>
        <p:spPr>
          <a:xfrm>
            <a:off x="2008953" y="232489"/>
            <a:ext cx="6233532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Железо</a:t>
            </a:r>
            <a:r>
              <a:rPr lang="it-IT" dirty="0">
                <a:solidFill>
                  <a:srgbClr val="0070C0"/>
                </a:solidFill>
              </a:rPr>
              <a:t>– </a:t>
            </a:r>
            <a:r>
              <a:rPr lang="ru-RU" dirty="0">
                <a:solidFill>
                  <a:srgbClr val="0070C0"/>
                </a:solidFill>
              </a:rPr>
              <a:t>Подготовка поверхности</a:t>
            </a:r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8" name="CasellaDiTesto 4"/>
          <p:cNvSpPr txBox="1"/>
          <p:nvPr/>
        </p:nvSpPr>
        <p:spPr>
          <a:xfrm>
            <a:off x="182275" y="878564"/>
            <a:ext cx="95527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it-IT" dirty="0">
                <a:solidFill>
                  <a:srgbClr val="212121"/>
                </a:solidFill>
                <a:latin typeface="inherit"/>
              </a:rPr>
              <a:t>Цель состоит в том, чтобы удалить ржавчину и любые следы загрязнений, оставшихся от предыдущей обработки.</a:t>
            </a:r>
            <a:endParaRPr lang="en-US" altLang="it-IT" dirty="0">
              <a:solidFill>
                <a:srgbClr val="212121"/>
              </a:solidFill>
              <a:latin typeface="inherit"/>
            </a:endParaRPr>
          </a:p>
          <a:p>
            <a:r>
              <a:rPr lang="ru-RU" altLang="it-IT" dirty="0">
                <a:solidFill>
                  <a:srgbClr val="212121"/>
                </a:solidFill>
                <a:latin typeface="inherit"/>
              </a:rPr>
              <a:t>Наиболее распространенными являются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ШЛИФОВКА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,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ЗАМЫВКА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и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ПЕСКОСТРУЙНАЯ обработка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.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 В процессе подготовки с поверхности удаляется грязь и иные несвязные частицы, при этом создаются участки \ точки за которые в дальнейшем будет «цепляться» лакокрасочный слой. Неполное удаление грязи и ржавчины препятствует образованию центром адгезии. Кроме того остаточная ржавчина содержит кислород и воду, которые способствуют коррозионному процессу на поверхности.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470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40" y="642123"/>
            <a:ext cx="3858847" cy="1935510"/>
          </a:xfrm>
          <a:prstGeom prst="rect">
            <a:avLst/>
          </a:prstGeom>
        </p:spPr>
      </p:pic>
      <p:sp>
        <p:nvSpPr>
          <p:cNvPr id="11" name="CasellaDiTesto 3"/>
          <p:cNvSpPr txBox="1"/>
          <p:nvPr/>
        </p:nvSpPr>
        <p:spPr>
          <a:xfrm>
            <a:off x="277697" y="175491"/>
            <a:ext cx="4011611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/>
              <a:t>Типы поверхностей - Характеристики</a:t>
            </a:r>
            <a:endParaRPr lang="it-IT" dirty="0"/>
          </a:p>
        </p:txBody>
      </p:sp>
      <p:sp>
        <p:nvSpPr>
          <p:cNvPr id="14" name="CasellaDiTesto 5"/>
          <p:cNvSpPr txBox="1"/>
          <p:nvPr/>
        </p:nvSpPr>
        <p:spPr>
          <a:xfrm>
            <a:off x="434109" y="1866489"/>
            <a:ext cx="191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Дешевые</a:t>
            </a:r>
            <a:endParaRPr lang="it-IT" dirty="0"/>
          </a:p>
        </p:txBody>
      </p:sp>
      <p:sp>
        <p:nvSpPr>
          <p:cNvPr id="15" name="Rettangolo 1"/>
          <p:cNvSpPr/>
          <p:nvPr/>
        </p:nvSpPr>
        <p:spPr>
          <a:xfrm>
            <a:off x="554182" y="354017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Горячая гальванизация (погружением) </a:t>
            </a:r>
            <a:r>
              <a:rPr lang="it-IT" dirty="0"/>
              <a:t>(</a:t>
            </a:r>
            <a:r>
              <a:rPr lang="ru-RU" dirty="0"/>
              <a:t>«новые» и «старые» металлы</a:t>
            </a:r>
            <a:r>
              <a:rPr lang="it-IT" dirty="0"/>
              <a:t>), </a:t>
            </a:r>
            <a:r>
              <a:rPr lang="ru-RU" dirty="0"/>
              <a:t>конструкционные элементы, фонарные столбы, поручни, ограждения, боковые панели и крыши контейнеров</a:t>
            </a:r>
            <a:r>
              <a:rPr lang="it-I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Электролитическая гальванизация</a:t>
            </a:r>
            <a:r>
              <a:rPr lang="it-IT" dirty="0"/>
              <a:t>: </a:t>
            </a:r>
            <a:r>
              <a:rPr lang="ru-RU" dirty="0"/>
              <a:t>листы, болты и другие компоненты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цинк-алюминиевая гальванизация </a:t>
            </a:r>
            <a:r>
              <a:rPr lang="it-IT" dirty="0"/>
              <a:t> (Sendzimir) </a:t>
            </a:r>
            <a:r>
              <a:rPr lang="ru-RU" dirty="0"/>
              <a:t>- листового металла, фасадных панелей.</a:t>
            </a:r>
            <a:endParaRPr lang="it-IT" dirty="0"/>
          </a:p>
        </p:txBody>
      </p:sp>
      <p:sp>
        <p:nvSpPr>
          <p:cNvPr id="16" name="CasellaDiTesto 8"/>
          <p:cNvSpPr txBox="1"/>
          <p:nvPr/>
        </p:nvSpPr>
        <p:spPr>
          <a:xfrm>
            <a:off x="378689" y="260049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«Стабильные»</a:t>
            </a:r>
            <a:endParaRPr lang="it-IT" dirty="0"/>
          </a:p>
        </p:txBody>
      </p:sp>
      <p:sp>
        <p:nvSpPr>
          <p:cNvPr id="17" name="CasellaDiTesto 11"/>
          <p:cNvSpPr txBox="1"/>
          <p:nvPr/>
        </p:nvSpPr>
        <p:spPr>
          <a:xfrm>
            <a:off x="434109" y="2208301"/>
            <a:ext cx="317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</a:t>
            </a:r>
            <a:r>
              <a:rPr lang="ru-RU" dirty="0"/>
              <a:t>Существуют различные виды</a:t>
            </a:r>
            <a:endParaRPr lang="it-IT" dirty="0"/>
          </a:p>
        </p:txBody>
      </p:sp>
      <p:sp>
        <p:nvSpPr>
          <p:cNvPr id="18" name="CasellaDiTesto 12"/>
          <p:cNvSpPr txBox="1"/>
          <p:nvPr/>
        </p:nvSpPr>
        <p:spPr>
          <a:xfrm>
            <a:off x="372757" y="2975617"/>
            <a:ext cx="606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b="1" dirty="0"/>
              <a:t>ОБЯЗАТЕЛЬНА КОРРЕКТНАЯ ПОДГОТОВКА поверхности</a:t>
            </a:r>
            <a:endParaRPr lang="it-IT" b="1" dirty="0"/>
          </a:p>
        </p:txBody>
      </p:sp>
      <p:sp>
        <p:nvSpPr>
          <p:cNvPr id="19" name="CasellaDiTesto 4"/>
          <p:cNvSpPr txBox="1"/>
          <p:nvPr/>
        </p:nvSpPr>
        <p:spPr>
          <a:xfrm>
            <a:off x="303114" y="692456"/>
            <a:ext cx="45894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Гальванизированные </a:t>
            </a:r>
          </a:p>
          <a:p>
            <a:r>
              <a:rPr lang="ru-RU" sz="3600" b="1" dirty="0"/>
              <a:t>поверхности</a:t>
            </a:r>
            <a:endParaRPr lang="it-IT" sz="3600" b="1" dirty="0"/>
          </a:p>
        </p:txBody>
      </p:sp>
    </p:spTree>
    <p:extLst>
      <p:ext uri="{BB962C8B-B14F-4D97-AF65-F5344CB8AC3E}">
        <p14:creationId xmlns:p14="http://schemas.microsoft.com/office/powerpoint/2010/main" val="779477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ttangolo 72"/>
          <p:cNvSpPr/>
          <p:nvPr/>
        </p:nvSpPr>
        <p:spPr>
          <a:xfrm>
            <a:off x="1935062" y="320933"/>
            <a:ext cx="6233532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Подготовка гальванизированных поверхностей</a:t>
            </a:r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7" name="CasellaDiTesto 4"/>
          <p:cNvSpPr txBox="1"/>
          <p:nvPr/>
        </p:nvSpPr>
        <p:spPr>
          <a:xfrm>
            <a:off x="145031" y="1398743"/>
            <a:ext cx="95082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Цель состоит в том, чтобы удалить оксидный слой и любые следы загрязнений, оставшихся от предыдущей обработки, в том числе соли после гальванизации.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Наиболее распространенные способы обработки это ШЛИФОВКА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и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ТРАВЛЕНИЕ разбавителями или кислотными очистителями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В процессе подготовки с поверхности удаляется грязь и иные несвязные частицы, при этом создаются участки \ точки за которые в дальнейшем будет «цепляться» лакокрасочный слой. Неполное удаление грязи и ржавчины препятствует образованию центром адгезии.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Для травления могут использоваться классические разбавители 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(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нитро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),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очистители на водной основе или кислотные очистители, такие как 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Polistuc </a:t>
            </a:r>
            <a:r>
              <a:rPr lang="it-IT" altLang="it-IT" b="1" dirty="0">
                <a:solidFill>
                  <a:srgbClr val="212121"/>
                </a:solidFill>
                <a:latin typeface="inherit"/>
              </a:rPr>
              <a:t>DPN425DN.</a:t>
            </a:r>
            <a:r>
              <a:rPr lang="it-IT" altLang="it-IT" sz="1600" b="1" dirty="0"/>
              <a:t> </a:t>
            </a:r>
            <a:endParaRPr lang="it-IT" altLang="it-IT" sz="2800" b="1" dirty="0">
              <a:latin typeface="Arial" panose="020B06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138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825" y="1456239"/>
            <a:ext cx="2952750" cy="1543050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785" y="4354763"/>
            <a:ext cx="2619375" cy="1743075"/>
          </a:xfrm>
          <a:prstGeom prst="rect">
            <a:avLst/>
          </a:prstGeom>
        </p:spPr>
      </p:pic>
      <p:sp>
        <p:nvSpPr>
          <p:cNvPr id="12" name="CasellaDiTesto 3"/>
          <p:cNvSpPr txBox="1"/>
          <p:nvPr/>
        </p:nvSpPr>
        <p:spPr>
          <a:xfrm>
            <a:off x="226291" y="15701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14" name="CasellaDiTesto 4"/>
          <p:cNvSpPr txBox="1"/>
          <p:nvPr/>
        </p:nvSpPr>
        <p:spPr>
          <a:xfrm>
            <a:off x="342426" y="1496367"/>
            <a:ext cx="2468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/>
              <a:t> </a:t>
            </a:r>
            <a:r>
              <a:rPr lang="ru-RU" sz="3600" b="1" dirty="0"/>
              <a:t>Алюминий</a:t>
            </a:r>
            <a:endParaRPr lang="it-IT" sz="3600" b="1" dirty="0"/>
          </a:p>
        </p:txBody>
      </p:sp>
      <p:sp>
        <p:nvSpPr>
          <p:cNvPr id="15" name="CasellaDiTesto 5"/>
          <p:cNvSpPr txBox="1"/>
          <p:nvPr/>
        </p:nvSpPr>
        <p:spPr>
          <a:xfrm>
            <a:off x="501038" y="2348139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Дорогой</a:t>
            </a:r>
            <a:endParaRPr lang="it-IT" dirty="0"/>
          </a:p>
        </p:txBody>
      </p:sp>
      <p:sp>
        <p:nvSpPr>
          <p:cNvPr id="16" name="CasellaDiTesto 6"/>
          <p:cNvSpPr txBox="1"/>
          <p:nvPr/>
        </p:nvSpPr>
        <p:spPr>
          <a:xfrm>
            <a:off x="523480" y="298341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Легкий</a:t>
            </a:r>
            <a:endParaRPr lang="it-IT" dirty="0"/>
          </a:p>
        </p:txBody>
      </p:sp>
      <p:sp>
        <p:nvSpPr>
          <p:cNvPr id="17" name="CasellaDiTesto 9"/>
          <p:cNvSpPr txBox="1"/>
          <p:nvPr/>
        </p:nvSpPr>
        <p:spPr>
          <a:xfrm>
            <a:off x="537992" y="3618689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Плохо поддается окислению</a:t>
            </a:r>
            <a:endParaRPr lang="it-IT" dirty="0"/>
          </a:p>
        </p:txBody>
      </p:sp>
      <p:sp>
        <p:nvSpPr>
          <p:cNvPr id="18" name="CasellaDiTesto 10"/>
          <p:cNvSpPr txBox="1"/>
          <p:nvPr/>
        </p:nvSpPr>
        <p:spPr>
          <a:xfrm>
            <a:off x="533182" y="4354763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Сложный в окраске</a:t>
            </a:r>
            <a:endParaRPr lang="it-IT" dirty="0"/>
          </a:p>
        </p:txBody>
      </p:sp>
      <p:sp>
        <p:nvSpPr>
          <p:cNvPr id="19" name="CasellaDiTesto 11"/>
          <p:cNvSpPr txBox="1"/>
          <p:nvPr/>
        </p:nvSpPr>
        <p:spPr>
          <a:xfrm>
            <a:off x="277697" y="175491"/>
            <a:ext cx="4011611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/>
              <a:t>Типы поверхностей - Характеристики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697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ttangolo 72"/>
          <p:cNvSpPr/>
          <p:nvPr/>
        </p:nvSpPr>
        <p:spPr>
          <a:xfrm>
            <a:off x="2110553" y="932811"/>
            <a:ext cx="5374501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Алюминий</a:t>
            </a:r>
            <a:r>
              <a:rPr lang="it-IT" dirty="0">
                <a:solidFill>
                  <a:srgbClr val="0070C0"/>
                </a:solidFill>
              </a:rPr>
              <a:t>– </a:t>
            </a:r>
            <a:r>
              <a:rPr lang="ru-RU" dirty="0">
                <a:solidFill>
                  <a:srgbClr val="0070C0"/>
                </a:solidFill>
              </a:rPr>
              <a:t>подготовка поверхности</a:t>
            </a:r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7" name="CasellaDiTesto 4"/>
          <p:cNvSpPr txBox="1"/>
          <p:nvPr/>
        </p:nvSpPr>
        <p:spPr>
          <a:xfrm>
            <a:off x="406812" y="1502861"/>
            <a:ext cx="923489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Цель состоит в том, чтобы удалить оксидный слой и любые следы загрязнений, оставшихся от предыдущей обработки, в том числе соли после гальванизации.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Наиболее распространенные способы обработки это ШЛИФОВКА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и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ТРАВЛЕНИЕ разбавителями или кислотными очистителями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В процессе подготовки с поверхности удаляется грязь и иные несвязные частицы, при этом создаются участки \ точки за которые в дальнейшем будет «цепляться» лакокрасочный слой. Неполное удаление грязи и ржавчины препятствует образованию центром адгезии.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dirty="0">
                <a:solidFill>
                  <a:srgbClr val="212121"/>
                </a:solidFill>
                <a:latin typeface="inherit"/>
              </a:rPr>
              <a:t>Для травления могут использоваться классические разбавители 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(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нитро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), </a:t>
            </a:r>
            <a:r>
              <a:rPr lang="ru-RU" altLang="it-IT" dirty="0" err="1">
                <a:solidFill>
                  <a:srgbClr val="212121"/>
                </a:solidFill>
                <a:latin typeface="inherit"/>
              </a:rPr>
              <a:t>ПАВы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 на водной основе или кислотные очистители, такие как </a:t>
            </a:r>
            <a:r>
              <a:rPr lang="it-IT" altLang="it-IT" dirty="0">
                <a:solidFill>
                  <a:srgbClr val="212121"/>
                </a:solidFill>
                <a:latin typeface="inherit"/>
              </a:rPr>
              <a:t>Polistuc </a:t>
            </a:r>
            <a:r>
              <a:rPr lang="it-IT" altLang="it-IT" b="1" dirty="0">
                <a:solidFill>
                  <a:srgbClr val="212121"/>
                </a:solidFill>
                <a:latin typeface="inherit"/>
              </a:rPr>
              <a:t>DPN425DN.</a:t>
            </a:r>
            <a:r>
              <a:rPr lang="it-IT" altLang="it-IT" sz="1600" b="1" dirty="0"/>
              <a:t> </a:t>
            </a:r>
            <a:endParaRPr lang="it-IT" altLang="it-IT" sz="28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600" dirty="0">
              <a:solidFill>
                <a:srgbClr val="212121"/>
              </a:solidFill>
              <a:latin typeface="inheri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it-IT" sz="1600" dirty="0">
                <a:solidFill>
                  <a:srgbClr val="212121"/>
                </a:solidFill>
                <a:latin typeface="inherit"/>
              </a:rPr>
              <a:t>Примечание </a:t>
            </a:r>
            <a:r>
              <a:rPr lang="it-IT" altLang="it-IT" sz="1600" dirty="0">
                <a:solidFill>
                  <a:srgbClr val="212121"/>
                </a:solidFill>
                <a:latin typeface="inherit"/>
              </a:rPr>
              <a:t>: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Анодированный алюминий не может быть окрашен напрямую</a:t>
            </a:r>
            <a:r>
              <a:rPr lang="en-US" altLang="it-IT" dirty="0">
                <a:solidFill>
                  <a:srgbClr val="212121"/>
                </a:solidFill>
                <a:latin typeface="inherit"/>
              </a:rPr>
              <a:t>.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en-US" altLang="it-IT" dirty="0">
                <a:solidFill>
                  <a:srgbClr val="212121"/>
                </a:solidFill>
                <a:latin typeface="inherit"/>
              </a:rPr>
              <a:t> 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В первую очередь анодирование должно быть механически удалено</a:t>
            </a:r>
            <a:r>
              <a:rPr lang="en-US" altLang="it-IT" dirty="0">
                <a:solidFill>
                  <a:srgbClr val="212121"/>
                </a:solidFill>
                <a:latin typeface="inherit"/>
              </a:rPr>
              <a:t> (</a:t>
            </a:r>
            <a:r>
              <a:rPr lang="ru-RU" altLang="it-IT" dirty="0">
                <a:solidFill>
                  <a:srgbClr val="212121"/>
                </a:solidFill>
                <a:latin typeface="inherit"/>
              </a:rPr>
              <a:t>шлифовка не металлическим абразивом</a:t>
            </a:r>
            <a:r>
              <a:rPr lang="en-US" altLang="it-IT" dirty="0">
                <a:solidFill>
                  <a:srgbClr val="212121"/>
                </a:solidFill>
                <a:latin typeface="inherit"/>
              </a:rPr>
              <a:t>).</a:t>
            </a:r>
            <a:endParaRPr lang="it-IT" altLang="it-IT" dirty="0">
              <a:solidFill>
                <a:srgbClr val="212121"/>
              </a:solidFill>
              <a:latin typeface="inherit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5205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4"/>
          <p:cNvSpPr txBox="1"/>
          <p:nvPr/>
        </p:nvSpPr>
        <p:spPr>
          <a:xfrm>
            <a:off x="528375" y="1092962"/>
            <a:ext cx="1840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Пластик</a:t>
            </a:r>
            <a:endParaRPr lang="it-IT" sz="3600" b="1" dirty="0"/>
          </a:p>
        </p:txBody>
      </p:sp>
      <p:sp>
        <p:nvSpPr>
          <p:cNvPr id="12" name="CasellaDiTesto 5"/>
          <p:cNvSpPr txBox="1"/>
          <p:nvPr/>
        </p:nvSpPr>
        <p:spPr>
          <a:xfrm>
            <a:off x="528375" y="205704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Очень разнообразная основа\природа</a:t>
            </a:r>
            <a:endParaRPr lang="it-IT" dirty="0"/>
          </a:p>
        </p:txBody>
      </p:sp>
      <p:sp>
        <p:nvSpPr>
          <p:cNvPr id="13" name="CasellaDiTesto 6"/>
          <p:cNvSpPr txBox="1"/>
          <p:nvPr/>
        </p:nvSpPr>
        <p:spPr>
          <a:xfrm>
            <a:off x="528375" y="2423312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Непостоянство состава</a:t>
            </a:r>
            <a:endParaRPr lang="it-IT" dirty="0"/>
          </a:p>
        </p:txBody>
      </p:sp>
      <p:sp>
        <p:nvSpPr>
          <p:cNvPr id="14" name="CasellaDiTesto 9"/>
          <p:cNvSpPr txBox="1"/>
          <p:nvPr/>
        </p:nvSpPr>
        <p:spPr>
          <a:xfrm>
            <a:off x="528375" y="2762749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 </a:t>
            </a:r>
            <a:r>
              <a:rPr lang="ru-RU" dirty="0"/>
              <a:t>Эластичный</a:t>
            </a:r>
            <a:endParaRPr lang="it-IT" dirty="0"/>
          </a:p>
        </p:txBody>
      </p:sp>
      <p:sp>
        <p:nvSpPr>
          <p:cNvPr id="15" name="CasellaDiTesto 7"/>
          <p:cNvSpPr txBox="1"/>
          <p:nvPr/>
        </p:nvSpPr>
        <p:spPr>
          <a:xfrm>
            <a:off x="477843" y="3158910"/>
            <a:ext cx="85156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-</a:t>
            </a:r>
            <a:r>
              <a:rPr lang="ru-RU" dirty="0"/>
              <a:t> Наиболее распространенные Типы</a:t>
            </a:r>
            <a:r>
              <a:rPr lang="it-IT" dirty="0"/>
              <a:t>: </a:t>
            </a:r>
          </a:p>
          <a:p>
            <a:endParaRPr lang="it-IT" dirty="0"/>
          </a:p>
          <a:p>
            <a:r>
              <a:rPr lang="it-IT" b="1" dirty="0"/>
              <a:t>PE (</a:t>
            </a:r>
            <a:r>
              <a:rPr lang="ru-RU" b="1" dirty="0"/>
              <a:t>полиэтилен</a:t>
            </a:r>
            <a:r>
              <a:rPr lang="it-IT" b="1" dirty="0"/>
              <a:t>): </a:t>
            </a:r>
            <a:r>
              <a:rPr lang="ru-RU" dirty="0"/>
              <a:t>наиболее сложен с точки зрения окраски</a:t>
            </a:r>
            <a:r>
              <a:rPr lang="en-US" dirty="0"/>
              <a:t>.</a:t>
            </a:r>
            <a:r>
              <a:rPr lang="ru-RU" dirty="0"/>
              <a:t> Требует особой подготовки поверхности</a:t>
            </a:r>
            <a:endParaRPr lang="en-US" dirty="0"/>
          </a:p>
          <a:p>
            <a:r>
              <a:rPr lang="en-US" dirty="0"/>
              <a:t>«Corona treatment».</a:t>
            </a:r>
          </a:p>
          <a:p>
            <a:r>
              <a:rPr lang="it-IT" b="1" dirty="0"/>
              <a:t>PP (</a:t>
            </a:r>
            <a:r>
              <a:rPr lang="ru-RU" b="1" dirty="0"/>
              <a:t>полипропилен</a:t>
            </a:r>
            <a:r>
              <a:rPr lang="it-IT" b="1" dirty="0"/>
              <a:t>): </a:t>
            </a:r>
            <a:r>
              <a:rPr lang="ru-RU" dirty="0"/>
              <a:t>Сложный с точки зрения окраски материал</a:t>
            </a:r>
            <a:r>
              <a:rPr lang="en-US" dirty="0"/>
              <a:t>. </a:t>
            </a:r>
            <a:r>
              <a:rPr lang="ru-RU" dirty="0"/>
              <a:t>Требует специальных </a:t>
            </a:r>
            <a:r>
              <a:rPr lang="ru-RU" dirty="0" err="1"/>
              <a:t>праймеров</a:t>
            </a:r>
            <a:r>
              <a:rPr lang="en-US" dirty="0"/>
              <a:t>.</a:t>
            </a:r>
          </a:p>
          <a:p>
            <a:r>
              <a:rPr lang="it-IT" b="1" dirty="0"/>
              <a:t>PC (</a:t>
            </a:r>
            <a:r>
              <a:rPr lang="ru-RU" b="1" dirty="0"/>
              <a:t>Поликарбонат</a:t>
            </a:r>
            <a:r>
              <a:rPr lang="it-IT" b="1" dirty="0"/>
              <a:t>): </a:t>
            </a:r>
            <a:r>
              <a:rPr lang="ru-RU" dirty="0"/>
              <a:t>широко распространен</a:t>
            </a:r>
            <a:r>
              <a:rPr lang="it-IT" dirty="0"/>
              <a:t>. </a:t>
            </a:r>
          </a:p>
          <a:p>
            <a:r>
              <a:rPr lang="it-IT" b="1" dirty="0"/>
              <a:t>GRP (</a:t>
            </a:r>
            <a:r>
              <a:rPr lang="ru-RU" b="1" dirty="0"/>
              <a:t>полиэфирные</a:t>
            </a:r>
            <a:r>
              <a:rPr lang="it-IT" b="1" dirty="0"/>
              <a:t>): </a:t>
            </a:r>
            <a:r>
              <a:rPr lang="ru-RU" dirty="0"/>
              <a:t>наиболее универсальные</a:t>
            </a:r>
            <a:r>
              <a:rPr lang="en-US" dirty="0"/>
              <a:t>, </a:t>
            </a:r>
            <a:r>
              <a:rPr lang="ru-RU" dirty="0"/>
              <a:t>как правило не проблематичные</a:t>
            </a:r>
            <a:r>
              <a:rPr lang="it-IT" dirty="0"/>
              <a:t>.</a:t>
            </a:r>
          </a:p>
          <a:p>
            <a:r>
              <a:rPr lang="it-IT" b="1" dirty="0"/>
              <a:t>ABS (</a:t>
            </a:r>
            <a:r>
              <a:rPr lang="ru-RU" b="1" dirty="0" err="1"/>
              <a:t>акрилонитрилбутадиенстирол</a:t>
            </a:r>
            <a:r>
              <a:rPr lang="it-IT" b="1" dirty="0"/>
              <a:t>): </a:t>
            </a:r>
            <a:r>
              <a:rPr lang="ru-RU" dirty="0"/>
              <a:t>широко распространен и эластичен</a:t>
            </a:r>
            <a:r>
              <a:rPr lang="en-US" dirty="0"/>
              <a:t>. </a:t>
            </a:r>
            <a:r>
              <a:rPr lang="ru-RU" dirty="0"/>
              <a:t>как правило не проблематичен</a:t>
            </a:r>
            <a:r>
              <a:rPr lang="it-IT" dirty="0"/>
              <a:t>.</a:t>
            </a:r>
          </a:p>
        </p:txBody>
      </p:sp>
      <p:pic>
        <p:nvPicPr>
          <p:cNvPr id="16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587" y="560300"/>
            <a:ext cx="3648279" cy="3040233"/>
          </a:xfrm>
          <a:prstGeom prst="rect">
            <a:avLst/>
          </a:prstGeom>
        </p:spPr>
      </p:pic>
      <p:sp>
        <p:nvSpPr>
          <p:cNvPr id="17" name="CasellaDiTesto 8"/>
          <p:cNvSpPr txBox="1"/>
          <p:nvPr/>
        </p:nvSpPr>
        <p:spPr>
          <a:xfrm>
            <a:off x="277697" y="175491"/>
            <a:ext cx="4011611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/>
              <a:t>Типы поверхностей - Характеристики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139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ttangolo 72"/>
          <p:cNvSpPr/>
          <p:nvPr/>
        </p:nvSpPr>
        <p:spPr>
          <a:xfrm>
            <a:off x="1810372" y="367099"/>
            <a:ext cx="5857736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Пластики </a:t>
            </a:r>
            <a:r>
              <a:rPr lang="it-IT" dirty="0">
                <a:solidFill>
                  <a:srgbClr val="0070C0"/>
                </a:solidFill>
              </a:rPr>
              <a:t>(ABS/PC/PP/PVC)</a:t>
            </a:r>
          </a:p>
        </p:txBody>
      </p:sp>
      <p:sp>
        <p:nvSpPr>
          <p:cNvPr id="6" name="CasellaDiTesto 3"/>
          <p:cNvSpPr txBox="1"/>
          <p:nvPr/>
        </p:nvSpPr>
        <p:spPr>
          <a:xfrm>
            <a:off x="300660" y="1269752"/>
            <a:ext cx="941049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it-IT" dirty="0">
                <a:solidFill>
                  <a:srgbClr val="212121"/>
                </a:solidFill>
                <a:latin typeface="inherit"/>
              </a:rPr>
              <a:t>К этой группе можно отнести самые разнообразные материалы, обладающие своими особыми характеристиками и составами, и поэтому со своими требованиями особенностями.</a:t>
            </a:r>
            <a:endParaRPr lang="it-IT" altLang="it-IT" dirty="0">
              <a:solidFill>
                <a:srgbClr val="212121"/>
              </a:solidFill>
              <a:latin typeface="inherit"/>
            </a:endParaRPr>
          </a:p>
          <a:p>
            <a:r>
              <a:rPr lang="ru-RU" altLang="it-IT" dirty="0">
                <a:solidFill>
                  <a:srgbClr val="212121"/>
                </a:solidFill>
                <a:latin typeface="inherit"/>
              </a:rPr>
              <a:t>В любом случае, подготовка поверхности проводится с целью удаления всех следов грязи и создания центров адгезии для лакокрасочного слоя.</a:t>
            </a:r>
            <a:r>
              <a:rPr lang="it-IT" altLang="it-IT" sz="1600" dirty="0"/>
              <a:t> </a:t>
            </a:r>
          </a:p>
          <a:p>
            <a:r>
              <a:rPr lang="ru-RU" altLang="it-IT" sz="1600" dirty="0">
                <a:latin typeface="Arial" panose="020B0604020202020204" pitchFamily="34" charset="0"/>
              </a:rPr>
              <a:t>Как правило, рекомендуется очищать поверхность ацетоном.</a:t>
            </a:r>
            <a:endParaRPr lang="it-IT" altLang="it-IT" sz="1600" dirty="0">
              <a:latin typeface="Arial" panose="020B0604020202020204" pitchFamily="34" charset="0"/>
            </a:endParaRPr>
          </a:p>
          <a:p>
            <a:endParaRPr lang="it-IT" altLang="it-IT" sz="1600" dirty="0">
              <a:latin typeface="Arial" panose="020B0604020202020204" pitchFamily="34" charset="0"/>
            </a:endParaRPr>
          </a:p>
          <a:p>
            <a:r>
              <a:rPr lang="ru-RU" altLang="it-IT" sz="1600" b="1" dirty="0">
                <a:latin typeface="Arial" panose="020B0604020202020204" pitchFamily="34" charset="0"/>
              </a:rPr>
              <a:t>ОБЯЗАТЕЛЬНО НЕОБХОДИМО ПРОВОДИТЬ ПРЕДВАРИТЕЛЬНОЕ ТЕСТИРОВАНИЕ ПОКРАСОЧНОГО ЦИКЛА, ДАЖЕ ЕСЛИ ПОВЕРХНОСТИ ОТНОСЯТСЯ К ОДНОМУ СЕМЕЙСТВУ МАТЕРИАЛОВ, ТО ОНИ ВСЕ РАВНО МОГУТ В ЗНАЧИТЕЛЬНОЙ СТЕПЕНИ ОТЛИЧАТЬСЯ ПО СОСТАВУ И ЧИСТОТЕ</a:t>
            </a:r>
            <a:r>
              <a:rPr lang="it-IT" altLang="it-IT" sz="1600" b="1" dirty="0">
                <a:latin typeface="Arial" panose="020B0604020202020204" pitchFamily="34" charset="0"/>
              </a:rPr>
              <a:t>.</a:t>
            </a:r>
            <a:endParaRPr lang="it-IT" altLang="it-IT" sz="2800" b="1" dirty="0">
              <a:latin typeface="Arial" panose="020B06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3975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482599" y="579451"/>
            <a:ext cx="6624782" cy="5847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 : </a:t>
            </a:r>
            <a:r>
              <a:rPr lang="e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 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Быстросохнущие продукты</a:t>
            </a:r>
            <a:endParaRPr lang="it-I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7107381" y="548672"/>
            <a:ext cx="2376055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Алкидные (короткие масляные</a:t>
            </a:r>
            <a:r>
              <a:rPr lang="ru-RU" dirty="0"/>
              <a:t> </a:t>
            </a:r>
            <a:r>
              <a:rPr lang="ru-RU" b="1" dirty="0"/>
              <a:t>смолы)</a:t>
            </a:r>
            <a:endParaRPr lang="en" b="1" dirty="0"/>
          </a:p>
        </p:txBody>
      </p:sp>
      <p:sp>
        <p:nvSpPr>
          <p:cNvPr id="4" name="Rettangolo 3"/>
          <p:cNvSpPr/>
          <p:nvPr/>
        </p:nvSpPr>
        <p:spPr>
          <a:xfrm>
            <a:off x="161636" y="145489"/>
            <a:ext cx="2222749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44494"/>
              </p:ext>
            </p:extLst>
          </p:nvPr>
        </p:nvGraphicFramePr>
        <p:xfrm>
          <a:off x="482599" y="1402563"/>
          <a:ext cx="9000837" cy="24474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115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140749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88021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319514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503902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508641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Разбавление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847735"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Праймер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Антикоррозионный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Эконом</a:t>
                      </a: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Конвертер</a:t>
                      </a:r>
                      <a:endParaRPr lang="en" sz="1200" dirty="0"/>
                    </a:p>
                    <a:p>
                      <a:pPr algn="ctr"/>
                      <a:r>
                        <a:rPr lang="en" sz="1200" dirty="0"/>
                        <a:t>F211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90/10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baseline="0" dirty="0"/>
                    </a:p>
                    <a:p>
                      <a:pPr algn="ctr"/>
                      <a:r>
                        <a:rPr lang="en" sz="1200" baseline="0" dirty="0"/>
                        <a:t>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baseline="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aseline="0" dirty="0"/>
                        <a:t>Нитро или синтетический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1200" dirty="0"/>
                    </a:p>
                    <a:p>
                      <a:pPr algn="l"/>
                      <a:r>
                        <a:rPr lang="ru-RU" sz="1200" dirty="0"/>
                        <a:t>Общее</a:t>
                      </a:r>
                      <a:r>
                        <a:rPr lang="ru-RU" sz="1200" baseline="0" dirty="0"/>
                        <a:t> назначение. </a:t>
                      </a:r>
                    </a:p>
                    <a:p>
                      <a:pPr algn="l"/>
                      <a:r>
                        <a:rPr lang="ru-RU" sz="1200" dirty="0"/>
                        <a:t>Только для железа/стали, чугуна.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108154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Праймер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Антикоррозионный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Высококачественный</a:t>
                      </a: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Конвертер</a:t>
                      </a:r>
                      <a:endParaRPr lang="en" sz="1200" dirty="0"/>
                    </a:p>
                    <a:p>
                      <a:pPr algn="ctr"/>
                      <a:r>
                        <a:rPr lang="en" sz="1200" baseline="0" dirty="0"/>
                        <a:t> </a:t>
                      </a:r>
                      <a:r>
                        <a:rPr lang="en" sz="1200" dirty="0"/>
                        <a:t>F311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90/10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200" dirty="0"/>
                    </a:p>
                    <a:p>
                      <a:pPr algn="l"/>
                      <a:r>
                        <a:rPr lang="ru-RU" sz="1200" dirty="0"/>
                        <a:t>Общее</a:t>
                      </a:r>
                      <a:r>
                        <a:rPr lang="ru-RU" sz="1200" baseline="0" dirty="0"/>
                        <a:t> назначение. Долгий срок службы</a:t>
                      </a:r>
                      <a:r>
                        <a:rPr lang="en" sz="1200" dirty="0"/>
                        <a:t>. </a:t>
                      </a:r>
                      <a:endParaRPr lang="ru-RU" sz="1200" dirty="0"/>
                    </a:p>
                    <a:p>
                      <a:pPr algn="l"/>
                      <a:r>
                        <a:rPr lang="ru-RU" sz="1200" dirty="0"/>
                        <a:t>Для железа/стали, чугуна.</a:t>
                      </a:r>
                      <a:endParaRPr lang="it-IT" sz="1200" dirty="0"/>
                    </a:p>
                    <a:p>
                      <a:pPr algn="l"/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1786"/>
              </p:ext>
            </p:extLst>
          </p:nvPr>
        </p:nvGraphicFramePr>
        <p:xfrm>
          <a:off x="482599" y="4228625"/>
          <a:ext cx="9000837" cy="2082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2984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375747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160269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442504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190340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458993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4884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Разбавление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61892"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Эмаль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F410sSP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90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aseline="0" dirty="0"/>
                        <a:t>Нитро или синтетический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Общее назначение.</a:t>
                      </a:r>
                      <a:r>
                        <a:rPr lang="ru-RU" sz="1200" baseline="0" dirty="0"/>
                        <a:t> Сельскохозяйственная техника и оборудование. Отличные эстетические показатели, устойчивость к атмосферным воздействия покрытия, а также сохранение степени блеска.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61892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F410SE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40-60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85/15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aseline="0" dirty="0"/>
                        <a:t>Нитро или синтетический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474787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F410OP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10-20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85/15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aseline="0" dirty="0"/>
                        <a:t>Нитро или синтетический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92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161636" y="41314"/>
            <a:ext cx="2407944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729315"/>
              </p:ext>
            </p:extLst>
          </p:nvPr>
        </p:nvGraphicFramePr>
        <p:xfrm>
          <a:off x="173211" y="1083989"/>
          <a:ext cx="9584246" cy="2645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986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274178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885857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371257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849263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1310771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763934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724823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Разбавление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724371"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 err="1"/>
                        <a:t>Самогрунт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F315EX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30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baseline="0" dirty="0"/>
                    </a:p>
                    <a:p>
                      <a:pPr algn="ctr"/>
                      <a:endParaRPr lang="it-IT" sz="1200" baseline="0" dirty="0"/>
                    </a:p>
                    <a:p>
                      <a:pPr algn="ctr"/>
                      <a:r>
                        <a:rPr lang="ru-RU" sz="1200" baseline="0" dirty="0"/>
                        <a:t>Нитро или синтетический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Общее назначение.</a:t>
                      </a:r>
                      <a:r>
                        <a:rPr lang="ru-RU" sz="1200" baseline="0" dirty="0"/>
                        <a:t> Сельскохозяйственная техника и оборудование. Отличные эстетические показатели, устойчивость к атмосферным воздействия покрытия, а также сохранение степени блеска.</a:t>
                      </a:r>
                      <a:endParaRPr lang="it-IT" sz="12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Для железа/стали, чугуна</a:t>
                      </a:r>
                      <a:r>
                        <a:rPr lang="en" sz="1200" dirty="0"/>
                        <a:t>.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/>
                        <a:t>Содержит фосфат цинка</a:t>
                      </a:r>
                      <a:r>
                        <a:rPr lang="en" sz="1200" b="1" dirty="0"/>
                        <a:t> </a:t>
                      </a:r>
                      <a:r>
                        <a:rPr lang="en" sz="1200" dirty="0"/>
                        <a:t>.</a:t>
                      </a:r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997084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F315SP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50-60</a:t>
                      </a:r>
                      <a:endParaRPr lang="it-IT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</a:tbl>
          </a:graphicData>
        </a:graphic>
      </p:graphicFrame>
      <p:graphicFrame>
        <p:nvGraphicFramePr>
          <p:cNvPr id="7" name="Tabel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43395"/>
              </p:ext>
            </p:extLst>
          </p:nvPr>
        </p:nvGraphicFramePr>
        <p:xfrm>
          <a:off x="161636" y="4423489"/>
          <a:ext cx="9595822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5229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460185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178519">
                  <a:extLst>
                    <a:ext uri="{9D8B030D-6E8A-4147-A177-3AD203B41FA5}">
                      <a16:colId xmlns:a16="http://schemas.microsoft.com/office/drawing/2014/main" val="3370192586"/>
                    </a:ext>
                  </a:extLst>
                </a:gridCol>
                <a:gridCol w="708919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852499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213772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060427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066272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5543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Конвертер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err="1"/>
                        <a:t>Прод</a:t>
                      </a:r>
                      <a:r>
                        <a:rPr lang="en" sz="1400" b="1" dirty="0"/>
                        <a:t>.</a:t>
                      </a:r>
                      <a:r>
                        <a:rPr lang="en" sz="1400" b="1" baseline="0" dirty="0"/>
                        <a:t> </a:t>
                      </a:r>
                      <a:r>
                        <a:rPr lang="ru-RU" sz="1400" b="1" dirty="0"/>
                        <a:t>эмаль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Разбавление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55430">
                <a:tc rowSpan="3">
                  <a:txBody>
                    <a:bodyPr/>
                    <a:lstStyle/>
                    <a:p>
                      <a:pPr algn="ctr"/>
                      <a:r>
                        <a:rPr lang="ru-RU" sz="1200" dirty="0" err="1"/>
                        <a:t>Самогрунт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F4FMGG</a:t>
                      </a:r>
                    </a:p>
                    <a:p>
                      <a:pPr algn="ctr"/>
                      <a:r>
                        <a:rPr lang="ru-RU" sz="1200" dirty="0"/>
                        <a:t>Крупнозернистый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x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x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В зависимости</a:t>
                      </a:r>
                      <a:r>
                        <a:rPr lang="ru-RU" sz="1200" baseline="0" dirty="0"/>
                        <a:t> от цвета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aseline="0" dirty="0"/>
                        <a:t>Нитро или синтетический</a:t>
                      </a:r>
                      <a:endParaRPr lang="en" sz="1200" baseline="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1200" dirty="0" err="1"/>
                        <a:t>Слюдосодержащий</a:t>
                      </a:r>
                      <a:r>
                        <a:rPr lang="ru-RU" sz="1200" dirty="0"/>
                        <a:t> 1К </a:t>
                      </a:r>
                      <a:r>
                        <a:rPr lang="ru-RU" sz="1200" dirty="0" err="1"/>
                        <a:t>самогрунт</a:t>
                      </a:r>
                      <a:r>
                        <a:rPr lang="en" sz="1200" dirty="0"/>
                        <a:t>. </a:t>
                      </a:r>
                      <a:r>
                        <a:rPr lang="ru-RU" sz="1200" dirty="0"/>
                        <a:t>Крупно- и мелкозернистые версии. Для нанесения на углеродистую сталь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Идеально подходит для перил, ворот и т.д.</a:t>
                      </a:r>
                      <a:r>
                        <a:rPr lang="en" sz="1200" baseline="0" dirty="0"/>
                        <a:t> ...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269345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aseline="0" dirty="0"/>
                        <a:t>Нитро или синтетический</a:t>
                      </a:r>
                      <a:endParaRPr lang="en" sz="1200" baseline="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645055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F404FM</a:t>
                      </a:r>
                    </a:p>
                    <a:p>
                      <a:pPr algn="ctr"/>
                      <a:r>
                        <a:rPr lang="ru-RU" sz="1200" dirty="0"/>
                        <a:t>Мелкозернистый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x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x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69403"/>
                  </a:ext>
                </a:extLst>
              </a:tr>
            </a:tbl>
          </a:graphicData>
        </a:graphic>
      </p:graphicFrame>
      <p:sp>
        <p:nvSpPr>
          <p:cNvPr id="8" name="Rettangolo 7"/>
          <p:cNvSpPr/>
          <p:nvPr/>
        </p:nvSpPr>
        <p:spPr>
          <a:xfrm>
            <a:off x="161635" y="3733880"/>
            <a:ext cx="9572673" cy="646327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3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Слюдосодержащие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ttangolo 72"/>
          <p:cNvSpPr/>
          <p:nvPr/>
        </p:nvSpPr>
        <p:spPr>
          <a:xfrm>
            <a:off x="161636" y="398914"/>
            <a:ext cx="6624782" cy="5847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 : </a:t>
            </a:r>
            <a:r>
              <a:rPr lang="e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 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Быстросохнущие продукты</a:t>
            </a:r>
            <a:endParaRPr lang="it-I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ttangolo 13"/>
          <p:cNvSpPr/>
          <p:nvPr/>
        </p:nvSpPr>
        <p:spPr>
          <a:xfrm>
            <a:off x="6786418" y="368135"/>
            <a:ext cx="2376055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Алкидные (короткие масляные</a:t>
            </a:r>
            <a:r>
              <a:rPr lang="ru-RU" dirty="0"/>
              <a:t> </a:t>
            </a:r>
            <a:r>
              <a:rPr lang="ru-RU" b="1" dirty="0"/>
              <a:t>смолы)</a:t>
            </a:r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312560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295656" y="859212"/>
            <a:ext cx="6086765" cy="5847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AK: </a:t>
            </a:r>
            <a:r>
              <a:rPr lang="e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Синтетические продукты</a:t>
            </a:r>
            <a:endParaRPr lang="it-I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6382422" y="828433"/>
            <a:ext cx="3081618" cy="646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Алкидные эмали (длинные масляные</a:t>
            </a:r>
            <a:r>
              <a:rPr lang="ru-RU" dirty="0"/>
              <a:t> </a:t>
            </a:r>
            <a:r>
              <a:rPr lang="ru-RU" b="1" dirty="0"/>
              <a:t>смолы)</a:t>
            </a:r>
            <a:endParaRPr lang="en" b="1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39250"/>
              </p:ext>
            </p:extLst>
          </p:nvPr>
        </p:nvGraphicFramePr>
        <p:xfrm>
          <a:off x="295655" y="1686156"/>
          <a:ext cx="9612274" cy="1592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7858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325831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859073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189334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252107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1099595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4884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Тип</a:t>
                      </a:r>
                      <a:endParaRPr lang="it-IT" sz="12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Код конвертера</a:t>
                      </a:r>
                      <a:endParaRPr lang="it-IT" sz="12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Степень блеска</a:t>
                      </a:r>
                      <a:endParaRPr lang="it-IT" sz="12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Соотношение с пастами </a:t>
                      </a:r>
                      <a:r>
                        <a:rPr lang="it-IT" sz="1200" b="1" dirty="0"/>
                        <a:t>FBU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Отвердитель</a:t>
                      </a:r>
                      <a:endParaRPr lang="it-IT" sz="12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Разбавление</a:t>
                      </a:r>
                      <a:endParaRPr lang="it-IT" sz="12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Применение</a:t>
                      </a:r>
                      <a:endParaRPr lang="it-IT" sz="12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61892"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ru-RU" sz="1100" dirty="0"/>
                        <a:t>Эмаль</a:t>
                      </a:r>
                      <a:endParaRPr lang="it-IT" sz="1100" dirty="0"/>
                    </a:p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F425SP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&gt;80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en" sz="1100" dirty="0"/>
                        <a:t>70/30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ru-RU" sz="1100" dirty="0"/>
                        <a:t>Добавление </a:t>
                      </a:r>
                      <a:r>
                        <a:rPr lang="en" sz="1100" dirty="0"/>
                        <a:t> 1%</a:t>
                      </a:r>
                      <a:r>
                        <a:rPr lang="en" sz="1100" baseline="0" dirty="0"/>
                        <a:t> </a:t>
                      </a:r>
                      <a:r>
                        <a:rPr lang="ru-RU" sz="1100" baseline="0" dirty="0"/>
                        <a:t>сиккатива</a:t>
                      </a:r>
                      <a:r>
                        <a:rPr lang="en" sz="1100" baseline="0" dirty="0"/>
                        <a:t> F800CT 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100" baseline="0" dirty="0"/>
                    </a:p>
                    <a:p>
                      <a:pPr algn="ctr"/>
                      <a:endParaRPr lang="it-IT" sz="1100" baseline="0" dirty="0"/>
                    </a:p>
                    <a:p>
                      <a:pPr algn="ctr"/>
                      <a:r>
                        <a:rPr lang="ru-RU" sz="1100" baseline="0" dirty="0"/>
                        <a:t>Синтетический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aseline="0" dirty="0"/>
                        <a:t>Синтетические эмали из длинных масляных смол для общего назначения</a:t>
                      </a:r>
                      <a:r>
                        <a:rPr lang="en" sz="1100" baseline="0" dirty="0"/>
                        <a:t>. </a:t>
                      </a:r>
                      <a:r>
                        <a:rPr lang="ru-RU" sz="1100" baseline="0" dirty="0"/>
                        <a:t>Нанесение кистью</a:t>
                      </a:r>
                      <a:r>
                        <a:rPr lang="en" sz="1100" baseline="0" dirty="0"/>
                        <a:t>. </a:t>
                      </a:r>
                      <a:r>
                        <a:rPr lang="ru-RU" sz="1100" baseline="0" dirty="0"/>
                        <a:t>Для ремесленного и «сделай сам» сектора</a:t>
                      </a:r>
                      <a:r>
                        <a:rPr lang="en" sz="1100" baseline="0" dirty="0"/>
                        <a:t>. </a:t>
                      </a:r>
                      <a:r>
                        <a:rPr lang="ru-RU" sz="1100" baseline="0" dirty="0"/>
                        <a:t>Отличные эстетические показатели и устойчивость к атмосферным воздействиям.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61892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F425OP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10-20</a:t>
                      </a: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295656" y="3533470"/>
            <a:ext cx="9623848" cy="646327"/>
          </a:xfrm>
          <a:prstGeom prst="rect">
            <a:avLst/>
          </a:prstGeom>
          <a:solidFill>
            <a:srgbClr val="92D05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NC: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Нитро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8" name="Tabel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702803"/>
              </p:ext>
            </p:extLst>
          </p:nvPr>
        </p:nvGraphicFramePr>
        <p:xfrm>
          <a:off x="295656" y="4519548"/>
          <a:ext cx="9623850" cy="1424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858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567629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95953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575004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265581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794825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4884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Тип</a:t>
                      </a:r>
                      <a:endParaRPr lang="it-IT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Код конвертера </a:t>
                      </a:r>
                      <a:endParaRPr lang="it-IT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Степень блеска</a:t>
                      </a:r>
                      <a:endParaRPr lang="it-IT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Соотношение с пастами </a:t>
                      </a:r>
                      <a:r>
                        <a:rPr lang="it-IT" sz="1200" b="1" dirty="0"/>
                        <a:t>FBU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Разбавление</a:t>
                      </a:r>
                      <a:endParaRPr lang="it-IT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Применение</a:t>
                      </a:r>
                      <a:endParaRPr lang="it-IT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61892"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ru-RU" sz="1100" dirty="0"/>
                        <a:t>Эмаль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F436SP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70-80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85/15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aseline="0" dirty="0"/>
                        <a:t>Нитро или синтетический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Общее применение. </a:t>
                      </a:r>
                      <a:r>
                        <a:rPr lang="ru-RU" sz="1100" baseline="0" dirty="0"/>
                        <a:t>Сельскохозяйственная техника и оборудование</a:t>
                      </a:r>
                      <a:r>
                        <a:rPr lang="ru-RU" sz="1100" dirty="0"/>
                        <a:t>.  Работы,  где не требуется высокая производительность.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Для железа/стали, чугуна.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61892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F436OP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10-20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85/15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aseline="0" dirty="0"/>
                        <a:t>Нитро или синтетический</a:t>
                      </a:r>
                      <a:endParaRPr lang="it-IT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</a:tbl>
          </a:graphicData>
        </a:graphic>
      </p:graphicFrame>
      <p:sp>
        <p:nvSpPr>
          <p:cNvPr id="9" name="Rettangolo 3"/>
          <p:cNvSpPr/>
          <p:nvPr/>
        </p:nvSpPr>
        <p:spPr>
          <a:xfrm>
            <a:off x="295656" y="0"/>
            <a:ext cx="2407944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6917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515598" y="484542"/>
            <a:ext cx="6952528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Акриловые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515598" y="1264325"/>
            <a:ext cx="6051457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ГРУНТЫ</a:t>
            </a:r>
            <a:r>
              <a:rPr lang="en" b="1" dirty="0"/>
              <a:t> &amp; </a:t>
            </a:r>
            <a:r>
              <a:rPr lang="ru-RU" b="1" dirty="0"/>
              <a:t>САМОГРУНТЫ</a:t>
            </a:r>
            <a:r>
              <a:rPr lang="en" b="1" dirty="0"/>
              <a:t> / </a:t>
            </a:r>
            <a:r>
              <a:rPr lang="ru-RU" b="1" dirty="0"/>
              <a:t>ЭМАЛИ</a:t>
            </a:r>
            <a:endParaRPr lang="en" b="1" dirty="0"/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7291"/>
              </p:ext>
            </p:extLst>
          </p:nvPr>
        </p:nvGraphicFramePr>
        <p:xfrm>
          <a:off x="515598" y="1663337"/>
          <a:ext cx="8009253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9504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762108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967940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086886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880400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2352415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5543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Тип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Код конвертера 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Фосфат цинка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Соотношение с пастами </a:t>
                      </a:r>
                      <a:r>
                        <a:rPr lang="it-IT" sz="1200" b="1" dirty="0"/>
                        <a:t>FBU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Отвердитель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Применение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55430"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Праймер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Стандартная версия</a:t>
                      </a:r>
                      <a:endParaRPr lang="en" sz="1200" dirty="0"/>
                    </a:p>
                    <a:p>
                      <a:pPr algn="ctr"/>
                      <a:r>
                        <a:rPr lang="en" sz="1200" dirty="0"/>
                        <a:t>F302pc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dirty="0"/>
                        <a:t>80/20</a:t>
                      </a:r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20% F901ct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Общее применение.</a:t>
                      </a:r>
                      <a:r>
                        <a:rPr lang="ru-RU" sz="1200" baseline="0" dirty="0"/>
                        <a:t> Сельскохозяйственная техника</a:t>
                      </a:r>
                      <a:r>
                        <a:rPr lang="ru-RU" sz="1200" dirty="0"/>
                        <a:t>, промышленные кузовные</a:t>
                      </a:r>
                      <a:r>
                        <a:rPr lang="ru-RU" sz="1200" baseline="0" dirty="0"/>
                        <a:t> работы</a:t>
                      </a:r>
                      <a:r>
                        <a:rPr lang="ru-RU" sz="1200" dirty="0"/>
                        <a:t>, вилочные погрузчики... Адгезия к углеродистой стали, оцинкованной стали, </a:t>
                      </a:r>
                      <a:r>
                        <a:rPr lang="ru-RU" sz="1200" dirty="0" err="1"/>
                        <a:t>Al</a:t>
                      </a:r>
                      <a:r>
                        <a:rPr lang="ru-RU" sz="1200" dirty="0"/>
                        <a:t>, LL, пластмассам.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55430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Версия под шлифовку</a:t>
                      </a:r>
                      <a:r>
                        <a:rPr lang="en" sz="1200" baseline="0" dirty="0"/>
                        <a:t> </a:t>
                      </a:r>
                    </a:p>
                    <a:p>
                      <a:pPr algn="ctr"/>
                      <a:r>
                        <a:rPr lang="en" sz="1200" b="0" baseline="0" dirty="0"/>
                        <a:t>F302CC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455430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47404"/>
                  </a:ext>
                </a:extLst>
              </a:tr>
            </a:tbl>
          </a:graphicData>
        </a:graphic>
      </p:graphicFrame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201574"/>
              </p:ext>
            </p:extLst>
          </p:nvPr>
        </p:nvGraphicFramePr>
        <p:xfrm>
          <a:off x="515597" y="4423730"/>
          <a:ext cx="8936183" cy="2232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1446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510341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881035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278755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966618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3357988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4884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Тип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="1" dirty="0"/>
                        <a:t>CODE</a:t>
                      </a:r>
                    </a:p>
                    <a:p>
                      <a:pPr algn="ctr"/>
                      <a:r>
                        <a:rPr lang="ru-RU" sz="1200" b="1" dirty="0"/>
                        <a:t>Конвертер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Степень блеска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Соотношение с пастами </a:t>
                      </a:r>
                      <a:r>
                        <a:rPr lang="it-IT" sz="1200" b="1" dirty="0"/>
                        <a:t>FBU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Отвердитель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Применение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61892"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 err="1"/>
                        <a:t>Самогрунт</a:t>
                      </a:r>
                      <a:r>
                        <a:rPr lang="ru-RU" sz="1200" dirty="0"/>
                        <a:t> или эмаль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F401SP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75-80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75/25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30% F901ct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Общее применение.</a:t>
                      </a:r>
                      <a:r>
                        <a:rPr lang="ru-RU" sz="1200" baseline="0" dirty="0"/>
                        <a:t> Сельскохозяйственная техника и оборудование</a:t>
                      </a:r>
                      <a:r>
                        <a:rPr lang="en" sz="1200" baseline="0" dirty="0"/>
                        <a:t>,</a:t>
                      </a:r>
                      <a:r>
                        <a:rPr lang="ru-RU" sz="1200" baseline="0" dirty="0"/>
                        <a:t> вилочные погрузчики, металлоконструкции</a:t>
                      </a:r>
                      <a:r>
                        <a:rPr lang="en" sz="1200" baseline="0" dirty="0"/>
                        <a:t>.</a:t>
                      </a:r>
                      <a:r>
                        <a:rPr lang="ru-RU" sz="1200" baseline="0" dirty="0"/>
                        <a:t> Отличные эстетические показатели, устойчивость к атмосферным воздействия покрытия, пожелтению, а также сохранение степени блеска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Применяется также как </a:t>
                      </a:r>
                      <a:r>
                        <a:rPr lang="ru-RU" sz="1200" baseline="0" dirty="0" err="1"/>
                        <a:t>самогрунт</a:t>
                      </a:r>
                      <a:r>
                        <a:rPr lang="ru-RU" sz="1200" baseline="0" dirty="0"/>
                        <a:t> для окраски металла и бетона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="1" baseline="0" dirty="0"/>
                        <a:t>Не содержит фосфата цинка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28179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F401SE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50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dirty="0"/>
                        <a:t>20% F901ct</a:t>
                      </a:r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456314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F401OP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10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15% F901ct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 rot="20830027">
            <a:off x="539598" y="3751675"/>
            <a:ext cx="1046006" cy="523216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</a:rPr>
              <a:t>Новинка</a:t>
            </a:r>
            <a:r>
              <a:rPr lang="en" sz="2800" b="1" dirty="0"/>
              <a:t>!!</a:t>
            </a:r>
          </a:p>
        </p:txBody>
      </p:sp>
      <p:sp>
        <p:nvSpPr>
          <p:cNvPr id="8" name="Rettangolo 3"/>
          <p:cNvSpPr/>
          <p:nvPr/>
        </p:nvSpPr>
        <p:spPr>
          <a:xfrm>
            <a:off x="515598" y="32332"/>
            <a:ext cx="2407944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287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/>
          <p:cNvSpPr/>
          <p:nvPr/>
        </p:nvSpPr>
        <p:spPr>
          <a:xfrm>
            <a:off x="161634" y="1143245"/>
            <a:ext cx="6340767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Акриловые </a:t>
            </a:r>
            <a:r>
              <a:rPr lang="ru-RU" b="1" dirty="0" err="1"/>
              <a:t>самогрунты</a:t>
            </a:r>
            <a:endParaRPr lang="it-IT" b="1" dirty="0"/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152820"/>
              </p:ext>
            </p:extLst>
          </p:nvPr>
        </p:nvGraphicFramePr>
        <p:xfrm>
          <a:off x="161633" y="3623765"/>
          <a:ext cx="9320694" cy="3107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3231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256440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791093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919063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233172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185824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2941871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37367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 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en-GB" sz="1400" b="1" dirty="0"/>
                        <a:t>FBU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08209">
                <a:tc rowSpan="5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 err="1"/>
                        <a:t>Самогрунт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F503ff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10-20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10% F901ct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dirty="0" err="1"/>
                        <a:t>Самогрунт</a:t>
                      </a:r>
                      <a:r>
                        <a:rPr lang="ru-RU" sz="1200" dirty="0"/>
                        <a:t> с прямой адгезией и антикоррозионными свойствами</a:t>
                      </a:r>
                      <a:r>
                        <a:rPr lang="en" sz="1200" dirty="0"/>
                        <a:t>. </a:t>
                      </a:r>
                      <a:r>
                        <a:rPr lang="ru-RU" sz="1200" dirty="0"/>
                        <a:t>Для углеродистой стали</a:t>
                      </a:r>
                      <a:r>
                        <a:rPr lang="en" sz="1200" baseline="0" dirty="0"/>
                        <a:t>, </a:t>
                      </a:r>
                      <a:r>
                        <a:rPr lang="ru-RU" sz="1200" baseline="0" dirty="0"/>
                        <a:t>гальванизированных поверхностей</a:t>
                      </a:r>
                      <a:r>
                        <a:rPr lang="en" sz="1200" baseline="0" dirty="0"/>
                        <a:t>, Al, LL, </a:t>
                      </a:r>
                      <a:r>
                        <a:rPr lang="ru-RU" sz="1200" baseline="0" dirty="0"/>
                        <a:t>пластика, стекла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Отсутствие лимита по времени перекрытия и не требует шлифовки.</a:t>
                      </a:r>
                      <a:r>
                        <a:rPr lang="en" sz="1200" baseline="0" dirty="0"/>
                        <a:t> </a:t>
                      </a:r>
                      <a:r>
                        <a:rPr lang="ru-RU" sz="1200" baseline="0" dirty="0"/>
                        <a:t>Общее назначение</a:t>
                      </a:r>
                      <a:r>
                        <a:rPr lang="en" sz="1200" baseline="0" dirty="0"/>
                        <a:t>.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666102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F303ff</a:t>
                      </a:r>
                    </a:p>
                    <a:p>
                      <a:pPr algn="ctr"/>
                      <a:r>
                        <a:rPr lang="ru-RU" sz="1200" dirty="0">
                          <a:solidFill>
                            <a:srgbClr val="FFFF00"/>
                          </a:solidFill>
                        </a:rPr>
                        <a:t>Сертифицированная серия</a:t>
                      </a:r>
                      <a:endParaRPr lang="it-IT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40-50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dirty="0"/>
                        <a:t>70/30</a:t>
                      </a:r>
                      <a:r>
                        <a:rPr lang="en" sz="1200" baseline="0" dirty="0"/>
                        <a:t>  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 F901ct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40640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F403ff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70-80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dirty="0"/>
                        <a:t>75/25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dirty="0"/>
                        <a:t>25% F922ct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376988"/>
                  </a:ext>
                </a:extLst>
              </a:tr>
              <a:tr h="434109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F303DDX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20-30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70/30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  <a:r>
                        <a:rPr lang="en" sz="1200" baseline="0" dirty="0"/>
                        <a:t> </a:t>
                      </a:r>
                      <a:r>
                        <a:rPr lang="en" sz="1200" dirty="0"/>
                        <a:t>F901ct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Устойчивая</a:t>
                      </a:r>
                      <a:r>
                        <a:rPr lang="ru-RU" sz="1200" baseline="0" dirty="0"/>
                        <a:t> к царапинам, быстросохнущая версия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613363"/>
                  </a:ext>
                </a:extLst>
              </a:tr>
              <a:tr h="437705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F303HB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30-40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10%</a:t>
                      </a:r>
                      <a:r>
                        <a:rPr lang="en" sz="1200" baseline="0" dirty="0"/>
                        <a:t> </a:t>
                      </a:r>
                      <a:r>
                        <a:rPr lang="en" sz="1200" dirty="0"/>
                        <a:t>F920ct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Версия с высоким сухим остатком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97357"/>
                  </a:ext>
                </a:extLst>
              </a:tr>
            </a:tbl>
          </a:graphicData>
        </a:graphic>
      </p:graphicFrame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62696"/>
              </p:ext>
            </p:extLst>
          </p:nvPr>
        </p:nvGraphicFramePr>
        <p:xfrm>
          <a:off x="161634" y="1587267"/>
          <a:ext cx="9320693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836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424744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895130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325257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162507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3072219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66911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 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35784"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Эмаль с эффектом шагрени (молотковый эффект)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F402BC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err="1"/>
                        <a:t>Полуглянец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20% F901ct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/>
                        <a:t>Акриловая эмаль с молотковым эффектом</a:t>
                      </a:r>
                      <a:r>
                        <a:rPr lang="en" sz="1200" dirty="0"/>
                        <a:t>. </a:t>
                      </a:r>
                      <a:r>
                        <a:rPr lang="ru-RU" sz="1200" dirty="0"/>
                        <a:t>Общее назначение.</a:t>
                      </a:r>
                      <a:r>
                        <a:rPr lang="en" sz="1200" dirty="0"/>
                        <a:t> </a:t>
                      </a:r>
                      <a:r>
                        <a:rPr lang="ru-RU" sz="1200" dirty="0"/>
                        <a:t>Промышленное оборудование, прессы, токарные станки и т.д. Отличный внешний вид, твердость и устойчивость к пожелтению. Можно также применять как декоративный </a:t>
                      </a:r>
                      <a:r>
                        <a:rPr lang="ru-RU" sz="1200" dirty="0" err="1"/>
                        <a:t>самогрунт</a:t>
                      </a:r>
                      <a:r>
                        <a:rPr lang="en" sz="1200" baseline="0" dirty="0"/>
                        <a:t>.</a:t>
                      </a:r>
                      <a:endParaRPr lang="it-IT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03977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F402BC01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Глянец</a:t>
                      </a:r>
                      <a:endParaRPr lang="it-IT" sz="12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</a:tbl>
          </a:graphicData>
        </a:graphic>
      </p:graphicFrame>
      <p:sp>
        <p:nvSpPr>
          <p:cNvPr id="7" name="Rettangolo 72"/>
          <p:cNvSpPr/>
          <p:nvPr/>
        </p:nvSpPr>
        <p:spPr>
          <a:xfrm>
            <a:off x="161634" y="427468"/>
            <a:ext cx="6883079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Акриловые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ttangolo 3"/>
          <p:cNvSpPr/>
          <p:nvPr/>
        </p:nvSpPr>
        <p:spPr>
          <a:xfrm>
            <a:off x="161634" y="22352"/>
            <a:ext cx="1979271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5245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3" y="643200"/>
            <a:ext cx="7114572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Акриловые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161633" y="1528049"/>
            <a:ext cx="6340767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Полиакриловые </a:t>
            </a:r>
            <a:r>
              <a:rPr lang="ru-RU" b="1" dirty="0" err="1"/>
              <a:t>самогрунты</a:t>
            </a:r>
            <a:endParaRPr lang="it-IT" b="1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481463"/>
              </p:ext>
            </p:extLst>
          </p:nvPr>
        </p:nvGraphicFramePr>
        <p:xfrm>
          <a:off x="161634" y="2160446"/>
          <a:ext cx="10220857" cy="39243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242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396178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205791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768943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472240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3171463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845889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 конвертера </a:t>
                      </a:r>
                      <a:endParaRPr lang="it-IT" sz="16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Степень блеска</a:t>
                      </a:r>
                      <a:endParaRPr lang="it-IT" sz="16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Соотношение с пастами </a:t>
                      </a:r>
                      <a:r>
                        <a:rPr lang="it-IT" sz="1600" b="1" dirty="0"/>
                        <a:t>FBU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Отвердитель</a:t>
                      </a:r>
                      <a:endParaRPr lang="it-IT" sz="16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Применение</a:t>
                      </a:r>
                      <a:endParaRPr lang="it-IT" sz="16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1602241">
                <a:tc rowSpan="2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 err="1"/>
                        <a:t>Самогрунт</a:t>
                      </a:r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F880HS</a:t>
                      </a: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70 -80</a:t>
                      </a: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80/20</a:t>
                      </a:r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20% f922CT</a:t>
                      </a: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Высокая скорость сушки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Отличная устойчивость к атмосферным воздействия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Высокая эластичность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Высокие антикоррозионные показатели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Рекомендуется для циклов с высоким уровнем защиты при нанесении одного слоя на предварительно подготовленную поверхность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Продукт с высоким сухим остатком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Максимальный показатель ЛОС (готовой смеси)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&lt;420 gr / </a:t>
                      </a: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lt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sz="1400" dirty="0"/>
                      </a:b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1262879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F830HS</a:t>
                      </a: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20-30</a:t>
                      </a: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15% F922CT</a:t>
                      </a:r>
                      <a:endParaRPr lang="it-IT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554744"/>
                  </a:ext>
                </a:extLst>
              </a:tr>
            </a:tbl>
          </a:graphicData>
        </a:graphic>
      </p:graphicFrame>
      <p:sp>
        <p:nvSpPr>
          <p:cNvPr id="7" name="Rettangolo 3"/>
          <p:cNvSpPr/>
          <p:nvPr/>
        </p:nvSpPr>
        <p:spPr>
          <a:xfrm>
            <a:off x="161633" y="22352"/>
            <a:ext cx="1979271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579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7" y="4002891"/>
            <a:ext cx="9321800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it-IT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</a:t>
            </a:r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Акриловый продукт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73724"/>
              </p:ext>
            </p:extLst>
          </p:nvPr>
        </p:nvGraphicFramePr>
        <p:xfrm>
          <a:off x="167408" y="4673818"/>
          <a:ext cx="9316028" cy="1634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810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622539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158187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176700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878465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3304327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71673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Тип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Код конвертера 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Фосфат цинка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Соотношение с пастами </a:t>
                      </a:r>
                      <a:r>
                        <a:rPr lang="it-IT" sz="1200" b="1" dirty="0"/>
                        <a:t>FBU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Степень блеска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Применение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629101"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ru-RU" sz="1100" dirty="0"/>
                        <a:t>Праймер-финиш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F710SP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нет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80/20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baseline="0" dirty="0"/>
                        <a:t>70-80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dirty="0"/>
                        <a:t>Эмали для непосредственного нанесения на гальванизированные поверхности</a:t>
                      </a:r>
                      <a:r>
                        <a:rPr lang="en" sz="1100" dirty="0"/>
                        <a:t>.</a:t>
                      </a:r>
                    </a:p>
                    <a:p>
                      <a:pPr algn="l"/>
                      <a:r>
                        <a:rPr lang="ru-RU" sz="1100" dirty="0" err="1"/>
                        <a:t>Монокомпонентный</a:t>
                      </a:r>
                      <a:r>
                        <a:rPr lang="ru-RU" sz="1100" dirty="0"/>
                        <a:t> продукт</a:t>
                      </a:r>
                      <a:r>
                        <a:rPr lang="en" sz="1100" dirty="0"/>
                        <a:t>.</a:t>
                      </a:r>
                    </a:p>
                    <a:p>
                      <a:pPr algn="l"/>
                      <a:r>
                        <a:rPr lang="en" sz="1100" dirty="0"/>
                        <a:t>F710pc </a:t>
                      </a:r>
                      <a:r>
                        <a:rPr lang="ru-RU" sz="1100" dirty="0"/>
                        <a:t>может использоваться</a:t>
                      </a:r>
                      <a:r>
                        <a:rPr lang="ru-RU" sz="1100" baseline="0" dirty="0"/>
                        <a:t> как </a:t>
                      </a:r>
                      <a:r>
                        <a:rPr lang="ru-RU" sz="1100" dirty="0"/>
                        <a:t>праймер с перекрытием 1К эмалью</a:t>
                      </a:r>
                      <a:r>
                        <a:rPr lang="en" sz="1100" baseline="0" dirty="0"/>
                        <a:t>.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533611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F710PC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нет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100" dirty="0"/>
                        <a:t>85/15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baseline="0" dirty="0"/>
                        <a:t>10-15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161636" y="596535"/>
            <a:ext cx="9321800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3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Слюдосодержащие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эмали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8" name="Tabel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88277"/>
              </p:ext>
            </p:extLst>
          </p:nvPr>
        </p:nvGraphicFramePr>
        <p:xfrm>
          <a:off x="161636" y="1381794"/>
          <a:ext cx="93218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231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304923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86232">
                  <a:extLst>
                    <a:ext uri="{9D8B030D-6E8A-4147-A177-3AD203B41FA5}">
                      <a16:colId xmlns:a16="http://schemas.microsoft.com/office/drawing/2014/main" val="3370192586"/>
                    </a:ext>
                  </a:extLst>
                </a:gridCol>
                <a:gridCol w="822287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852743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002480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865434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2139470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5543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Тип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Код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Конвертер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/>
                        <a:t>Прод</a:t>
                      </a:r>
                      <a:r>
                        <a:rPr lang="en" sz="1200" b="1" dirty="0"/>
                        <a:t>.</a:t>
                      </a:r>
                      <a:r>
                        <a:rPr lang="en" sz="1200" b="1" baseline="0" dirty="0"/>
                        <a:t> </a:t>
                      </a:r>
                      <a:r>
                        <a:rPr lang="ru-RU" sz="1200" b="1" dirty="0"/>
                        <a:t>эмаль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Фосфат цинка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Соотношение с пастами </a:t>
                      </a:r>
                      <a:r>
                        <a:rPr lang="it-IT" sz="1200" b="1" dirty="0"/>
                        <a:t>FBU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Отвердитель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Применение</a:t>
                      </a:r>
                      <a:endParaRPr lang="it-IT" sz="12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607923"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ru-RU" sz="1100" dirty="0"/>
                        <a:t>Эмаль</a:t>
                      </a:r>
                      <a:endParaRPr lang="it-IT" sz="11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F6FMGG</a:t>
                      </a:r>
                    </a:p>
                    <a:p>
                      <a:pPr algn="ctr"/>
                      <a:r>
                        <a:rPr lang="ru-RU" sz="1100" dirty="0"/>
                        <a:t>Крупнозернистая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x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x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нет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 </a:t>
                      </a:r>
                    </a:p>
                    <a:p>
                      <a:pPr algn="ctr"/>
                      <a:r>
                        <a:rPr lang="ru-RU" sz="1100" dirty="0"/>
                        <a:t>Зависит от цвета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  <a:p>
                      <a:pPr algn="ctr"/>
                      <a:r>
                        <a:rPr lang="en" sz="1100" dirty="0"/>
                        <a:t>20% F901ct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err="1"/>
                        <a:t>Слюдосодержащий</a:t>
                      </a:r>
                      <a:r>
                        <a:rPr lang="ru-RU" sz="1100" dirty="0"/>
                        <a:t> 2К </a:t>
                      </a:r>
                      <a:r>
                        <a:rPr lang="ru-RU" sz="1100" dirty="0" err="1"/>
                        <a:t>самогрунт</a:t>
                      </a:r>
                      <a:r>
                        <a:rPr lang="en" sz="1100" dirty="0"/>
                        <a:t>. </a:t>
                      </a:r>
                      <a:r>
                        <a:rPr lang="ru-RU" sz="1100" dirty="0"/>
                        <a:t>Крупно- и мелкозернистые версии. Для нанесения на углеродистую сталь</a:t>
                      </a:r>
                      <a:r>
                        <a:rPr lang="ru-RU" sz="1100" baseline="0" dirty="0"/>
                        <a:t>, алюминий и гальванизированные поверхности.</a:t>
                      </a:r>
                      <a:r>
                        <a:rPr lang="en" sz="1100" baseline="0" dirty="0"/>
                        <a:t> </a:t>
                      </a:r>
                      <a:r>
                        <a:rPr lang="ru-RU" sz="1100" baseline="0" dirty="0"/>
                        <a:t>Идеально подходит для перил, ворот и т.д.</a:t>
                      </a:r>
                      <a:r>
                        <a:rPr lang="en" sz="1100" baseline="0" dirty="0"/>
                        <a:t> </a:t>
                      </a:r>
                      <a:endParaRPr lang="it-IT" sz="1100" dirty="0"/>
                    </a:p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455430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F406FM</a:t>
                      </a:r>
                    </a:p>
                    <a:p>
                      <a:pPr algn="ctr"/>
                      <a:r>
                        <a:rPr lang="ru-RU" sz="1100" dirty="0"/>
                        <a:t>Мелкозернистая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x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100" dirty="0"/>
                        <a:t>x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нет</a:t>
                      </a: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455430"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47404"/>
                  </a:ext>
                </a:extLst>
              </a:tr>
            </a:tbl>
          </a:graphicData>
        </a:graphic>
      </p:graphicFrame>
      <p:sp>
        <p:nvSpPr>
          <p:cNvPr id="9" name="Rettangolo 3"/>
          <p:cNvSpPr/>
          <p:nvPr/>
        </p:nvSpPr>
        <p:spPr>
          <a:xfrm>
            <a:off x="161637" y="22352"/>
            <a:ext cx="1979271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6904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6" y="752293"/>
            <a:ext cx="9481126" cy="646327"/>
          </a:xfrm>
          <a:prstGeom prst="rect">
            <a:avLst/>
          </a:prstGeom>
          <a:solidFill>
            <a:schemeClr val="accent5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ПУ эмали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161635" y="1706235"/>
            <a:ext cx="4502961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Промышленные эмали общего назначения</a:t>
            </a:r>
            <a:endParaRPr lang="en" b="1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62754"/>
              </p:ext>
            </p:extLst>
          </p:nvPr>
        </p:nvGraphicFramePr>
        <p:xfrm>
          <a:off x="161636" y="2405372"/>
          <a:ext cx="9481126" cy="298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1342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290538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55631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310839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745836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2636940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512068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 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607826"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Эмаль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F420SP</a:t>
                      </a:r>
                    </a:p>
                    <a:p>
                      <a:pPr algn="ctr"/>
                      <a:r>
                        <a:rPr lang="ru-RU" sz="1200" dirty="0">
                          <a:solidFill>
                            <a:srgbClr val="FFFF00"/>
                          </a:solidFill>
                        </a:rPr>
                        <a:t>Сертифицированная серия</a:t>
                      </a:r>
                      <a:endParaRPr lang="it-IT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&gt;90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75/25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50% </a:t>
                      </a:r>
                      <a:r>
                        <a:rPr lang="en" sz="1200" baseline="0" dirty="0"/>
                        <a:t>F900ct</a:t>
                      </a:r>
                    </a:p>
                    <a:p>
                      <a:pPr algn="ctr"/>
                      <a:r>
                        <a:rPr lang="en" sz="1200" baseline="0" dirty="0"/>
                        <a:t>F901ct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aseline="0" dirty="0"/>
                        <a:t>Стандартные серии ПУ эмалей</a:t>
                      </a:r>
                      <a:r>
                        <a:rPr lang="en" sz="1200" dirty="0"/>
                        <a:t>. </a:t>
                      </a:r>
                      <a:r>
                        <a:rPr lang="ru-RU" sz="1200" dirty="0"/>
                        <a:t> Общее назначение. Эмали наносятся на 2к </a:t>
                      </a:r>
                      <a:r>
                        <a:rPr lang="ru-RU" sz="1200" baseline="0" dirty="0" err="1"/>
                        <a:t>праймеры</a:t>
                      </a:r>
                      <a:r>
                        <a:rPr lang="ru-RU" sz="1200" baseline="0" dirty="0"/>
                        <a:t> или промежуточные грунты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Хороший внешний вид и оптимальная устойчивость к атмосферным воздействиям</a:t>
                      </a:r>
                      <a:r>
                        <a:rPr lang="en" sz="1200" baseline="0" dirty="0"/>
                        <a:t>. </a:t>
                      </a:r>
                      <a:endParaRPr lang="ru-RU" sz="1200" baseline="0" dirty="0"/>
                    </a:p>
                    <a:p>
                      <a:pPr algn="l"/>
                      <a:r>
                        <a:rPr lang="ru-RU" sz="1200" baseline="0" dirty="0"/>
                        <a:t>Эмали используются для окраски прицепов, сельскохозяйственной технике, землеройных машинах, шасси,  и в  антикоррозионных системах. Сертифицированная серия.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839206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F420SE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40-60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50% F900ct</a:t>
                      </a:r>
                    </a:p>
                    <a:p>
                      <a:pPr algn="ctr"/>
                      <a:r>
                        <a:rPr lang="en" sz="1200" dirty="0"/>
                        <a:t>F901ct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673873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F420OP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10-20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40% </a:t>
                      </a:r>
                      <a:r>
                        <a:rPr lang="en" sz="1200" baseline="0" dirty="0"/>
                        <a:t>F900ct</a:t>
                      </a:r>
                    </a:p>
                    <a:p>
                      <a:pPr algn="ctr"/>
                      <a:r>
                        <a:rPr lang="en" sz="1200" baseline="0" dirty="0"/>
                        <a:t>F901ct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sp>
        <p:nvSpPr>
          <p:cNvPr id="7" name="Rettangolo 3"/>
          <p:cNvSpPr/>
          <p:nvPr/>
        </p:nvSpPr>
        <p:spPr>
          <a:xfrm>
            <a:off x="161637" y="160849"/>
            <a:ext cx="1979271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7177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/>
          <p:cNvSpPr/>
          <p:nvPr/>
        </p:nvSpPr>
        <p:spPr>
          <a:xfrm>
            <a:off x="1673998" y="1611299"/>
            <a:ext cx="7830221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Высококачественные промышленные покрытия</a:t>
            </a:r>
            <a:endParaRPr lang="en" b="1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034832"/>
              </p:ext>
            </p:extLst>
          </p:nvPr>
        </p:nvGraphicFramePr>
        <p:xfrm>
          <a:off x="161636" y="2463100"/>
          <a:ext cx="9342584" cy="289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352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315572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57103">
                  <a:extLst>
                    <a:ext uri="{9D8B030D-6E8A-4147-A177-3AD203B41FA5}">
                      <a16:colId xmlns:a16="http://schemas.microsoft.com/office/drawing/2014/main" val="3142808083"/>
                    </a:ext>
                  </a:extLst>
                </a:gridCol>
                <a:gridCol w="1312667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2871926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678335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 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587003"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Эмаль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F427XP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&gt;90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75/25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50% F901ct</a:t>
                      </a:r>
                    </a:p>
                    <a:p>
                      <a:pPr algn="ctr"/>
                      <a:r>
                        <a:rPr lang="en" sz="1200" baseline="0" dirty="0"/>
                        <a:t>40% F922ct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Новая серия ПУ эмалей</a:t>
                      </a:r>
                      <a:r>
                        <a:rPr lang="en" sz="1200" dirty="0"/>
                        <a:t>. </a:t>
                      </a:r>
                      <a:r>
                        <a:rPr lang="ru-RU" sz="1200" dirty="0"/>
                        <a:t>Улучшенные </a:t>
                      </a:r>
                      <a:r>
                        <a:rPr lang="ru-RU" sz="1200" dirty="0" err="1"/>
                        <a:t>тиксотропность</a:t>
                      </a:r>
                      <a:r>
                        <a:rPr lang="ru-RU" sz="1200" dirty="0"/>
                        <a:t>,</a:t>
                      </a:r>
                      <a:r>
                        <a:rPr lang="en" sz="1200" baseline="0" dirty="0"/>
                        <a:t> </a:t>
                      </a:r>
                      <a:r>
                        <a:rPr lang="ru-RU" sz="1200" baseline="0" dirty="0" err="1"/>
                        <a:t>растекаемость</a:t>
                      </a:r>
                      <a:r>
                        <a:rPr lang="en" sz="1200" baseline="0" dirty="0"/>
                        <a:t>, </a:t>
                      </a:r>
                      <a:r>
                        <a:rPr lang="ru-RU" sz="1200" baseline="0" dirty="0"/>
                        <a:t>твердость</a:t>
                      </a:r>
                      <a:r>
                        <a:rPr lang="en" sz="1200" baseline="0" dirty="0"/>
                        <a:t> </a:t>
                      </a:r>
                      <a:r>
                        <a:rPr lang="ru-RU" sz="1200" baseline="0" dirty="0"/>
                        <a:t>и эстетические показатели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Продукты удобны в использовании и применяются для различных секторов, таких как промышленные кузовные работы</a:t>
                      </a:r>
                      <a:r>
                        <a:rPr lang="en" sz="1200" baseline="0" dirty="0"/>
                        <a:t>, </a:t>
                      </a:r>
                      <a:r>
                        <a:rPr lang="ru-RU" sz="1200" baseline="0" dirty="0"/>
                        <a:t>покраска землеройных машин и</a:t>
                      </a:r>
                      <a:r>
                        <a:rPr lang="en" sz="1200" baseline="0" dirty="0"/>
                        <a:t> </a:t>
                      </a:r>
                      <a:r>
                        <a:rPr lang="ru-RU" sz="1200" baseline="0" dirty="0"/>
                        <a:t>металлоконструкций</a:t>
                      </a:r>
                      <a:r>
                        <a:rPr lang="en" sz="1200" baseline="0" dirty="0"/>
                        <a:t>.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810456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F427SE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50-60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30% F901ct</a:t>
                      </a:r>
                    </a:p>
                    <a:p>
                      <a:pPr algn="ctr"/>
                      <a:r>
                        <a:rPr lang="en" sz="1200" dirty="0"/>
                        <a:t>40% F900ct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814686"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F427OP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10-15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80/20</a:t>
                      </a:r>
                      <a:endParaRPr lang="it-IT" sz="12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30% F901ct</a:t>
                      </a:r>
                    </a:p>
                    <a:p>
                      <a:pPr algn="ctr"/>
                      <a:r>
                        <a:rPr lang="en" sz="1200" dirty="0"/>
                        <a:t>40% F900ct</a:t>
                      </a:r>
                    </a:p>
                    <a:p>
                      <a:pPr algn="ctr"/>
                      <a:endParaRPr lang="it-IT" sz="1200" baseline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sp>
        <p:nvSpPr>
          <p:cNvPr id="8" name="Rettangolo 7"/>
          <p:cNvSpPr/>
          <p:nvPr/>
        </p:nvSpPr>
        <p:spPr>
          <a:xfrm rot="20830027">
            <a:off x="230161" y="1552516"/>
            <a:ext cx="1155480" cy="523216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Новинка</a:t>
            </a:r>
            <a:r>
              <a:rPr lang="en" sz="2800" b="1" dirty="0"/>
              <a:t>!!</a:t>
            </a:r>
          </a:p>
        </p:txBody>
      </p:sp>
      <p:sp>
        <p:nvSpPr>
          <p:cNvPr id="7" name="Rettangolo 72"/>
          <p:cNvSpPr/>
          <p:nvPr/>
        </p:nvSpPr>
        <p:spPr>
          <a:xfrm>
            <a:off x="161636" y="752293"/>
            <a:ext cx="9481126" cy="646327"/>
          </a:xfrm>
          <a:prstGeom prst="rect">
            <a:avLst/>
          </a:prstGeom>
          <a:solidFill>
            <a:schemeClr val="accent5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ПУ эмали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ttangolo 3"/>
          <p:cNvSpPr/>
          <p:nvPr/>
        </p:nvSpPr>
        <p:spPr>
          <a:xfrm>
            <a:off x="161637" y="22352"/>
            <a:ext cx="1979271" cy="27699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4989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6" y="794713"/>
            <a:ext cx="9333344" cy="646327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Эпоксидные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58873"/>
              </p:ext>
            </p:extLst>
          </p:nvPr>
        </p:nvGraphicFramePr>
        <p:xfrm>
          <a:off x="161636" y="1813269"/>
          <a:ext cx="9333344" cy="49578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335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734806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13711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3134133422"/>
                    </a:ext>
                  </a:extLst>
                </a:gridCol>
                <a:gridCol w="983947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320341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3432508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581674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Серия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Версия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699905">
                <a:tc rowSpan="3">
                  <a:txBody>
                    <a:bodyPr/>
                    <a:lstStyle/>
                    <a:p>
                      <a:pPr algn="ctr"/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Праймер</a:t>
                      </a:r>
                      <a:endParaRPr kumimoji="0" lang="e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F330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Конвертер</a:t>
                      </a:r>
                      <a:r>
                        <a:rPr lang="en" sz="1200" dirty="0"/>
                        <a:t>: SP/HS</a:t>
                      </a:r>
                      <a:r>
                        <a:rPr lang="en" sz="1200" baseline="0" dirty="0"/>
                        <a:t> 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85/15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</a:p>
                    <a:p>
                      <a:pPr algn="ctr"/>
                      <a:r>
                        <a:rPr lang="en" sz="1200" baseline="0" dirty="0"/>
                        <a:t>F903ct</a:t>
                      </a:r>
                    </a:p>
                    <a:p>
                      <a:pPr algn="ctr"/>
                      <a:r>
                        <a:rPr lang="en" sz="1200" baseline="0" dirty="0"/>
                        <a:t>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Шпатлевки / грунтовки с отличной адгезией</a:t>
                      </a:r>
                      <a:r>
                        <a:rPr lang="en" sz="1200" baseline="0" dirty="0"/>
                        <a:t>, </a:t>
                      </a:r>
                      <a:r>
                        <a:rPr lang="ru-RU" sz="1200" baseline="0" dirty="0"/>
                        <a:t>антикоррозионными свойствами и</a:t>
                      </a:r>
                      <a:r>
                        <a:rPr lang="en" sz="1200" baseline="0" dirty="0"/>
                        <a:t> </a:t>
                      </a:r>
                      <a:r>
                        <a:rPr lang="ru-RU" sz="1200" baseline="0" dirty="0"/>
                        <a:t>барьерным эффектом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Высокий объемный сухой остаток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Для стандартного нанесения,  а также для толстослойных циклов с высокими требованиями к степени защиты и долговечности покрытия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Может быть перекрашен</a:t>
                      </a:r>
                      <a:r>
                        <a:rPr lang="en" sz="1200" baseline="0" dirty="0"/>
                        <a:t>.</a:t>
                      </a:r>
                    </a:p>
                    <a:p>
                      <a:pPr algn="l"/>
                      <a:r>
                        <a:rPr lang="en" sz="1200" baseline="0" dirty="0"/>
                        <a:t>SP </a:t>
                      </a:r>
                      <a:r>
                        <a:rPr lang="ru-RU" sz="1200" baseline="0" dirty="0"/>
                        <a:t>версия</a:t>
                      </a:r>
                      <a:r>
                        <a:rPr lang="en" sz="1200" baseline="0" dirty="0"/>
                        <a:t> – </a:t>
                      </a:r>
                      <a:r>
                        <a:rPr lang="ru-RU" sz="1200" baseline="0" dirty="0"/>
                        <a:t>Стандартная версия</a:t>
                      </a:r>
                      <a:r>
                        <a:rPr lang="en" sz="1200" baseline="0" dirty="0"/>
                        <a:t>, </a:t>
                      </a:r>
                      <a:r>
                        <a:rPr lang="ru-RU" sz="1200" baseline="0" dirty="0"/>
                        <a:t>сертифицированная</a:t>
                      </a:r>
                      <a:endParaRPr lang="en" sz="1200" baseline="0" dirty="0"/>
                    </a:p>
                    <a:p>
                      <a:pPr algn="l"/>
                      <a:r>
                        <a:rPr lang="en" sz="1200" baseline="0" dirty="0"/>
                        <a:t>HS </a:t>
                      </a:r>
                      <a:r>
                        <a:rPr lang="ru-RU" sz="1200" baseline="0" dirty="0"/>
                        <a:t>версия</a:t>
                      </a:r>
                      <a:r>
                        <a:rPr lang="en" sz="1200" baseline="0" dirty="0"/>
                        <a:t> - </a:t>
                      </a:r>
                      <a:r>
                        <a:rPr lang="ru-RU" sz="1200" baseline="0" dirty="0" err="1"/>
                        <a:t>Высокоукрывная</a:t>
                      </a:r>
                      <a:r>
                        <a:rPr lang="en" sz="1200" baseline="0" dirty="0"/>
                        <a:t> / </a:t>
                      </a:r>
                      <a:r>
                        <a:rPr lang="ru-RU" sz="1200" baseline="0" dirty="0"/>
                        <a:t>тиксотропная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1030361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SP/HS</a:t>
                      </a:r>
                    </a:p>
                    <a:p>
                      <a:pPr algn="ctr"/>
                      <a:r>
                        <a:rPr lang="ru-RU" sz="1200" dirty="0"/>
                        <a:t>Пигментированные версии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</a:p>
                    <a:p>
                      <a:pPr algn="ctr"/>
                      <a:r>
                        <a:rPr lang="en" sz="1200" baseline="0" dirty="0"/>
                        <a:t>F903ct</a:t>
                      </a:r>
                    </a:p>
                    <a:p>
                      <a:pPr algn="ctr"/>
                      <a:r>
                        <a:rPr lang="en" sz="1200" baseline="0" dirty="0"/>
                        <a:t>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940375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Пигментированные версии</a:t>
                      </a:r>
                      <a:endParaRPr lang="en" sz="1200" dirty="0"/>
                    </a:p>
                    <a:p>
                      <a:pPr algn="ctr"/>
                      <a:r>
                        <a:rPr lang="en" sz="1200" dirty="0"/>
                        <a:t>EX/IN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</a:p>
                    <a:p>
                      <a:pPr algn="ctr"/>
                      <a:r>
                        <a:rPr lang="en" sz="1200" baseline="0" dirty="0"/>
                        <a:t>F906ct</a:t>
                      </a:r>
                    </a:p>
                    <a:p>
                      <a:pPr algn="ctr"/>
                      <a:r>
                        <a:rPr lang="en" sz="1200" baseline="0" dirty="0"/>
                        <a:t>F906ct/i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Эконом версии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u="sng" baseline="0" dirty="0"/>
                        <a:t>Содержат фосфат цинка</a:t>
                      </a:r>
                      <a:r>
                        <a:rPr lang="en" sz="1200" baseline="0" dirty="0"/>
                        <a:t>, </a:t>
                      </a:r>
                      <a:r>
                        <a:rPr lang="ru-RU" sz="1200" baseline="0" dirty="0"/>
                        <a:t>низкий сухой остаток по объему. Продукты демонстрируют достойные антикоррозионные и барьерные свойства</a:t>
                      </a:r>
                      <a:r>
                        <a:rPr lang="en" sz="1200" baseline="0" dirty="0"/>
                        <a:t>.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49483"/>
                  </a:ext>
                </a:extLst>
              </a:tr>
              <a:tr h="96945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Промежуточный праймер</a:t>
                      </a:r>
                      <a:endParaRPr kumimoji="0" lang="e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F230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Конвертер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85/15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</a:p>
                    <a:p>
                      <a:pPr algn="ctr"/>
                      <a:r>
                        <a:rPr lang="en" sz="1200" baseline="0" dirty="0"/>
                        <a:t>F906ct</a:t>
                      </a:r>
                    </a:p>
                    <a:p>
                      <a:pPr algn="ctr"/>
                      <a:r>
                        <a:rPr lang="en" sz="1200" baseline="0" dirty="0"/>
                        <a:t>F906ct/i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Версия с БЕЗ</a:t>
                      </a:r>
                      <a:r>
                        <a:rPr lang="ru-RU" sz="1200" baseline="0" dirty="0"/>
                        <a:t> </a:t>
                      </a:r>
                      <a:r>
                        <a:rPr lang="ru-RU" sz="1200" dirty="0"/>
                        <a:t>фосфата цинка,</a:t>
                      </a:r>
                      <a:r>
                        <a:rPr lang="ru-RU" sz="1200" baseline="0" dirty="0"/>
                        <a:t> используемая в качестве промежуточного грунта в многослойных циклах</a:t>
                      </a:r>
                      <a:r>
                        <a:rPr lang="en" sz="1200" baseline="0" dirty="0"/>
                        <a:t>. </a:t>
                      </a:r>
                      <a:r>
                        <a:rPr lang="ru-RU" sz="1200" baseline="0" dirty="0"/>
                        <a:t>Хорошая адгезия и защитные свойства с барьерным эффектом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361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057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6" y="600761"/>
            <a:ext cx="9699994" cy="646327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Эпоксидные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343499"/>
              </p:ext>
            </p:extLst>
          </p:nvPr>
        </p:nvGraphicFramePr>
        <p:xfrm>
          <a:off x="161635" y="1999660"/>
          <a:ext cx="9711569" cy="4578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6859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748761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167418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301332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4007199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625262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75235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Органический</a:t>
                      </a:r>
                    </a:p>
                    <a:p>
                      <a:pPr algn="ctr"/>
                      <a:r>
                        <a:rPr lang="ru-RU" sz="1200" dirty="0"/>
                        <a:t>Цинкосодержащий праймер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F332SP0703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70%</a:t>
                      </a:r>
                      <a:r>
                        <a:rPr lang="ru-RU" sz="1200" baseline="0" dirty="0"/>
                        <a:t> Цинка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10% </a:t>
                      </a:r>
                      <a:r>
                        <a:rPr lang="en" sz="1200" baseline="0" dirty="0"/>
                        <a:t>F915ct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Праймер для катодной защиты отшлифованных поверхностей из углеродистой стали.</a:t>
                      </a:r>
                      <a:r>
                        <a:rPr lang="ru-RU" sz="1200" baseline="0" dirty="0"/>
                        <a:t> 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75235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Битумный эпоксидный </a:t>
                      </a:r>
                      <a:r>
                        <a:rPr kumimoji="0" lang="ru-RU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самогрунт</a:t>
                      </a: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F338HC0970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  <a:r>
                        <a:rPr lang="en" sz="1200" baseline="0" dirty="0"/>
                        <a:t> </a:t>
                      </a:r>
                    </a:p>
                    <a:p>
                      <a:pPr algn="ctr"/>
                      <a:r>
                        <a:rPr lang="en" sz="1200" baseline="0" dirty="0"/>
                        <a:t>F903ct</a:t>
                      </a:r>
                    </a:p>
                    <a:p>
                      <a:pPr algn="ctr"/>
                      <a:r>
                        <a:rPr lang="en" sz="1200" baseline="0" dirty="0"/>
                        <a:t>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Битумный </a:t>
                      </a:r>
                      <a:r>
                        <a:rPr kumimoji="0" lang="ru-RU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самогрунт</a:t>
                      </a: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dirty="0"/>
                        <a:t>специального назначения</a:t>
                      </a:r>
                      <a:r>
                        <a:rPr lang="ru-RU" sz="1200" baseline="0" dirty="0"/>
                        <a:t>.  Используется для окрашивания изделий, эксплуатируемых в условиях высокой влажности и/или </a:t>
                      </a:r>
                      <a:r>
                        <a:rPr lang="ru-RU" sz="1200" dirty="0"/>
                        <a:t>находящихся в непосредственном контакте с грунтом</a:t>
                      </a:r>
                      <a:r>
                        <a:rPr lang="en" sz="1200" dirty="0"/>
                        <a:t>.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812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Эпоксидный праймер с высоким объемным сухим остатком</a:t>
                      </a: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F336HB</a:t>
                      </a:r>
                    </a:p>
                    <a:p>
                      <a:pPr algn="ctr"/>
                      <a:r>
                        <a:rPr lang="ru-RU" sz="1200" dirty="0"/>
                        <a:t>Белый цвет различных оттенков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20</a:t>
                      </a:r>
                      <a:r>
                        <a:rPr lang="en" sz="1200" dirty="0"/>
                        <a:t>% </a:t>
                      </a:r>
                      <a:r>
                        <a:rPr lang="en" sz="1200" baseline="0" dirty="0"/>
                        <a:t>F916ct</a:t>
                      </a:r>
                    </a:p>
                    <a:p>
                      <a:pPr algn="ctr"/>
                      <a:r>
                        <a:rPr lang="en" sz="1200" baseline="0" dirty="0"/>
                        <a:t>20 % 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Грунт / праймер с высоким объемным</a:t>
                      </a:r>
                      <a:r>
                        <a:rPr lang="ru-RU" sz="1200" baseline="0" dirty="0"/>
                        <a:t> сухим остатком </a:t>
                      </a:r>
                      <a:r>
                        <a:rPr lang="en" sz="1200" baseline="0" dirty="0"/>
                        <a:t>(65-70%). </a:t>
                      </a:r>
                      <a:r>
                        <a:rPr lang="ru-RU" sz="1200" baseline="0" dirty="0"/>
                        <a:t> Для тяжелой промышленности и антикоррозионного сектора</a:t>
                      </a:r>
                      <a:r>
                        <a:rPr lang="en" sz="1200" baseline="0" dirty="0"/>
                        <a:t>.</a:t>
                      </a:r>
                      <a:r>
                        <a:rPr lang="ru-RU" sz="1200" baseline="0" dirty="0"/>
                        <a:t> Высокая толщина покрытия при однослойном нанесении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  <a:tr h="96455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Эпоксидный праймер</a:t>
                      </a:r>
                      <a:endParaRPr kumimoji="0" lang="e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Surface tolerant</a:t>
                      </a:r>
                      <a:endParaRPr kumimoji="0" lang="ru-RU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(адгезионный)</a:t>
                      </a: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F336ST </a:t>
                      </a:r>
                      <a:r>
                        <a:rPr lang="ru-RU" sz="1200" dirty="0"/>
                        <a:t>серия</a:t>
                      </a:r>
                      <a:endParaRPr lang="en" sz="1200" dirty="0"/>
                    </a:p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Сертифицированная серия</a:t>
                      </a:r>
                      <a:endParaRPr lang="it-IT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20% F927ct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Эпоксиполиамидный грунт/праймер </a:t>
                      </a:r>
                      <a:r>
                        <a:rPr lang="en" sz="1200" baseline="0" dirty="0"/>
                        <a:t>surface tolerant </a:t>
                      </a:r>
                      <a:r>
                        <a:rPr lang="ru-RU" sz="1200" baseline="0" dirty="0"/>
                        <a:t>с высокими показателями адгезии и объемного сухого остатка.  </a:t>
                      </a:r>
                      <a:endParaRPr lang="en" sz="1200" baseline="0" dirty="0"/>
                    </a:p>
                    <a:p>
                      <a:pPr algn="l"/>
                      <a:r>
                        <a:rPr lang="ru-RU" sz="1200" baseline="0" dirty="0"/>
                        <a:t>Продукт используется для нанесения на уже окрашенные или неподготовленные поверхности</a:t>
                      </a:r>
                      <a:r>
                        <a:rPr lang="en" sz="1200" baseline="0" dirty="0"/>
                        <a:t>.</a:t>
                      </a:r>
                      <a:r>
                        <a:rPr lang="ru-RU" sz="1200" baseline="0" dirty="0"/>
                        <a:t> Отлично подходит для работ по техническому обслуживанию.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49483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161636" y="1425365"/>
            <a:ext cx="6024419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Грунты и </a:t>
            </a:r>
            <a:r>
              <a:rPr lang="ru-RU" b="1" dirty="0" err="1"/>
              <a:t>праймеры</a:t>
            </a:r>
            <a:r>
              <a:rPr lang="ru-RU" b="1" dirty="0"/>
              <a:t> – специальные продукты</a:t>
            </a:r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1761716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6" y="704727"/>
            <a:ext cx="10128258" cy="646327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Эпоксидные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72991"/>
              </p:ext>
            </p:extLst>
          </p:nvPr>
        </p:nvGraphicFramePr>
        <p:xfrm>
          <a:off x="161635" y="2282016"/>
          <a:ext cx="10047237" cy="40987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811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192791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888039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026057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303067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3784923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666779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</a:t>
                      </a:r>
                      <a:endParaRPr lang="en" sz="1400" b="1" dirty="0"/>
                    </a:p>
                    <a:p>
                      <a:pPr algn="ctr"/>
                      <a:r>
                        <a:rPr lang="ru-RU" sz="1400" b="1" dirty="0"/>
                        <a:t>Конвертера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Соотношение с пастами </a:t>
                      </a:r>
                      <a:r>
                        <a:rPr lang="it-IT" sz="1400" b="1" dirty="0"/>
                        <a:t>FBU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Степень блеска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en" sz="1400" b="1" dirty="0"/>
                    </a:p>
                    <a:p>
                      <a:pPr algn="ctr"/>
                      <a:r>
                        <a:rPr lang="ru-RU" sz="1400" b="1" dirty="0"/>
                        <a:t>Не рекомендуется</a:t>
                      </a:r>
                      <a:r>
                        <a:rPr lang="ru-RU" sz="1400" b="1" baseline="0" dirty="0"/>
                        <a:t> для наружных работ</a:t>
                      </a:r>
                      <a:endParaRPr lang="it-IT" sz="1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661211">
                <a:tc rowSpan="3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ru-RU" sz="1200" dirty="0"/>
                        <a:t>Эмаль</a:t>
                      </a:r>
                      <a:endParaRPr lang="it-IT" sz="12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F430SP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  <a:p>
                      <a:pPr algn="ctr"/>
                      <a:r>
                        <a:rPr lang="en" sz="1200" dirty="0"/>
                        <a:t>85/15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25%</a:t>
                      </a:r>
                      <a:r>
                        <a:rPr lang="en" sz="1200" baseline="0" dirty="0"/>
                        <a:t> </a:t>
                      </a:r>
                    </a:p>
                    <a:p>
                      <a:pPr algn="ctr"/>
                      <a:r>
                        <a:rPr lang="en" sz="1200" baseline="0" dirty="0"/>
                        <a:t>F903ct 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&gt;80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Эпоксидные эмали для нанесения на грунты или </a:t>
                      </a:r>
                      <a:r>
                        <a:rPr lang="ru-RU" sz="1200" dirty="0" err="1"/>
                        <a:t>праймеры</a:t>
                      </a:r>
                      <a:r>
                        <a:rPr lang="ru-RU" sz="1200" dirty="0"/>
                        <a:t> в качестве финишных</a:t>
                      </a:r>
                      <a:r>
                        <a:rPr lang="ru-RU" sz="1200" baseline="0" dirty="0"/>
                        <a:t> покрытий</a:t>
                      </a:r>
                      <a:r>
                        <a:rPr lang="ru-RU" sz="1200" dirty="0"/>
                        <a:t> или непосредственно на подготовленный металл в декоративных целях. </a:t>
                      </a:r>
                    </a:p>
                    <a:p>
                      <a:pPr algn="l"/>
                      <a:r>
                        <a:rPr lang="ru-RU" sz="1200" dirty="0"/>
                        <a:t>Высокая химическая/физическая стойкость.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663892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F430SE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20%</a:t>
                      </a:r>
                      <a:r>
                        <a:rPr lang="en" sz="1200" baseline="0" dirty="0"/>
                        <a:t> </a:t>
                      </a:r>
                    </a:p>
                    <a:p>
                      <a:pPr algn="ctr"/>
                      <a:r>
                        <a:rPr lang="en" sz="1200" baseline="0" dirty="0"/>
                        <a:t>F903ct</a:t>
                      </a:r>
                    </a:p>
                    <a:p>
                      <a:pPr algn="ctr"/>
                      <a:r>
                        <a:rPr lang="en" sz="1200" baseline="0" dirty="0"/>
                        <a:t>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baseline="0" dirty="0"/>
                        <a:t>50-60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793784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F430BC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Нет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25%</a:t>
                      </a:r>
                      <a:r>
                        <a:rPr lang="en" sz="1200" baseline="0" dirty="0"/>
                        <a:t> </a:t>
                      </a:r>
                    </a:p>
                    <a:p>
                      <a:pPr algn="ctr"/>
                      <a:r>
                        <a:rPr lang="en" sz="1200" baseline="0" dirty="0"/>
                        <a:t>F903ct F903ct/i</a:t>
                      </a:r>
                      <a:endParaRPr lang="it-IT" sz="1200" dirty="0"/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60-80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Эпоксидная эмаль с текстурным эффектом</a:t>
                      </a:r>
                      <a:r>
                        <a:rPr lang="en" sz="1200" dirty="0"/>
                        <a:t>. </a:t>
                      </a:r>
                      <a:r>
                        <a:rPr lang="ru-RU" sz="1200" dirty="0"/>
                        <a:t>Высокая твердость</a:t>
                      </a:r>
                      <a:r>
                        <a:rPr lang="en" sz="1200" dirty="0"/>
                        <a:t>.</a:t>
                      </a:r>
                      <a:r>
                        <a:rPr lang="ru-RU" sz="1200" dirty="0"/>
                        <a:t> Продукт используется для покраски индустриального оборудования, токарных станков, прессов и т.д.</a:t>
                      </a:r>
                      <a:endParaRPr lang="en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  <a:tr h="66893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Самогрунт</a:t>
                      </a:r>
                      <a:endParaRPr kumimoji="0" lang="it-I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F430FF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Да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25%</a:t>
                      </a:r>
                      <a:r>
                        <a:rPr lang="en" sz="1200" baseline="0" dirty="0"/>
                        <a:t> </a:t>
                      </a:r>
                    </a:p>
                    <a:p>
                      <a:pPr algn="ctr"/>
                      <a:r>
                        <a:rPr lang="en" sz="1200" baseline="0" dirty="0"/>
                        <a:t>F903ct F903ct/i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/>
                        <a:t>60-80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err="1"/>
                        <a:t>Самогрунт</a:t>
                      </a:r>
                      <a:r>
                        <a:rPr lang="ru-RU" sz="1200" dirty="0"/>
                        <a:t> с содержанием фосфата цинка,</a:t>
                      </a:r>
                      <a:r>
                        <a:rPr lang="ru-RU" sz="1200" baseline="0" dirty="0"/>
                        <a:t> используемый в защитных и антикоррозионных циклах покраски индустриального оборудования, балок, ригелей и других объектов, подверженных воздействию агрессивных сред</a:t>
                      </a:r>
                      <a:endParaRPr lang="it-IT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161636" y="1631871"/>
            <a:ext cx="6024419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Эмали </a:t>
            </a:r>
            <a:r>
              <a:rPr lang="en" b="1" dirty="0"/>
              <a:t>- </a:t>
            </a:r>
            <a:r>
              <a:rPr lang="ru-RU" b="1" dirty="0" err="1"/>
              <a:t>самогруты</a:t>
            </a:r>
            <a:r>
              <a:rPr lang="en" b="1" dirty="0"/>
              <a:t>– </a:t>
            </a:r>
            <a:r>
              <a:rPr lang="ru-RU" b="1" dirty="0"/>
              <a:t>защитные покрытия</a:t>
            </a:r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2858865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290575" y="875825"/>
            <a:ext cx="9228330" cy="646327"/>
          </a:xfrm>
          <a:prstGeom prst="rect">
            <a:avLst/>
          </a:prstGeom>
          <a:solidFill>
            <a:srgbClr val="00B05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Дополнительные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4247"/>
              </p:ext>
            </p:extLst>
          </p:nvPr>
        </p:nvGraphicFramePr>
        <p:xfrm>
          <a:off x="290574" y="2256002"/>
          <a:ext cx="9228331" cy="3877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4026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598518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511707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4194080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3958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Запекание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Применение</a:t>
                      </a:r>
                      <a:endParaRPr lang="en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1196493"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Кремний содержащая эмаль для высоких температур</a:t>
                      </a:r>
                      <a:r>
                        <a:rPr lang="ru-RU" sz="1400" baseline="0" dirty="0"/>
                        <a:t> до</a:t>
                      </a:r>
                      <a:r>
                        <a:rPr lang="en" sz="1400" baseline="0" dirty="0"/>
                        <a:t> 600°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F447sp </a:t>
                      </a:r>
                      <a:r>
                        <a:rPr lang="ru-RU" sz="1400" dirty="0"/>
                        <a:t>Черный</a:t>
                      </a:r>
                      <a:r>
                        <a:rPr lang="en" sz="1400" dirty="0"/>
                        <a:t>/</a:t>
                      </a:r>
                      <a:r>
                        <a:rPr lang="ru-RU" sz="1400" dirty="0"/>
                        <a:t>Алюминий</a:t>
                      </a:r>
                      <a:endParaRPr lang="en" sz="1400" dirty="0"/>
                    </a:p>
                    <a:p>
                      <a:pPr algn="ctr"/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aseline="0" dirty="0"/>
                        <a:t>В течение</a:t>
                      </a:r>
                      <a:endParaRPr lang="en" sz="1400" baseline="0" dirty="0"/>
                    </a:p>
                    <a:p>
                      <a:pPr algn="ctr"/>
                      <a:r>
                        <a:rPr lang="en" sz="1400" baseline="0" dirty="0"/>
                        <a:t>20'-40'</a:t>
                      </a:r>
                    </a:p>
                    <a:p>
                      <a:pPr algn="ctr"/>
                      <a:r>
                        <a:rPr lang="en" sz="1400" baseline="0" dirty="0"/>
                        <a:t>120/150°C </a:t>
                      </a:r>
                      <a:r>
                        <a:rPr lang="ru-RU" sz="1400" baseline="0" dirty="0"/>
                        <a:t>после сушки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Эмаль для высоких температур до </a:t>
                      </a:r>
                      <a:r>
                        <a:rPr lang="en" sz="1400" baseline="0" dirty="0"/>
                        <a:t>600°. </a:t>
                      </a:r>
                      <a:r>
                        <a:rPr lang="ru-RU" sz="1400" baseline="0" dirty="0"/>
                        <a:t>Продукт наносится на стальную поверхность после предварительной микро пескоструйной обработки. Запекание после сушки является обязательным этапом для обеспечения необходимых эксплуатационных характеристик покрытия при рабочей температуре.</a:t>
                      </a:r>
                      <a:r>
                        <a:rPr lang="en" sz="1400" baseline="0" dirty="0"/>
                        <a:t> 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6373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ACRIL </a:t>
                      </a:r>
                      <a:r>
                        <a:rPr lang="ru-RU" sz="1400" dirty="0"/>
                        <a:t>Кремний содержащая эмаль для высоких температур</a:t>
                      </a:r>
                      <a:r>
                        <a:rPr lang="ru-RU" sz="1400" baseline="0" dirty="0"/>
                        <a:t> до</a:t>
                      </a:r>
                      <a:r>
                        <a:rPr kumimoji="0" lang="e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 300°</a:t>
                      </a: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F548sp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Черный</a:t>
                      </a:r>
                      <a:r>
                        <a:rPr lang="en" sz="1400" dirty="0"/>
                        <a:t>/</a:t>
                      </a:r>
                      <a:r>
                        <a:rPr lang="ru-RU" sz="1400" dirty="0"/>
                        <a:t>Алюминий</a:t>
                      </a:r>
                      <a:endParaRPr lang="en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Рекомендуется в течение </a:t>
                      </a:r>
                      <a:endParaRPr lang="en" sz="1400" baseline="0" dirty="0"/>
                    </a:p>
                    <a:p>
                      <a:pPr algn="ctr"/>
                      <a:r>
                        <a:rPr lang="en" sz="1400" baseline="0" dirty="0"/>
                        <a:t>20'-30'</a:t>
                      </a:r>
                    </a:p>
                    <a:p>
                      <a:pPr algn="ctr"/>
                      <a:r>
                        <a:rPr lang="en" sz="1400" baseline="0" dirty="0"/>
                        <a:t>110/120°C </a:t>
                      </a:r>
                      <a:r>
                        <a:rPr lang="ru-RU" sz="1400" baseline="0" dirty="0"/>
                        <a:t>после сушки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Эмаль для высоких температур до </a:t>
                      </a:r>
                      <a:r>
                        <a:rPr lang="en" sz="1400" baseline="0" dirty="0"/>
                        <a:t>300°. </a:t>
                      </a:r>
                      <a:r>
                        <a:rPr lang="ru-RU" sz="1400" baseline="0" dirty="0"/>
                        <a:t>Продукт наносится на стальную поверхность после предварительной микро пескоструйной обработки. Запекание после сушки является рекомендованным этапом для обеспечения необходимых эксплуатационных характеристик покрытия при рабочей температуре.</a:t>
                      </a:r>
                      <a:r>
                        <a:rPr lang="en" sz="1400" baseline="0" dirty="0"/>
                        <a:t> </a:t>
                      </a:r>
                      <a:endParaRPr lang="it-IT" sz="1400" dirty="0"/>
                    </a:p>
                    <a:p>
                      <a:pPr algn="l"/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290575" y="1724624"/>
            <a:ext cx="4994657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Кремний содержащие эмали </a:t>
            </a:r>
            <a:r>
              <a:rPr lang="en" b="1" dirty="0"/>
              <a:t>-ACRYL SILICONE 1k</a:t>
            </a:r>
          </a:p>
        </p:txBody>
      </p:sp>
    </p:spTree>
    <p:extLst>
      <p:ext uri="{BB962C8B-B14F-4D97-AF65-F5344CB8AC3E}">
        <p14:creationId xmlns:p14="http://schemas.microsoft.com/office/powerpoint/2010/main" val="168490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6" y="559911"/>
            <a:ext cx="9264165" cy="646327"/>
          </a:xfrm>
          <a:prstGeom prst="rect">
            <a:avLst/>
          </a:prstGeom>
          <a:solidFill>
            <a:srgbClr val="00B05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Дополнительные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595254"/>
              </p:ext>
            </p:extLst>
          </p:nvPr>
        </p:nvGraphicFramePr>
        <p:xfrm>
          <a:off x="161636" y="1575566"/>
          <a:ext cx="9827315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1690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248329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961530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718733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1147015">
                  <a:extLst>
                    <a:ext uri="{9D8B030D-6E8A-4147-A177-3AD203B41FA5}">
                      <a16:colId xmlns:a16="http://schemas.microsoft.com/office/drawing/2014/main" val="3838640299"/>
                    </a:ext>
                  </a:extLst>
                </a:gridCol>
                <a:gridCol w="2910018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5539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Фосфат цинка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Отвердитель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Степень блеска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Применение</a:t>
                      </a:r>
                      <a:endParaRPr lang="en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1340976">
                <a:tc rowSpan="3"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  <a:p>
                      <a:pPr algn="ctr"/>
                      <a:endParaRPr lang="it-IT" sz="1600" dirty="0"/>
                    </a:p>
                    <a:p>
                      <a:pPr algn="ctr"/>
                      <a:endParaRPr lang="it-IT" sz="1600" dirty="0"/>
                    </a:p>
                    <a:p>
                      <a:pPr algn="ctr"/>
                      <a:endParaRPr lang="it-IT" sz="1600" dirty="0"/>
                    </a:p>
                    <a:p>
                      <a:pPr algn="ctr"/>
                      <a:endParaRPr lang="it-IT" sz="1600" dirty="0"/>
                    </a:p>
                    <a:p>
                      <a:pPr algn="ctr"/>
                      <a:r>
                        <a:rPr lang="ru-RU" sz="1600" dirty="0" err="1"/>
                        <a:t>Самогрунт</a:t>
                      </a:r>
                      <a:endParaRPr lang="ru-RU" sz="1600" dirty="0"/>
                    </a:p>
                    <a:p>
                      <a:pPr algn="ctr"/>
                      <a:r>
                        <a:rPr lang="ru-RU" sz="1600" dirty="0"/>
                        <a:t>Прозрачные акриловые лаки</a:t>
                      </a:r>
                      <a:endParaRPr lang="it-IT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F4SP001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Нет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30% </a:t>
                      </a:r>
                      <a:r>
                        <a:rPr lang="en" sz="1400" baseline="0" dirty="0"/>
                        <a:t>F901ct 30%F922ct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&gt;95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Лаки </a:t>
                      </a:r>
                      <a:r>
                        <a:rPr lang="ru-RU" sz="1400" baseline="0" dirty="0"/>
                        <a:t>для защиты различных металлов от окисления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Продукт наносится на стальные, гальванизированные, алюминиевые, LL, серебряные, латунные, медные поверхности в качестве защитного покрытия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Стандартные версии. Матовые и глянцевые. Продукты характеризуются отличными эстетическими показателями и твердостью.</a:t>
                      </a:r>
                      <a:r>
                        <a:rPr lang="en" sz="1400" baseline="0" dirty="0"/>
                        <a:t> 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596262">
                <a:tc vMerge="1">
                  <a:txBody>
                    <a:bodyPr/>
                    <a:lstStyle/>
                    <a:p>
                      <a:endParaRPr lang="it-IT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F4OP005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30% F901ct 30%F922ct</a:t>
                      </a:r>
                    </a:p>
                    <a:p>
                      <a:pPr algn="ctr"/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8-15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t-IT" sz="1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1100791">
                <a:tc vMerge="1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F4SP100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50% </a:t>
                      </a:r>
                      <a:r>
                        <a:rPr lang="en" sz="1400" baseline="0" dirty="0"/>
                        <a:t>F921ct</a:t>
                      </a:r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98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Версия с повышенной твердостью покрытия и содержанием УФ фильтров</a:t>
                      </a:r>
                      <a:r>
                        <a:rPr lang="en" sz="1400" baseline="0" dirty="0"/>
                        <a:t>.</a:t>
                      </a:r>
                      <a:r>
                        <a:rPr lang="ru-RU" sz="1400" baseline="0" dirty="0"/>
                        <a:t> Продукт может использоваться в промышленных кузовных работах в качестве финишного покрытия на </a:t>
                      </a:r>
                      <a:r>
                        <a:rPr lang="ru-RU" sz="1400" baseline="0" dirty="0" err="1"/>
                        <a:t>заматированную</a:t>
                      </a:r>
                      <a:r>
                        <a:rPr lang="ru-RU" sz="1400" baseline="0" dirty="0"/>
                        <a:t> поверхности или в многослойных циклах</a:t>
                      </a:r>
                      <a:r>
                        <a:rPr lang="en" sz="1400" baseline="0" dirty="0"/>
                        <a:t>.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161636" y="1206238"/>
            <a:ext cx="399934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" b="1" dirty="0"/>
              <a:t>2k</a:t>
            </a:r>
            <a:r>
              <a:rPr lang="ru-RU" b="1" dirty="0"/>
              <a:t> Прозрачные акриловые лаки</a:t>
            </a:r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1160326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6" y="813378"/>
            <a:ext cx="9302404" cy="646327"/>
          </a:xfrm>
          <a:prstGeom prst="rect">
            <a:avLst/>
          </a:prstGeom>
          <a:solidFill>
            <a:srgbClr val="00B05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Дополнительные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17887"/>
              </p:ext>
            </p:extLst>
          </p:nvPr>
        </p:nvGraphicFramePr>
        <p:xfrm>
          <a:off x="161636" y="2748360"/>
          <a:ext cx="9302404" cy="30237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8122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2500113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4724169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493958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</a:t>
                      </a:r>
                      <a:endParaRPr lang="it-IT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Применение</a:t>
                      </a:r>
                      <a:endParaRPr lang="en" sz="16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832196"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Удаляемый</a:t>
                      </a:r>
                      <a:r>
                        <a:rPr lang="ru-RU" sz="1400" baseline="0" dirty="0"/>
                        <a:t> ЛКМ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F440SD0900</a:t>
                      </a:r>
                    </a:p>
                    <a:p>
                      <a:pPr algn="ctr"/>
                      <a:r>
                        <a:rPr lang="ru-RU" sz="1400" dirty="0"/>
                        <a:t>Белый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Специальная</a:t>
                      </a:r>
                      <a:r>
                        <a:rPr lang="ru-RU" sz="1400" baseline="0" dirty="0"/>
                        <a:t> удаляемая эмаль на сольвентной основе для временной защиты различных поверхностей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Продукт формирует легкоудаляемую защитную пленку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Идеально подходит для покрасочных камер или защиты изделий, подлежащих дальнейшей обработке</a:t>
                      </a:r>
                      <a:endParaRPr lang="it-IT" sz="14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ЛКМ для дорожной разметки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F306SP</a:t>
                      </a:r>
                    </a:p>
                    <a:p>
                      <a:pPr algn="ctr"/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Белый / желтый</a:t>
                      </a:r>
                      <a:endParaRPr lang="en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Акриловая эмаль на сольвентной основе для дорожной разметки</a:t>
                      </a:r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Продукт характеризуется отличной устойчивостью к атмосферным воздействиям и адгезией к бетону и асфальту</a:t>
                      </a:r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Нанесение классическим методом или с помощью специального оборудования</a:t>
                      </a:r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l"/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Продукт используется в частном секторе</a:t>
                      </a:r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48581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161636" y="1850600"/>
            <a:ext cx="399934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ru-RU" b="1" dirty="0"/>
              <a:t>Специальные продукты</a:t>
            </a:r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3459862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5" y="622920"/>
            <a:ext cx="8945419" cy="64632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Отвердители для акрилов и ПУ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06282"/>
              </p:ext>
            </p:extLst>
          </p:nvPr>
        </p:nvGraphicFramePr>
        <p:xfrm>
          <a:off x="161636" y="1500816"/>
          <a:ext cx="9294880" cy="5233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419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2036625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5494836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55877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Тип</a:t>
                      </a:r>
                      <a:endParaRPr lang="it-IT" sz="18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Код</a:t>
                      </a:r>
                      <a:endParaRPr lang="it-IT" sz="18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Характеристики</a:t>
                      </a:r>
                      <a:endParaRPr lang="en" sz="18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49849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Чистый алифатический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F901CT</a:t>
                      </a:r>
                      <a:endParaRPr lang="it-IT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/>
                        <a:t>Отвердитель на основе чистых алифатических изоцианатных смол</a:t>
                      </a:r>
                      <a:r>
                        <a:rPr lang="en" sz="1100" baseline="0" dirty="0"/>
                        <a:t>.</a:t>
                      </a:r>
                      <a:r>
                        <a:rPr lang="ru-RU" sz="1100" baseline="0" dirty="0"/>
                        <a:t> Стандартный продукт.</a:t>
                      </a:r>
                      <a:endParaRPr lang="en" sz="1100" baseline="0" dirty="0"/>
                    </a:p>
                    <a:p>
                      <a:pPr algn="l"/>
                      <a:r>
                        <a:rPr lang="ru-RU" sz="1100" baseline="0" dirty="0"/>
                        <a:t>Для акрилов, ПУ, </a:t>
                      </a:r>
                      <a:r>
                        <a:rPr lang="ru-RU" sz="1100" baseline="0" dirty="0" err="1"/>
                        <a:t>самогрунтов</a:t>
                      </a:r>
                      <a:r>
                        <a:rPr lang="ru-RU" sz="1100" baseline="0" dirty="0"/>
                        <a:t> и т.д.</a:t>
                      </a:r>
                      <a:endParaRPr lang="it-IT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86005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Чистый алифатический с высоким сухим остатком</a:t>
                      </a:r>
                      <a:endParaRPr lang="it-IT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F922CT</a:t>
                      </a:r>
                      <a:endParaRPr lang="it-IT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Отвердитель на основе чистых алифатических изоцианатных смол</a:t>
                      </a:r>
                      <a:r>
                        <a:rPr lang="en" sz="1100" baseline="0" dirty="0"/>
                        <a:t>. </a:t>
                      </a:r>
                      <a:r>
                        <a:rPr lang="ru-RU" sz="1100" baseline="0" dirty="0"/>
                        <a:t>Версия с повышенным сухим остатком</a:t>
                      </a:r>
                      <a:r>
                        <a:rPr lang="en" sz="1100" b="1" baseline="0" dirty="0"/>
                        <a:t>. </a:t>
                      </a:r>
                      <a:r>
                        <a:rPr lang="ru-RU" sz="1100" b="0" baseline="0" dirty="0"/>
                        <a:t>Более медленная скорость сушки в сравнении со </a:t>
                      </a:r>
                      <a:r>
                        <a:rPr lang="ru-RU" sz="1100" b="0" baseline="0" dirty="0" err="1"/>
                        <a:t>стандарным</a:t>
                      </a:r>
                      <a:r>
                        <a:rPr lang="ru-RU" sz="1100" b="0" baseline="0" dirty="0"/>
                        <a:t> отвердителем. </a:t>
                      </a:r>
                      <a:r>
                        <a:rPr lang="en-GB" sz="1100" b="0" baseline="0" dirty="0"/>
                        <a:t>F922CT</a:t>
                      </a:r>
                      <a:r>
                        <a:rPr lang="ru-RU" sz="1100" b="0" baseline="0" dirty="0"/>
                        <a:t> применятся для ПУ материалов в летний период для решения проблемы вскипания или для </a:t>
                      </a:r>
                      <a:r>
                        <a:rPr lang="ru-RU" sz="1100" b="0" baseline="0" dirty="0" err="1"/>
                        <a:t>самогрунтов</a:t>
                      </a:r>
                      <a:r>
                        <a:rPr lang="ru-RU" sz="1100" b="0" baseline="0" dirty="0"/>
                        <a:t> с целью повышения эксплуатационных показателей покрытия</a:t>
                      </a:r>
                      <a:r>
                        <a:rPr lang="en" sz="1100" b="0" baseline="0" dirty="0"/>
                        <a:t> .</a:t>
                      </a:r>
                      <a:endParaRPr lang="it-IT" sz="11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48581"/>
                  </a:ext>
                </a:extLst>
              </a:tr>
              <a:tr h="66893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Чистый алифатический, быстрый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F931ct</a:t>
                      </a:r>
                      <a:endParaRPr lang="it-IT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Отвердитель на основе чистых алифатических изоцианатных смол</a:t>
                      </a:r>
                      <a:r>
                        <a:rPr lang="en" sz="1100" baseline="0" dirty="0"/>
                        <a:t>. </a:t>
                      </a:r>
                      <a:r>
                        <a:rPr lang="ru-RU" sz="1100" baseline="0" dirty="0"/>
                        <a:t>Более быстрая скорость сушки в сравнении с </a:t>
                      </a:r>
                      <a:r>
                        <a:rPr lang="en-GB" sz="1100" baseline="0" dirty="0"/>
                        <a:t>F901CT</a:t>
                      </a:r>
                      <a:r>
                        <a:rPr lang="ru-RU" sz="1100" baseline="0" dirty="0"/>
                        <a:t>.  Отвердитель применяется в зимний период для </a:t>
                      </a:r>
                      <a:r>
                        <a:rPr lang="ru-RU" sz="1100" baseline="0" dirty="0" err="1"/>
                        <a:t>самогрунтов</a:t>
                      </a:r>
                      <a:r>
                        <a:rPr lang="ru-RU" sz="1100" baseline="0" dirty="0"/>
                        <a:t>, ПУ и акриловых материалов</a:t>
                      </a:r>
                      <a:r>
                        <a:rPr lang="en" sz="1100" b="0" baseline="0" dirty="0"/>
                        <a:t>. </a:t>
                      </a:r>
                      <a:r>
                        <a:rPr lang="ru-RU" sz="1100" b="0" baseline="0" dirty="0"/>
                        <a:t>Не желтеющий</a:t>
                      </a:r>
                      <a:r>
                        <a:rPr lang="en" sz="1100" b="0" baseline="0" dirty="0"/>
                        <a:t>.</a:t>
                      </a:r>
                      <a:endParaRPr lang="it-IT" sz="11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437922"/>
                  </a:ext>
                </a:extLst>
              </a:tr>
              <a:tr h="66893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Смесь алифатических </a:t>
                      </a:r>
                      <a:r>
                        <a:rPr lang="ru-RU" sz="1200" dirty="0" err="1"/>
                        <a:t>изоцианатов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F900ct</a:t>
                      </a:r>
                      <a:endParaRPr lang="it-IT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/>
                        <a:t>Смесь алифатических </a:t>
                      </a:r>
                      <a:r>
                        <a:rPr lang="ru-RU" sz="1100" dirty="0" err="1"/>
                        <a:t>изоцианатов</a:t>
                      </a:r>
                      <a:r>
                        <a:rPr lang="ru-RU" sz="1100" baseline="0" dirty="0"/>
                        <a:t> с отличной устойчивостью к пожелтению</a:t>
                      </a:r>
                      <a:r>
                        <a:rPr lang="en" sz="1100" dirty="0"/>
                        <a:t>.</a:t>
                      </a:r>
                      <a:r>
                        <a:rPr lang="ru-RU" sz="1100" baseline="0" dirty="0"/>
                        <a:t> Также может применяться в наружных работах для  ПУ и акриловых эмалей или </a:t>
                      </a:r>
                      <a:r>
                        <a:rPr lang="ru-RU" sz="1100" baseline="0" dirty="0" err="1"/>
                        <a:t>самогрунтах</a:t>
                      </a:r>
                      <a:r>
                        <a:rPr lang="en" sz="1100" dirty="0"/>
                        <a:t>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  <a:tr h="75567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Смесь ароматических </a:t>
                      </a:r>
                      <a:r>
                        <a:rPr lang="ru-RU" sz="1200" dirty="0" err="1"/>
                        <a:t>изоцианатов</a:t>
                      </a:r>
                      <a:endParaRPr lang="it-IT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F902ct</a:t>
                      </a:r>
                      <a:endParaRPr lang="it-IT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Смесь ароматических </a:t>
                      </a:r>
                      <a:r>
                        <a:rPr lang="ru-RU" sz="1100" dirty="0" err="1"/>
                        <a:t>изоцианатов</a:t>
                      </a:r>
                      <a:r>
                        <a:rPr lang="ru-RU" sz="1100" dirty="0"/>
                        <a:t>. Более быстрая скорость сушки в сравнении со стандартным отвердителем, однако меньшая стойкость</a:t>
                      </a:r>
                      <a:r>
                        <a:rPr lang="ru-RU" sz="1100" baseline="0" dirty="0"/>
                        <a:t> к пожелтению, поэтому продукт не рекомендуется использовать для светлых тонов или в наружных работах. Не рекомендуется применять для ПУ</a:t>
                      </a:r>
                      <a:r>
                        <a:rPr lang="en" sz="1100" baseline="0" dirty="0"/>
                        <a:t>.</a:t>
                      </a:r>
                      <a:endParaRPr lang="it-IT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95277"/>
                  </a:ext>
                </a:extLst>
              </a:tr>
              <a:tr h="105117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Чистый алифатический с очень высоким сухим остатком</a:t>
                      </a:r>
                      <a:endParaRPr lang="it-IT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it-IT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F920ct</a:t>
                      </a:r>
                      <a:endParaRPr lang="it-IT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/>
                        <a:t>Отвердитель с очень</a:t>
                      </a:r>
                      <a:r>
                        <a:rPr lang="ru-RU" sz="1100" baseline="0" dirty="0"/>
                        <a:t> высоким объемным сухим остатком специального назначения на основе чистых алифатических смол. </a:t>
                      </a:r>
                      <a:r>
                        <a:rPr lang="ru-RU" sz="1100" dirty="0"/>
                        <a:t>Не желтеющий.</a:t>
                      </a:r>
                      <a:endParaRPr lang="it-IT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991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4" y="617652"/>
            <a:ext cx="9348125" cy="646327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Отвердители для эпоксидных материалов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377467"/>
              </p:ext>
            </p:extLst>
          </p:nvPr>
        </p:nvGraphicFramePr>
        <p:xfrm>
          <a:off x="161635" y="1459147"/>
          <a:ext cx="9348124" cy="5014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3520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2048292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5526312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66759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Тип</a:t>
                      </a:r>
                      <a:endParaRPr lang="it-IT" sz="18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Код</a:t>
                      </a:r>
                      <a:endParaRPr lang="it-IT" sz="18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Характеристики</a:t>
                      </a:r>
                      <a:endParaRPr lang="en" sz="18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595568">
                <a:tc>
                  <a:txBody>
                    <a:bodyPr/>
                    <a:lstStyle/>
                    <a:p>
                      <a:pPr algn="ctr"/>
                      <a:r>
                        <a:rPr lang="ru-RU" sz="1400" baseline="0" dirty="0"/>
                        <a:t>Стандарт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F903CT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Стандарт</a:t>
                      </a:r>
                      <a:endParaRPr lang="it-I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F903ct/i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Зимний - быстрый</a:t>
                      </a:r>
                      <a:endParaRPr lang="it-I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Отвердитель для продуктов классического применения</a:t>
                      </a:r>
                      <a:r>
                        <a:rPr lang="en" sz="1400" baseline="0" dirty="0"/>
                        <a:t>; </a:t>
                      </a:r>
                      <a:r>
                        <a:rPr lang="ru-RU" sz="1400" baseline="0" dirty="0"/>
                        <a:t>грунты / </a:t>
                      </a:r>
                      <a:r>
                        <a:rPr lang="ru-RU" sz="1400" baseline="0" dirty="0" err="1"/>
                        <a:t>праймеры</a:t>
                      </a:r>
                      <a:r>
                        <a:rPr lang="en" sz="1400" baseline="0" dirty="0"/>
                        <a:t> </a:t>
                      </a:r>
                      <a:r>
                        <a:rPr lang="ru-RU" sz="1400" baseline="0" dirty="0"/>
                        <a:t>или финишные покрытия</a:t>
                      </a:r>
                      <a:r>
                        <a:rPr lang="en" sz="1400" baseline="0" dirty="0"/>
                        <a:t>. /i </a:t>
                      </a:r>
                      <a:r>
                        <a:rPr lang="ru-RU" sz="1400" baseline="0" dirty="0"/>
                        <a:t>версия является более быстрой и используется в зимний период</a:t>
                      </a:r>
                      <a:r>
                        <a:rPr lang="en" sz="1400" baseline="0" dirty="0"/>
                        <a:t>.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61688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/>
                        <a:t>Стандарт</a:t>
                      </a:r>
                      <a:endParaRPr lang="it-IT" sz="14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F906CT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Стандарт</a:t>
                      </a:r>
                      <a:endParaRPr lang="it-I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F906ct/i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Зимний - быстрый</a:t>
                      </a:r>
                      <a:endParaRPr lang="it-I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Отвердитель для продуктов классического применения с </a:t>
                      </a:r>
                      <a:r>
                        <a:rPr lang="en" sz="1400" baseline="0" dirty="0"/>
                        <a:t>«</a:t>
                      </a:r>
                      <a:r>
                        <a:rPr lang="ru-RU" sz="1400" baseline="0" dirty="0"/>
                        <a:t>коммерческим преимуществом</a:t>
                      </a:r>
                      <a:r>
                        <a:rPr lang="en" sz="1400" baseline="0" dirty="0"/>
                        <a:t>". /i </a:t>
                      </a:r>
                      <a:r>
                        <a:rPr lang="ru-RU" sz="1400" baseline="0" dirty="0"/>
                        <a:t>версия является более быстрой и используется в зимний период</a:t>
                      </a:r>
                      <a:r>
                        <a:rPr lang="en" sz="1400" baseline="0" dirty="0"/>
                        <a:t>.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48581"/>
                  </a:ext>
                </a:extLst>
              </a:tr>
              <a:tr h="59556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Полиамидная модификация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F907c </a:t>
                      </a:r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Адгезионный</a:t>
                      </a:r>
                      <a:r>
                        <a:rPr lang="ru-RU" sz="1400" b="0" baseline="0" dirty="0"/>
                        <a:t> </a:t>
                      </a:r>
                      <a:r>
                        <a:rPr lang="ru-RU" sz="1400" b="0" dirty="0"/>
                        <a:t>отвердитель для</a:t>
                      </a:r>
                      <a:r>
                        <a:rPr lang="ru-RU" sz="1400" b="0" baseline="0" dirty="0"/>
                        <a:t> сложных поверхностей</a:t>
                      </a:r>
                      <a:r>
                        <a:rPr lang="en" sz="1400" b="0" baseline="0" dirty="0"/>
                        <a:t>. </a:t>
                      </a:r>
                      <a:r>
                        <a:rPr lang="ru-RU" sz="1400" b="0" baseline="0" dirty="0"/>
                        <a:t>Совместим с различными частями</a:t>
                      </a:r>
                      <a:r>
                        <a:rPr lang="en" sz="1400" b="0" baseline="0" dirty="0"/>
                        <a:t> A. </a:t>
                      </a:r>
                      <a:r>
                        <a:rPr lang="ru-RU" sz="1400" b="0" baseline="0" dirty="0"/>
                        <a:t>Для получения дополнительной информации обратитесь в службу технической поддержки. </a:t>
                      </a:r>
                      <a:endParaRPr lang="it-IT" sz="1400" b="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437922"/>
                  </a:ext>
                </a:extLst>
              </a:tr>
              <a:tr h="62672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Полиамидная модификация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F927ct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/>
                        <a:t>Адгезионный</a:t>
                      </a:r>
                      <a:r>
                        <a:rPr lang="ru-RU" sz="1400" b="0" baseline="0" dirty="0"/>
                        <a:t> </a:t>
                      </a:r>
                      <a:r>
                        <a:rPr lang="ru-RU" sz="1400" b="0" dirty="0"/>
                        <a:t>отвердитель для</a:t>
                      </a:r>
                      <a:r>
                        <a:rPr lang="ru-RU" sz="1400" b="0" baseline="0" dirty="0"/>
                        <a:t> сложных, не прошедших должную подготовку или очистку поверхностей. Отвердитель применятся для</a:t>
                      </a:r>
                      <a:r>
                        <a:rPr lang="en" sz="1400" baseline="0" dirty="0"/>
                        <a:t> </a:t>
                      </a:r>
                      <a:r>
                        <a:rPr lang="ru-RU" sz="1400" baseline="0" dirty="0"/>
                        <a:t>серии </a:t>
                      </a:r>
                      <a:r>
                        <a:rPr lang="en" sz="1400" baseline="0" dirty="0"/>
                        <a:t>F336st surface tolerant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  <a:tr h="46543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Полиамидная модификация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F915ct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Отвердитель для цинкосодержащего грунта</a:t>
                      </a:r>
                      <a:r>
                        <a:rPr lang="en" sz="1400" baseline="0" dirty="0"/>
                        <a:t> F332sp0703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95277"/>
                  </a:ext>
                </a:extLst>
              </a:tr>
              <a:tr h="90283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Полиамидная модификация, алифатический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F916ct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Отвердитель для</a:t>
                      </a:r>
                      <a:r>
                        <a:rPr lang="ru-RU" sz="1400" baseline="0" dirty="0"/>
                        <a:t>  наполненного </a:t>
                      </a:r>
                      <a:r>
                        <a:rPr lang="ru-RU" sz="1400" baseline="0" dirty="0" err="1"/>
                        <a:t>праймера</a:t>
                      </a:r>
                      <a:r>
                        <a:rPr lang="ru-RU" sz="1400" baseline="0" dirty="0"/>
                        <a:t> </a:t>
                      </a:r>
                      <a:r>
                        <a:rPr lang="en" sz="1400" dirty="0"/>
                        <a:t>F336hb</a:t>
                      </a:r>
                      <a:r>
                        <a:rPr lang="ru-RU" sz="1400" dirty="0"/>
                        <a:t>.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b="0" baseline="0" dirty="0"/>
                        <a:t>Для получения дополнительной информации обратитесь в службу технической поддержки. </a:t>
                      </a:r>
                      <a:endParaRPr lang="it-IT" sz="1400" b="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130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4" y="867865"/>
            <a:ext cx="9348125" cy="6463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Разбавители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348589"/>
              </p:ext>
            </p:extLst>
          </p:nvPr>
        </p:nvGraphicFramePr>
        <p:xfrm>
          <a:off x="161636" y="1514192"/>
          <a:ext cx="9348124" cy="3754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9664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2072148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5526312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64856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Тип</a:t>
                      </a:r>
                      <a:endParaRPr lang="it-IT" sz="18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Код</a:t>
                      </a:r>
                      <a:endParaRPr lang="it-IT" sz="18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Характеристики</a:t>
                      </a:r>
                      <a:endParaRPr lang="en" sz="18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57859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Нитро разбавитель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DL001</a:t>
                      </a:r>
                      <a:endParaRPr lang="it-I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Нитро разбавитель не дающий эффекта помутнения для </a:t>
                      </a:r>
                      <a:r>
                        <a:rPr lang="en" sz="1400" dirty="0"/>
                        <a:t>1k </a:t>
                      </a:r>
                      <a:r>
                        <a:rPr lang="ru-RU" sz="1400" baseline="0" dirty="0"/>
                        <a:t>акриловых</a:t>
                      </a:r>
                      <a:r>
                        <a:rPr lang="en" sz="1400" baseline="0" dirty="0"/>
                        <a:t>, </a:t>
                      </a:r>
                      <a:r>
                        <a:rPr lang="ru-RU" sz="1400" baseline="0" dirty="0"/>
                        <a:t>синтетических</a:t>
                      </a:r>
                      <a:r>
                        <a:rPr lang="en" sz="1400" baseline="0" dirty="0"/>
                        <a:t>, </a:t>
                      </a:r>
                      <a:r>
                        <a:rPr lang="ru-RU" sz="1400" baseline="0" dirty="0"/>
                        <a:t>эпоксидных продуктов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Средняя скорость испарения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5992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Синтетический разбавитель</a:t>
                      </a:r>
                      <a:endParaRPr lang="en" sz="14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FDS06</a:t>
                      </a:r>
                      <a:endParaRPr lang="it-I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Очень</a:t>
                      </a:r>
                      <a:r>
                        <a:rPr lang="ru-RU" sz="1400" baseline="0" dirty="0"/>
                        <a:t> медленный синтетический разбавитель, используемый с алкидными или 1к синтетическими продуктам в случае нанесения кистью</a:t>
                      </a:r>
                      <a:r>
                        <a:rPr lang="en" sz="1400" baseline="0" dirty="0"/>
                        <a:t> 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48581"/>
                  </a:ext>
                </a:extLst>
              </a:tr>
              <a:tr h="57859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/>
                        <a:t>Быстрый разбавитель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DPN 425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Средне</a:t>
                      </a:r>
                      <a:r>
                        <a:rPr lang="ru-RU" sz="1400" b="0" baseline="0" dirty="0"/>
                        <a:t> - б</a:t>
                      </a:r>
                      <a:r>
                        <a:rPr lang="ru-RU" sz="1400" b="0" dirty="0"/>
                        <a:t>ыстрый разбавитель для акриловых и ПУ продуктов</a:t>
                      </a:r>
                      <a:endParaRPr lang="en" sz="1400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437922"/>
                  </a:ext>
                </a:extLst>
              </a:tr>
              <a:tr h="53221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Медленный</a:t>
                      </a:r>
                      <a:r>
                        <a:rPr lang="ru-RU" sz="1400" baseline="0" dirty="0"/>
                        <a:t> ПУ разбавитель 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DPN 426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Медленный разбавитель для акриловых и ПУ продуктов</a:t>
                      </a:r>
                      <a:endParaRPr lang="en" sz="1400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  <a:tr h="53221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Эпоксидный разбавитель</a:t>
                      </a:r>
                      <a:endParaRPr lang="en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FDE 05</a:t>
                      </a:r>
                      <a:endParaRPr lang="it-IT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Специальный разбавитель для эпоксидных материалов</a:t>
                      </a:r>
                      <a:endParaRPr lang="en" sz="1400" b="0" baseline="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95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371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egnaposto contenut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243316"/>
              </p:ext>
            </p:extLst>
          </p:nvPr>
        </p:nvGraphicFramePr>
        <p:xfrm>
          <a:off x="360403" y="1024960"/>
          <a:ext cx="8895483" cy="5338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tangolo 3"/>
          <p:cNvSpPr/>
          <p:nvPr/>
        </p:nvSpPr>
        <p:spPr>
          <a:xfrm>
            <a:off x="217054" y="145520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7197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94688" y="814312"/>
            <a:ext cx="7762609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it-IT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</a:t>
            </a:r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Акриловые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089140"/>
              </p:ext>
            </p:extLst>
          </p:nvPr>
        </p:nvGraphicFramePr>
        <p:xfrm>
          <a:off x="234787" y="2647776"/>
          <a:ext cx="9835187" cy="31779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5507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372641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69233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654736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066081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2846989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606254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 конвертера 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Фосфат цинка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Соотношение с </a:t>
                      </a:r>
                      <a:r>
                        <a:rPr lang="en" sz="1600" b="1" dirty="0">
                          <a:solidFill>
                            <a:srgbClr val="0000FF"/>
                          </a:solidFill>
                        </a:rPr>
                        <a:t>PNW </a:t>
                      </a:r>
                      <a:r>
                        <a:rPr lang="ru-RU" sz="1600" b="1" dirty="0">
                          <a:solidFill>
                            <a:srgbClr val="0000FF"/>
                          </a:solidFill>
                        </a:rPr>
                        <a:t>ПАСТАМИ</a:t>
                      </a:r>
                      <a:endParaRPr lang="it-IT" sz="16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Степень блеска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Применение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935233"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Праймер</a:t>
                      </a:r>
                    </a:p>
                    <a:p>
                      <a:pPr algn="ctr"/>
                      <a:r>
                        <a:rPr lang="ru-RU" sz="1400" dirty="0"/>
                        <a:t>Антикоррозионный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F355SP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Да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90/10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Матовый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400" dirty="0"/>
                        <a:t>1k </a:t>
                      </a:r>
                      <a:r>
                        <a:rPr lang="ru-RU" sz="1400" dirty="0"/>
                        <a:t>акриловый </a:t>
                      </a:r>
                      <a:r>
                        <a:rPr lang="ru-RU" sz="1400" baseline="0" dirty="0"/>
                        <a:t>праймер</a:t>
                      </a:r>
                      <a:r>
                        <a:rPr lang="en-GB" sz="1400" baseline="0" dirty="0"/>
                        <a:t> c </a:t>
                      </a:r>
                      <a:r>
                        <a:rPr lang="ru-RU" sz="1400" baseline="0" dirty="0"/>
                        <a:t>отличными </a:t>
                      </a:r>
                      <a:r>
                        <a:rPr lang="ru-RU" sz="1400" dirty="0"/>
                        <a:t>антикоррозионными показателями</a:t>
                      </a:r>
                      <a:r>
                        <a:rPr lang="ru-RU" sz="1400" baseline="0" dirty="0"/>
                        <a:t> для различных поверхностей</a:t>
                      </a:r>
                      <a:r>
                        <a:rPr lang="en" sz="1400" dirty="0"/>
                        <a:t>.</a:t>
                      </a:r>
                      <a:r>
                        <a:rPr lang="ru-RU" sz="1400" dirty="0"/>
                        <a:t> </a:t>
                      </a:r>
                      <a:r>
                        <a:rPr lang="en" sz="1400" dirty="0"/>
                        <a:t> </a:t>
                      </a:r>
                      <a:r>
                        <a:rPr lang="ru-RU" sz="1400" dirty="0"/>
                        <a:t>Водная версия</a:t>
                      </a:r>
                      <a:r>
                        <a:rPr lang="en" sz="1400" baseline="0" dirty="0"/>
                        <a:t> RE 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838652"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Самогрунт</a:t>
                      </a: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F350SL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10-15</a:t>
                      </a:r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endParaRPr lang="it-IT" sz="1400" dirty="0"/>
                    </a:p>
                    <a:p>
                      <a:pPr algn="l"/>
                      <a:r>
                        <a:rPr lang="en" sz="1400" dirty="0"/>
                        <a:t>1k </a:t>
                      </a:r>
                      <a:r>
                        <a:rPr lang="ru-RU" sz="1400" dirty="0"/>
                        <a:t>акриловый </a:t>
                      </a:r>
                      <a:r>
                        <a:rPr lang="ru-RU" sz="1400" dirty="0" err="1"/>
                        <a:t>самогрунт</a:t>
                      </a:r>
                      <a:r>
                        <a:rPr lang="ru-RU" sz="1400" dirty="0"/>
                        <a:t> с содержанием фосфата</a:t>
                      </a:r>
                      <a:r>
                        <a:rPr lang="ru-RU" sz="1400" baseline="0" dirty="0"/>
                        <a:t> цинка</a:t>
                      </a:r>
                      <a:r>
                        <a:rPr lang="ru-RU" sz="1400" dirty="0"/>
                        <a:t>, используемый для защиты стальных поверхностей</a:t>
                      </a:r>
                      <a:r>
                        <a:rPr lang="en" sz="1400" dirty="0"/>
                        <a:t>. </a:t>
                      </a:r>
                      <a:r>
                        <a:rPr lang="ru-RU" sz="1400" dirty="0"/>
                        <a:t>Продукт общего назначения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788130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F350SE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40-50</a:t>
                      </a:r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234788" y="1909271"/>
            <a:ext cx="329045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" b="1" dirty="0"/>
              <a:t> 1k</a:t>
            </a:r>
            <a:r>
              <a:rPr lang="ru-RU" b="1" dirty="0"/>
              <a:t> Грунты </a:t>
            </a:r>
            <a:r>
              <a:rPr lang="en" b="1" dirty="0"/>
              <a:t>- </a:t>
            </a:r>
            <a:r>
              <a:rPr lang="ru-RU" b="1" dirty="0"/>
              <a:t>Эмали</a:t>
            </a:r>
            <a:endParaRPr lang="en" b="1" dirty="0"/>
          </a:p>
        </p:txBody>
      </p:sp>
      <p:sp>
        <p:nvSpPr>
          <p:cNvPr id="8" name="Rettangolo 7"/>
          <p:cNvSpPr/>
          <p:nvPr/>
        </p:nvSpPr>
        <p:spPr>
          <a:xfrm rot="20365524">
            <a:off x="172160" y="841803"/>
            <a:ext cx="1196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b="1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Водные продукты</a:t>
            </a:r>
            <a:endParaRPr lang="it-IT" sz="12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9569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987407" y="29584"/>
            <a:ext cx="7339584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ACR: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Акриловые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3000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183726"/>
              </p:ext>
            </p:extLst>
          </p:nvPr>
        </p:nvGraphicFramePr>
        <p:xfrm>
          <a:off x="335261" y="1302138"/>
          <a:ext cx="9023132" cy="55257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154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114824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810780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20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300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3858640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892789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Тип</a:t>
                      </a:r>
                      <a:endParaRPr lang="it-IT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Код конвертера </a:t>
                      </a:r>
                      <a:endParaRPr lang="it-IT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Фосфат цинка</a:t>
                      </a:r>
                      <a:endParaRPr lang="it-IT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/>
                        <a:t>Соотношение с </a:t>
                      </a:r>
                      <a:r>
                        <a:rPr lang="en" sz="1400" b="1" dirty="0">
                          <a:solidFill>
                            <a:srgbClr val="0000FF"/>
                          </a:solidFill>
                        </a:rPr>
                        <a:t>PNW </a:t>
                      </a:r>
                      <a:r>
                        <a:rPr lang="ru-RU" sz="1400" b="1" dirty="0">
                          <a:solidFill>
                            <a:srgbClr val="0000FF"/>
                          </a:solidFill>
                        </a:rPr>
                        <a:t>ПАСТАМИ</a:t>
                      </a:r>
                      <a:endParaRPr lang="it-IT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Отвердитель</a:t>
                      </a:r>
                      <a:endParaRPr lang="it-IT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Применение</a:t>
                      </a:r>
                      <a:endParaRPr lang="it-IT" sz="14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892789"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Праймер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F461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Да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90/10</a:t>
                      </a:r>
                      <a:endParaRPr lang="it-IT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15% F951ct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Праймер для защиты стальных,</a:t>
                      </a:r>
                      <a:r>
                        <a:rPr lang="en" sz="1400" baseline="0" dirty="0"/>
                        <a:t> </a:t>
                      </a:r>
                      <a:r>
                        <a:rPr lang="ru-RU" sz="1400" baseline="0" dirty="0"/>
                        <a:t> </a:t>
                      </a:r>
                      <a:r>
                        <a:rPr lang="en" sz="1400" baseline="0" dirty="0"/>
                        <a:t>Al, LL, </a:t>
                      </a:r>
                      <a:r>
                        <a:rPr lang="ru-RU" sz="1400" baseline="0" dirty="0"/>
                        <a:t>гальванизированных поверхностей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Продукт характеризуется высокой скоростью сушки и удобством использования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Очень низкая эмиссия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83472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Самогрунт</a:t>
                      </a: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F395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20% </a:t>
                      </a:r>
                      <a:r>
                        <a:rPr lang="en" sz="1400" baseline="0" dirty="0"/>
                        <a:t>F950ct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Однослойный </a:t>
                      </a:r>
                      <a:r>
                        <a:rPr lang="ru-RU" sz="1400" dirty="0" err="1"/>
                        <a:t>самогрунт</a:t>
                      </a:r>
                      <a:r>
                        <a:rPr lang="ru-RU" sz="1400" dirty="0"/>
                        <a:t> для защиты стальных, </a:t>
                      </a:r>
                      <a:r>
                        <a:rPr lang="ru-RU" sz="1400" baseline="0" dirty="0"/>
                        <a:t>алюминиевых и гальванизированных поверхностей. Высокая универсальность. Общего применения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92339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ПУ эмаль</a:t>
                      </a: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F471</a:t>
                      </a:r>
                    </a:p>
                    <a:p>
                      <a:pPr algn="ctr"/>
                      <a:r>
                        <a:rPr lang="ru-RU" sz="1400" dirty="0"/>
                        <a:t>Глянцевая</a:t>
                      </a:r>
                      <a:r>
                        <a:rPr lang="en" sz="1400" dirty="0"/>
                        <a:t>/ </a:t>
                      </a:r>
                      <a:r>
                        <a:rPr lang="ru-RU" sz="1400" dirty="0"/>
                        <a:t>матовая</a:t>
                      </a:r>
                      <a:endParaRPr lang="en" sz="1400" dirty="0"/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Нет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20% </a:t>
                      </a:r>
                      <a:r>
                        <a:rPr lang="en" sz="1400" baseline="0" dirty="0"/>
                        <a:t>F950ct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  <a:p>
                      <a:r>
                        <a:rPr lang="ru-RU" sz="1400" baseline="0" dirty="0"/>
                        <a:t>Водная ПУ эмаль для различных сфер применения</a:t>
                      </a:r>
                      <a:r>
                        <a:rPr lang="en" sz="1400" dirty="0"/>
                        <a:t>.</a:t>
                      </a:r>
                      <a:r>
                        <a:rPr lang="ru-RU" sz="1400" dirty="0"/>
                        <a:t> Высококачественный продукт, рассчитанный для нанесения на </a:t>
                      </a:r>
                      <a:r>
                        <a:rPr lang="en" sz="1400" dirty="0"/>
                        <a:t> </a:t>
                      </a:r>
                      <a:r>
                        <a:rPr lang="ru-RU" sz="1400" baseline="0" dirty="0"/>
                        <a:t>водные или </a:t>
                      </a:r>
                      <a:r>
                        <a:rPr lang="ru-RU" sz="1400" baseline="0" dirty="0" err="1"/>
                        <a:t>сольвентные</a:t>
                      </a:r>
                      <a:r>
                        <a:rPr lang="ru-RU" sz="1400" baseline="0" dirty="0"/>
                        <a:t> грунты</a:t>
                      </a:r>
                      <a:r>
                        <a:rPr lang="en" sz="1400" baseline="0" dirty="0"/>
                        <a:t> 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310382"/>
                  </a:ext>
                </a:extLst>
              </a:tr>
              <a:tr h="10572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Полируемая полиакриловая эмаль</a:t>
                      </a:r>
                      <a:endParaRPr kumimoji="0" lang="e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F472  </a:t>
                      </a:r>
                    </a:p>
                    <a:p>
                      <a:pPr algn="ctr"/>
                      <a:r>
                        <a:rPr lang="ru-RU" sz="1400" dirty="0"/>
                        <a:t>Подлежит полировке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20% F951ct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/>
                        <a:t>Водная полиакриловая эмаль для различных сфер применения</a:t>
                      </a:r>
                      <a:r>
                        <a:rPr lang="en" sz="1400" dirty="0"/>
                        <a:t>.</a:t>
                      </a:r>
                      <a:r>
                        <a:rPr lang="ru-RU" sz="1400" dirty="0"/>
                        <a:t>  Универсальный продукт общего назначения с хорошей</a:t>
                      </a:r>
                      <a:r>
                        <a:rPr lang="ru-RU" sz="1400" baseline="0" dirty="0"/>
                        <a:t> скоростью сушки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Наносится на водные или </a:t>
                      </a:r>
                      <a:r>
                        <a:rPr lang="ru-RU" sz="1400" baseline="0" dirty="0" err="1"/>
                        <a:t>сольвентные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baseline="0" dirty="0" err="1"/>
                        <a:t>праймеры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117818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1685544" y="824861"/>
            <a:ext cx="3290455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" b="1" dirty="0"/>
              <a:t>2k</a:t>
            </a:r>
            <a:r>
              <a:rPr lang="ru-RU" b="1" dirty="0"/>
              <a:t> грунты – </a:t>
            </a:r>
            <a:r>
              <a:rPr lang="ru-RU" b="1" dirty="0" err="1"/>
              <a:t>самогрунты</a:t>
            </a:r>
            <a:r>
              <a:rPr lang="ru-RU" b="1" dirty="0"/>
              <a:t> - эмали</a:t>
            </a:r>
            <a:endParaRPr lang="en" b="1" dirty="0"/>
          </a:p>
        </p:txBody>
      </p:sp>
      <p:sp>
        <p:nvSpPr>
          <p:cNvPr id="8" name="Rettangolo 7"/>
          <p:cNvSpPr/>
          <p:nvPr/>
        </p:nvSpPr>
        <p:spPr>
          <a:xfrm rot="20365524">
            <a:off x="42972" y="710266"/>
            <a:ext cx="1196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b="1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Водные продукты</a:t>
            </a:r>
            <a:endParaRPr lang="it-IT" sz="12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0938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740408" y="766143"/>
            <a:ext cx="8317992" cy="646327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EP: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2k 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Эпоксидные продукты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111867"/>
              </p:ext>
            </p:extLst>
          </p:nvPr>
        </p:nvGraphicFramePr>
        <p:xfrm>
          <a:off x="254644" y="2453043"/>
          <a:ext cx="9757456" cy="408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9163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1195102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1001954">
                  <a:extLst>
                    <a:ext uri="{9D8B030D-6E8A-4147-A177-3AD203B41FA5}">
                      <a16:colId xmlns:a16="http://schemas.microsoft.com/office/drawing/2014/main" val="490068755"/>
                    </a:ext>
                  </a:extLst>
                </a:gridCol>
                <a:gridCol w="1195100">
                  <a:extLst>
                    <a:ext uri="{9D8B030D-6E8A-4147-A177-3AD203B41FA5}">
                      <a16:colId xmlns:a16="http://schemas.microsoft.com/office/drawing/2014/main" val="4268556245"/>
                    </a:ext>
                  </a:extLst>
                </a:gridCol>
                <a:gridCol w="1448607">
                  <a:extLst>
                    <a:ext uri="{9D8B030D-6E8A-4147-A177-3AD203B41FA5}">
                      <a16:colId xmlns:a16="http://schemas.microsoft.com/office/drawing/2014/main" val="1656965493"/>
                    </a:ext>
                  </a:extLst>
                </a:gridCol>
                <a:gridCol w="4047530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710101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Фосфат цинка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Соотношение с </a:t>
                      </a:r>
                      <a:r>
                        <a:rPr lang="en" sz="1600" b="1" dirty="0">
                          <a:solidFill>
                            <a:srgbClr val="0000FF"/>
                          </a:solidFill>
                        </a:rPr>
                        <a:t>PNW </a:t>
                      </a:r>
                      <a:r>
                        <a:rPr lang="ru-RU" sz="1600" b="1" dirty="0">
                          <a:solidFill>
                            <a:srgbClr val="0000FF"/>
                          </a:solidFill>
                        </a:rPr>
                        <a:t>ПАСТАМИ</a:t>
                      </a:r>
                      <a:endParaRPr lang="it-IT" sz="16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Отвердитель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Применение</a:t>
                      </a:r>
                      <a:endParaRPr lang="it-IT" sz="16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746478"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Праймер</a:t>
                      </a:r>
                      <a:endParaRPr lang="en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F353HS0001</a:t>
                      </a:r>
                    </a:p>
                    <a:p>
                      <a:pPr algn="ctr"/>
                      <a:r>
                        <a:rPr lang="ru-RU" sz="1400" dirty="0"/>
                        <a:t>Серый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Да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Пигментированная версия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20%</a:t>
                      </a:r>
                    </a:p>
                    <a:p>
                      <a:pPr algn="ctr"/>
                      <a:r>
                        <a:rPr lang="en" sz="1400" dirty="0"/>
                        <a:t>F953ct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Наполненный грунт / праймер с высокими антикоррозионными</a:t>
                      </a:r>
                      <a:r>
                        <a:rPr lang="ru-RU" sz="1400" baseline="0" dirty="0"/>
                        <a:t> показателями и барьерным эффектом</a:t>
                      </a:r>
                      <a:r>
                        <a:rPr lang="en" sz="1400" baseline="0" dirty="0"/>
                        <a:t>.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103133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ndara" panose="020E0502030303020204"/>
                          <a:ea typeface="+mn-ea"/>
                          <a:cs typeface="+mn-cs"/>
                        </a:rPr>
                        <a:t>Самогрунт</a:t>
                      </a:r>
                      <a:endParaRPr kumimoji="0" lang="e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ndara" panose="020E050203030302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Конвертер</a:t>
                      </a:r>
                      <a:endParaRPr lang="en" sz="1400" dirty="0"/>
                    </a:p>
                    <a:p>
                      <a:pPr algn="ctr"/>
                      <a:r>
                        <a:rPr lang="en" sz="1400" dirty="0"/>
                        <a:t>F359</a:t>
                      </a:r>
                    </a:p>
                    <a:p>
                      <a:pPr algn="ctr"/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85/15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50%</a:t>
                      </a:r>
                    </a:p>
                    <a:p>
                      <a:pPr algn="ctr"/>
                      <a:r>
                        <a:rPr lang="en" sz="1400" baseline="0" dirty="0"/>
                        <a:t>F954ct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Эпоксидный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baseline="0" dirty="0" err="1"/>
                        <a:t>самогрунт</a:t>
                      </a:r>
                      <a:r>
                        <a:rPr lang="ru-RU" sz="1400" baseline="0" dirty="0"/>
                        <a:t> на водной основе для промышленных полов</a:t>
                      </a:r>
                      <a:r>
                        <a:rPr lang="en" sz="1400" dirty="0"/>
                        <a:t>. </a:t>
                      </a:r>
                      <a:r>
                        <a:rPr lang="ru-RU" sz="1400" dirty="0"/>
                        <a:t>Идеально подходит в качестве пылезащитного средства для цехов, складов</a:t>
                      </a:r>
                      <a:r>
                        <a:rPr lang="en-GB" sz="1400" dirty="0"/>
                        <a:t>.</a:t>
                      </a:r>
                      <a:r>
                        <a:rPr lang="en-GB" sz="1400" baseline="0" dirty="0"/>
                        <a:t> </a:t>
                      </a:r>
                      <a:r>
                        <a:rPr lang="ru-RU" sz="1400" dirty="0"/>
                        <a:t>Наносится валиком на цемент или бетон.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54837"/>
                  </a:ext>
                </a:extLst>
              </a:tr>
              <a:tr h="103133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Эмаль</a:t>
                      </a:r>
                      <a:endParaRPr kumimoji="0" lang="it-I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ru-RU" sz="1400" dirty="0"/>
                        <a:t>Конвертер</a:t>
                      </a:r>
                      <a:endParaRPr lang="en" sz="1400" dirty="0"/>
                    </a:p>
                    <a:p>
                      <a:pPr algn="ctr"/>
                      <a:r>
                        <a:rPr lang="en" sz="1400" dirty="0"/>
                        <a:t>F358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NO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90/10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/>
                    </a:p>
                    <a:p>
                      <a:pPr algn="ctr"/>
                      <a:r>
                        <a:rPr lang="en" sz="1400" dirty="0"/>
                        <a:t>20%</a:t>
                      </a:r>
                      <a:r>
                        <a:rPr lang="en" sz="1400" baseline="0" dirty="0"/>
                        <a:t> </a:t>
                      </a:r>
                    </a:p>
                    <a:p>
                      <a:pPr algn="ctr"/>
                      <a:r>
                        <a:rPr lang="en" sz="1400" baseline="0" dirty="0"/>
                        <a:t>F953ct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Серия эпоксидных эмалей на водной основе с высокими показателями химической стойкости и твердости</a:t>
                      </a:r>
                      <a:r>
                        <a:rPr lang="en" sz="1400" baseline="0" dirty="0"/>
                        <a:t>.</a:t>
                      </a:r>
                      <a:r>
                        <a:rPr lang="ru-RU" sz="1400" baseline="0" dirty="0"/>
                        <a:t> Применяется для защиты промышленного оборудования или конструкций, эксплуатируемых в агрессивных условиях.</a:t>
                      </a:r>
                      <a:endParaRPr lang="it-IT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415"/>
                  </a:ext>
                </a:extLst>
              </a:tr>
            </a:tbl>
          </a:graphicData>
        </a:graphic>
      </p:graphicFrame>
      <p:sp>
        <p:nvSpPr>
          <p:cNvPr id="7" name="Rettangolo 6"/>
          <p:cNvSpPr/>
          <p:nvPr/>
        </p:nvSpPr>
        <p:spPr>
          <a:xfrm>
            <a:off x="254644" y="1799092"/>
            <a:ext cx="3832724" cy="369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" b="1" dirty="0"/>
              <a:t>2k </a:t>
            </a:r>
            <a:r>
              <a:rPr lang="ru-RU" b="1" dirty="0"/>
              <a:t> грунты – </a:t>
            </a:r>
            <a:r>
              <a:rPr lang="ru-RU" b="1" dirty="0" err="1"/>
              <a:t>самогрунты</a:t>
            </a:r>
            <a:r>
              <a:rPr lang="ru-RU" b="1" dirty="0"/>
              <a:t> - эмали</a:t>
            </a:r>
            <a:endParaRPr lang="en" b="1" dirty="0"/>
          </a:p>
        </p:txBody>
      </p:sp>
      <p:sp>
        <p:nvSpPr>
          <p:cNvPr id="8" name="Rettangolo 7"/>
          <p:cNvSpPr/>
          <p:nvPr/>
        </p:nvSpPr>
        <p:spPr>
          <a:xfrm rot="20365524">
            <a:off x="172160" y="841803"/>
            <a:ext cx="1196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b="1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Водные продукты</a:t>
            </a:r>
            <a:endParaRPr lang="it-IT" sz="12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3480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ttangolo 72"/>
          <p:cNvSpPr/>
          <p:nvPr/>
        </p:nvSpPr>
        <p:spPr>
          <a:xfrm>
            <a:off x="161633" y="1599893"/>
            <a:ext cx="9421279" cy="64632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Отвердители для водных продуктов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61636" y="53156"/>
            <a:ext cx="1704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Ассортимент продукции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el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227407"/>
              </p:ext>
            </p:extLst>
          </p:nvPr>
        </p:nvGraphicFramePr>
        <p:xfrm>
          <a:off x="198210" y="2589878"/>
          <a:ext cx="9384702" cy="3648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0460">
                  <a:extLst>
                    <a:ext uri="{9D8B030D-6E8A-4147-A177-3AD203B41FA5}">
                      <a16:colId xmlns:a16="http://schemas.microsoft.com/office/drawing/2014/main" val="2346179834"/>
                    </a:ext>
                  </a:extLst>
                </a:gridCol>
                <a:gridCol w="2056306">
                  <a:extLst>
                    <a:ext uri="{9D8B030D-6E8A-4147-A177-3AD203B41FA5}">
                      <a16:colId xmlns:a16="http://schemas.microsoft.com/office/drawing/2014/main" val="1277057108"/>
                    </a:ext>
                  </a:extLst>
                </a:gridCol>
                <a:gridCol w="5547936">
                  <a:extLst>
                    <a:ext uri="{9D8B030D-6E8A-4147-A177-3AD203B41FA5}">
                      <a16:colId xmlns:a16="http://schemas.microsoft.com/office/drawing/2014/main" val="3889648160"/>
                    </a:ext>
                  </a:extLst>
                </a:gridCol>
              </a:tblGrid>
              <a:tr h="708641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</a:t>
                      </a:r>
                      <a:endParaRPr lang="it-IT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Код</a:t>
                      </a:r>
                      <a:endParaRPr lang="it-IT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Характеристики</a:t>
                      </a:r>
                      <a:endParaRPr lang="en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06362"/>
                  </a:ext>
                </a:extLst>
              </a:tr>
              <a:tr h="61561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Чистый алифатический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F951CT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Не желтеющий отвердитель для</a:t>
                      </a:r>
                      <a:r>
                        <a:rPr lang="ru-RU" sz="1400" baseline="0" dirty="0"/>
                        <a:t> водных акриловых материалов</a:t>
                      </a:r>
                      <a:r>
                        <a:rPr lang="en" sz="1400" baseline="0" dirty="0"/>
                        <a:t>. </a:t>
                      </a:r>
                      <a:r>
                        <a:rPr lang="ru-RU" sz="1400" baseline="0" dirty="0"/>
                        <a:t> Стандартное применение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22809"/>
                  </a:ext>
                </a:extLst>
              </a:tr>
              <a:tr h="85746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Чистый алифатический</a:t>
                      </a: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с высоким сухим остатком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F950CT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Не желтеющий отвердитель для</a:t>
                      </a:r>
                      <a:r>
                        <a:rPr lang="ru-RU" sz="1400" baseline="0" dirty="0"/>
                        <a:t> водных акриловых материалов</a:t>
                      </a:r>
                      <a:r>
                        <a:rPr lang="en" sz="1400" baseline="0" dirty="0"/>
                        <a:t>.</a:t>
                      </a:r>
                      <a:r>
                        <a:rPr lang="ru-RU" sz="1400" baseline="0" dirty="0"/>
                        <a:t> Повышенный сухой остаток и увеличенные эксплуатационные характеристики покрытия</a:t>
                      </a:r>
                      <a:endParaRPr lang="it-IT" sz="14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48581"/>
                  </a:ext>
                </a:extLst>
              </a:tr>
              <a:tr h="61561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Чистый алифатический</a:t>
                      </a:r>
                      <a:r>
                        <a:rPr lang="en-GB" sz="1400" dirty="0"/>
                        <a:t>,</a:t>
                      </a:r>
                      <a:r>
                        <a:rPr lang="en-GB" sz="1400" baseline="0" dirty="0"/>
                        <a:t> </a:t>
                      </a:r>
                      <a:r>
                        <a:rPr lang="ru-RU" sz="1400" baseline="0" dirty="0"/>
                        <a:t>быстрый</a:t>
                      </a:r>
                      <a:endParaRPr lang="ru-RU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F953CT</a:t>
                      </a:r>
                      <a:endParaRPr lang="it-IT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Отвердитель для </a:t>
                      </a:r>
                      <a:r>
                        <a:rPr lang="ru-RU" sz="1400" b="0" dirty="0" err="1"/>
                        <a:t>водоразбавляемых</a:t>
                      </a:r>
                      <a:r>
                        <a:rPr lang="ru-RU" sz="1400" b="0" dirty="0"/>
                        <a:t> эпоксидных материалов</a:t>
                      </a:r>
                      <a:endParaRPr lang="en" sz="14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437922"/>
                  </a:ext>
                </a:extLst>
              </a:tr>
              <a:tr h="64782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Смесь</a:t>
                      </a:r>
                      <a:r>
                        <a:rPr lang="ru-RU" sz="1400" baseline="0" dirty="0"/>
                        <a:t> алифатических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F954CT</a:t>
                      </a:r>
                      <a:endParaRPr lang="it-IT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Специальный отвердител</a:t>
                      </a:r>
                      <a:r>
                        <a:rPr lang="ru-RU" sz="1400" b="0" baseline="0" dirty="0"/>
                        <a:t>ь для </a:t>
                      </a:r>
                      <a:r>
                        <a:rPr lang="en" sz="1400" b="0" dirty="0"/>
                        <a:t>hydroepofloor</a:t>
                      </a:r>
                      <a:r>
                        <a:rPr lang="ru-RU" sz="1400" b="0" baseline="0" dirty="0"/>
                        <a:t> – эпоксидный </a:t>
                      </a:r>
                      <a:r>
                        <a:rPr lang="ru-RU" sz="1400" b="0" baseline="0" dirty="0" err="1"/>
                        <a:t>водоразбавляемый</a:t>
                      </a:r>
                      <a:r>
                        <a:rPr lang="ru-RU" sz="1400" b="0" baseline="0" dirty="0"/>
                        <a:t> материал для напольных покрытий.</a:t>
                      </a:r>
                      <a:endParaRPr lang="en" sz="14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34794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 rot="20365524">
            <a:off x="172160" y="841803"/>
            <a:ext cx="1196109" cy="46166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b="1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Водные продукты</a:t>
            </a:r>
            <a:endParaRPr lang="it-IT" sz="12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604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609736" y="385634"/>
            <a:ext cx="4912692" cy="64632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Кодификация</a:t>
            </a:r>
            <a:endParaRPr lang="it-IT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ttangolo 4"/>
          <p:cNvSpPr/>
          <p:nvPr/>
        </p:nvSpPr>
        <p:spPr>
          <a:xfrm>
            <a:off x="2761548" y="1366726"/>
            <a:ext cx="4609069" cy="64632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" sz="3600" dirty="0">
                <a:ln w="0"/>
                <a:solidFill>
                  <a:srgbClr val="3366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330 </a:t>
            </a:r>
            <a:r>
              <a:rPr lang="e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HS </a:t>
            </a:r>
            <a:r>
              <a:rPr lang="en" sz="36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7035</a:t>
            </a:r>
            <a:endParaRPr lang="it-IT" sz="36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1091419" y="2649238"/>
            <a:ext cx="1550337" cy="27699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Продукт для металла</a:t>
            </a:r>
            <a:endParaRPr lang="it-IT" sz="1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Connettore diritto 9"/>
          <p:cNvCxnSpPr/>
          <p:nvPr/>
        </p:nvCxnSpPr>
        <p:spPr>
          <a:xfrm flipH="1">
            <a:off x="2305661" y="2013053"/>
            <a:ext cx="1323668" cy="615231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/>
          <p:cNvCxnSpPr/>
          <p:nvPr/>
        </p:nvCxnSpPr>
        <p:spPr>
          <a:xfrm flipH="1">
            <a:off x="3334170" y="2023717"/>
            <a:ext cx="979212" cy="6070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tangolo 12"/>
          <p:cNvSpPr/>
          <p:nvPr/>
        </p:nvSpPr>
        <p:spPr>
          <a:xfrm>
            <a:off x="2843175" y="2397872"/>
            <a:ext cx="1553168" cy="22467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Тип</a:t>
            </a:r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ru-RU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серия</a:t>
            </a:r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algn="ctr"/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330/336- </a:t>
            </a:r>
            <a:r>
              <a:rPr lang="ru-RU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эпоксидные </a:t>
            </a:r>
            <a:r>
              <a:rPr lang="ru-RU" sz="14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праймеры</a:t>
            </a:r>
            <a:endParaRPr lang="it-IT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430- </a:t>
            </a:r>
            <a:r>
              <a:rPr lang="ru-RU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эпоксидные эмали</a:t>
            </a:r>
            <a:endParaRPr lang="it-IT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420/427- </a:t>
            </a:r>
            <a:r>
              <a:rPr lang="ru-RU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ПУ эмали</a:t>
            </a:r>
            <a:endParaRPr lang="en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303/403/401-</a:t>
            </a:r>
            <a:r>
              <a:rPr lang="ru-RU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Акриловые и </a:t>
            </a:r>
            <a:r>
              <a:rPr lang="ru-RU" sz="14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т.д</a:t>
            </a:r>
            <a:r>
              <a:rPr lang="e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it-IT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4617084" y="2546615"/>
            <a:ext cx="1550337" cy="19389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Характеристики</a:t>
            </a:r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HS- </a:t>
            </a:r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высокий сухой остаток</a:t>
            </a:r>
            <a:endParaRPr lang="e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TX - </a:t>
            </a:r>
            <a:r>
              <a:rPr lang="ru-RU" sz="1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тиксотропный</a:t>
            </a:r>
            <a:endParaRPr lang="e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SP- </a:t>
            </a:r>
            <a:r>
              <a:rPr lang="ru-RU" sz="12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глянец</a:t>
            </a:r>
            <a:endParaRPr lang="e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SE- </a:t>
            </a:r>
            <a:r>
              <a:rPr lang="ru-RU" sz="1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полуглянец</a:t>
            </a:r>
            <a:endParaRPr lang="e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OP- </a:t>
            </a:r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матовый</a:t>
            </a:r>
            <a:endParaRPr lang="e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FF- </a:t>
            </a:r>
            <a:r>
              <a:rPr lang="ru-RU" sz="1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самогрунт</a:t>
            </a:r>
            <a:endParaRPr lang="e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ST- </a:t>
            </a:r>
            <a:r>
              <a:rPr lang="en" sz="1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surface</a:t>
            </a:r>
            <a:r>
              <a:rPr lang="e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" sz="1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tolerant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ru-RU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 т.д.</a:t>
            </a:r>
            <a:endParaRPr lang="it-IT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6388162" y="2693388"/>
            <a:ext cx="1777430" cy="156965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algn="ctr"/>
            <a:r>
              <a:rPr lang="ru-RU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Ссылка на цвет</a:t>
            </a:r>
            <a:r>
              <a:rPr lang="en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algn="ctr"/>
            <a:r>
              <a:rPr lang="en" sz="120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Ral </a:t>
            </a:r>
            <a:r>
              <a:rPr lang="en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7035</a:t>
            </a:r>
          </a:p>
          <a:p>
            <a:pPr algn="ctr"/>
            <a:r>
              <a:rPr lang="en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0900/9- </a:t>
            </a:r>
            <a:r>
              <a:rPr lang="ru-RU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чистый белый</a:t>
            </a:r>
            <a:endParaRPr lang="en" sz="1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0970- </a:t>
            </a:r>
            <a:r>
              <a:rPr lang="ru-RU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чистый черный</a:t>
            </a:r>
            <a:endParaRPr lang="en" sz="1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00xx- </a:t>
            </a:r>
            <a:r>
              <a:rPr lang="ru-RU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 образцу</a:t>
            </a:r>
            <a:endParaRPr lang="en" sz="1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sz="1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ru-RU" sz="1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Если не указано, то конвертер</a:t>
            </a:r>
            <a:endParaRPr lang="it-IT" sz="1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9" name="Connettore diritto 18"/>
          <p:cNvCxnSpPr>
            <a:endCxn id="15" idx="0"/>
          </p:cNvCxnSpPr>
          <p:nvPr/>
        </p:nvCxnSpPr>
        <p:spPr>
          <a:xfrm>
            <a:off x="6247551" y="2122306"/>
            <a:ext cx="1029326" cy="57108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/>
          <p:cNvCxnSpPr/>
          <p:nvPr/>
        </p:nvCxnSpPr>
        <p:spPr>
          <a:xfrm>
            <a:off x="5227782" y="2023717"/>
            <a:ext cx="190" cy="604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389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17872" y="2087881"/>
            <a:ext cx="8751801" cy="1897625"/>
          </a:xfrm>
        </p:spPr>
        <p:txBody>
          <a:bodyPr>
            <a:noAutofit/>
          </a:bodyPr>
          <a:lstStyle/>
          <a:p>
            <a:r>
              <a:rPr lang="ru-RU" sz="5400" dirty="0"/>
              <a:t>Сертифицированные по </a:t>
            </a:r>
            <a:br>
              <a:rPr lang="it-IT" sz="5400" dirty="0"/>
            </a:br>
            <a:r>
              <a:rPr lang="it-IT" sz="5400" dirty="0"/>
              <a:t>UNI EN ISO 12944-1: 2018 </a:t>
            </a:r>
            <a:r>
              <a:rPr lang="ru-RU" sz="5400" dirty="0"/>
              <a:t>циклы</a:t>
            </a:r>
            <a:endParaRPr lang="it-IT" sz="5400" dirty="0"/>
          </a:p>
        </p:txBody>
      </p:sp>
    </p:spTree>
    <p:extLst>
      <p:ext uri="{BB962C8B-B14F-4D97-AF65-F5344CB8AC3E}">
        <p14:creationId xmlns:p14="http://schemas.microsoft.com/office/powerpoint/2010/main" val="372356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25" y="119243"/>
            <a:ext cx="8759864" cy="6558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385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00" y="92600"/>
            <a:ext cx="6429375" cy="666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9370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918" y="-30480"/>
            <a:ext cx="774657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7259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899" y="0"/>
            <a:ext cx="6514919" cy="689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601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6966439" y="4837917"/>
            <a:ext cx="3569677" cy="707882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endParaRPr lang="it-IT"/>
          </a:p>
        </p:txBody>
      </p:sp>
      <p:sp>
        <p:nvSpPr>
          <p:cNvPr id="5" name="Titolo 4"/>
          <p:cNvSpPr>
            <a:spLocks noGrp="1"/>
          </p:cNvSpPr>
          <p:nvPr>
            <p:ph type="ctrTitle"/>
          </p:nvPr>
        </p:nvSpPr>
        <p:spPr>
          <a:xfrm>
            <a:off x="520861" y="243067"/>
            <a:ext cx="8456940" cy="827111"/>
          </a:xfrm>
        </p:spPr>
        <p:txBody>
          <a:bodyPr/>
          <a:lstStyle/>
          <a:p>
            <a:pPr algn="ctr"/>
            <a:r>
              <a:rPr lang="ru-RU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Благодарим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внимание</a:t>
            </a:r>
            <a:endParaRPr lang="it-IT" sz="44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606" y="1403927"/>
            <a:ext cx="4927450" cy="525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31303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Gia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andara">
      <a:maj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1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1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6999</TotalTime>
  <Words>3538</Words>
  <Application>Microsoft Office PowerPoint</Application>
  <PresentationFormat>Широкоэкранный</PresentationFormat>
  <Paragraphs>1026</Paragraphs>
  <Slides>43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Arial</vt:lpstr>
      <vt:lpstr>Calibri</vt:lpstr>
      <vt:lpstr>Candara</vt:lpstr>
      <vt:lpstr>Helvetica Neue</vt:lpstr>
      <vt:lpstr>inherit</vt:lpstr>
      <vt:lpstr>Wingdings 3</vt:lpstr>
      <vt:lpstr>Sfaccettatura</vt:lpstr>
      <vt:lpstr>Презентация PowerPoint</vt:lpstr>
      <vt:lpstr>Презентация PowerPoint</vt:lpstr>
      <vt:lpstr>Примеры «НЕ защищенных » поверхностей</vt:lpstr>
      <vt:lpstr>Презентация PowerPoint</vt:lpstr>
      <vt:lpstr>Подготовка поверхности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Сертифицированные по  UNI EN ISO 12944-1: 2018 циклы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Благодарим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Valentina Nardi</dc:creator>
  <cp:lastModifiedBy>Аксютова Светлана Иосифовна</cp:lastModifiedBy>
  <cp:revision>585</cp:revision>
  <cp:lastPrinted>2018-09-20T11:36:30Z</cp:lastPrinted>
  <dcterms:modified xsi:type="dcterms:W3CDTF">2025-07-14T08:30:38Z</dcterms:modified>
</cp:coreProperties>
</file>